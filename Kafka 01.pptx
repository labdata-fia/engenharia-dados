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5"/>
  </p:notesMasterIdLst>
  <p:handoutMasterIdLst>
    <p:handoutMasterId r:id="rId26"/>
  </p:handoutMasterIdLst>
  <p:sldIdLst>
    <p:sldId id="256" r:id="rId2"/>
    <p:sldId id="260" r:id="rId3"/>
    <p:sldId id="262" r:id="rId4"/>
    <p:sldId id="263" r:id="rId5"/>
    <p:sldId id="274" r:id="rId6"/>
    <p:sldId id="289" r:id="rId7"/>
    <p:sldId id="293" r:id="rId8"/>
    <p:sldId id="294" r:id="rId9"/>
    <p:sldId id="276" r:id="rId10"/>
    <p:sldId id="277" r:id="rId11"/>
    <p:sldId id="295" r:id="rId12"/>
    <p:sldId id="296" r:id="rId13"/>
    <p:sldId id="297" r:id="rId14"/>
    <p:sldId id="298" r:id="rId15"/>
    <p:sldId id="299" r:id="rId16"/>
    <p:sldId id="300" r:id="rId17"/>
    <p:sldId id="301" r:id="rId18"/>
    <p:sldId id="302" r:id="rId19"/>
    <p:sldId id="303" r:id="rId20"/>
    <p:sldId id="272" r:id="rId21"/>
    <p:sldId id="290" r:id="rId22"/>
    <p:sldId id="273" r:id="rId23"/>
    <p:sldId id="267" r:id="rId24"/>
  </p:sldIdLst>
  <p:sldSz cx="18288000" cy="10287000"/>
  <p:notesSz cx="6858000" cy="9144000"/>
  <p:embeddedFontLst>
    <p:embeddedFont>
      <p:font typeface="DM Sans" pitchFamily="2" charset="77"/>
      <p:regular r:id="rId27"/>
      <p:bold r:id="rId28"/>
      <p:italic r:id="rId29"/>
      <p:boldItalic r:id="rId30"/>
    </p:embeddedFont>
    <p:embeddedFont>
      <p:font typeface="DM Sans 1"/>
      <p:regular r:id="rId31"/>
    </p:embeddedFont>
    <p:embeddedFont>
      <p:font typeface="DM Sans 1 Light"/>
      <p:regular r:id="rId32"/>
    </p:embeddedFont>
    <p:embeddedFont>
      <p:font typeface="DM Sans 1 Medium"/>
      <p:regular r:id="rId33"/>
    </p:embeddedFont>
    <p:embeddedFont>
      <p:font typeface="DM Sans 2" pitchFamily="2" charset="77"/>
      <p:regular r:id="rId34"/>
    </p:embeddedFont>
    <p:embeddedFont>
      <p:font typeface="Open Sans" panose="020B0606030504020204" pitchFamily="34" charset="0"/>
      <p:regular r:id="rId35"/>
      <p:bold r:id="rId36"/>
      <p:italic r:id="rId37"/>
      <p:boldItalic r:id="rId3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3FA75"/>
    <a:srgbClr val="A2DA6A"/>
    <a:srgbClr val="E9F2DC"/>
    <a:srgbClr val="696A65"/>
    <a:srgbClr val="142D59"/>
    <a:srgbClr val="084734"/>
    <a:srgbClr val="75A36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657" autoAdjust="0"/>
    <p:restoredTop sz="94630" autoAdjust="0"/>
  </p:normalViewPr>
  <p:slideViewPr>
    <p:cSldViewPr>
      <p:cViewPr>
        <p:scale>
          <a:sx n="70" d="100"/>
          <a:sy n="70" d="100"/>
        </p:scale>
        <p:origin x="2016" y="3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handoutMaster" Target="handoutMasters/handoutMaster1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font" Target="fonts/font8.fntdata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3.fntdata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6.fntdata"/><Relationship Id="rId37" Type="http://schemas.openxmlformats.org/officeDocument/2006/relationships/font" Target="fonts/font11.fntdata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2.fntdata"/><Relationship Id="rId36" Type="http://schemas.openxmlformats.org/officeDocument/2006/relationships/font" Target="fonts/font10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1.fntdata"/><Relationship Id="rId30" Type="http://schemas.openxmlformats.org/officeDocument/2006/relationships/font" Target="fonts/font4.fntdata"/><Relationship Id="rId35" Type="http://schemas.openxmlformats.org/officeDocument/2006/relationships/font" Target="fonts/font9.fntdata"/><Relationship Id="rId43" Type="http://schemas.microsoft.com/office/2016/11/relationships/changesInfo" Target="changesInfos/changesInfo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33" Type="http://schemas.openxmlformats.org/officeDocument/2006/relationships/font" Target="fonts/font7.fntdata"/><Relationship Id="rId38" Type="http://schemas.openxmlformats.org/officeDocument/2006/relationships/font" Target="fonts/font12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arolina zambelli" userId="6f054485a52af266" providerId="LiveId" clId="{1CD53902-9EDA-5E1F-9BF3-99506914ED24}"/>
    <pc:docChg chg="undo custSel addSld delSld modSld sldOrd">
      <pc:chgData name="carolina zambelli" userId="6f054485a52af266" providerId="LiveId" clId="{1CD53902-9EDA-5E1F-9BF3-99506914ED24}" dt="2026-09-09T12:10:28.291" v="380" actId="20577"/>
      <pc:docMkLst>
        <pc:docMk/>
      </pc:docMkLst>
      <pc:sldChg chg="addSp delSp modSp mod">
        <pc:chgData name="carolina zambelli" userId="6f054485a52af266" providerId="LiveId" clId="{1CD53902-9EDA-5E1F-9BF3-99506914ED24}" dt="2026-09-09T12:08:14.770" v="317" actId="20577"/>
        <pc:sldMkLst>
          <pc:docMk/>
          <pc:sldMk cId="0" sldId="260"/>
        </pc:sldMkLst>
        <pc:spChg chg="mod">
          <ac:chgData name="carolina zambelli" userId="6f054485a52af266" providerId="LiveId" clId="{1CD53902-9EDA-5E1F-9BF3-99506914ED24}" dt="2026-09-09T12:08:14.770" v="317" actId="20577"/>
          <ac:spMkLst>
            <pc:docMk/>
            <pc:sldMk cId="0" sldId="260"/>
            <ac:spMk id="11" creationId="{00000000-0000-0000-0000-000000000000}"/>
          </ac:spMkLst>
        </pc:spChg>
      </pc:sldChg>
      <pc:sldChg chg="addSp delSp modSp mod">
        <pc:chgData name="carolina zambelli" userId="6f054485a52af266" providerId="LiveId" clId="{1CD53902-9EDA-5E1F-9BF3-99506914ED24}" dt="2026-09-09T12:08:54.996" v="330" actId="20577"/>
        <pc:sldMkLst>
          <pc:docMk/>
          <pc:sldMk cId="0" sldId="262"/>
        </pc:sldMkLst>
        <pc:spChg chg="add del mod">
          <ac:chgData name="carolina zambelli" userId="6f054485a52af266" providerId="LiveId" clId="{1CD53902-9EDA-5E1F-9BF3-99506914ED24}" dt="2026-09-09T12:08:54.996" v="330" actId="20577"/>
          <ac:spMkLst>
            <pc:docMk/>
            <pc:sldMk cId="0" sldId="262"/>
            <ac:spMk id="8" creationId="{00000000-0000-0000-0000-000000000000}"/>
          </ac:spMkLst>
        </pc:spChg>
        <pc:spChg chg="mod">
          <ac:chgData name="carolina zambelli" userId="6f054485a52af266" providerId="LiveId" clId="{1CD53902-9EDA-5E1F-9BF3-99506914ED24}" dt="2026-09-04T01:15:45.471" v="35" actId="5793"/>
          <ac:spMkLst>
            <pc:docMk/>
            <pc:sldMk cId="0" sldId="262"/>
            <ac:spMk id="12" creationId="{7579CDC3-DFC7-438B-A9AC-D9B60F1AD44D}"/>
          </ac:spMkLst>
        </pc:spChg>
      </pc:sldChg>
      <pc:sldChg chg="modSp mod">
        <pc:chgData name="carolina zambelli" userId="6f054485a52af266" providerId="LiveId" clId="{1CD53902-9EDA-5E1F-9BF3-99506914ED24}" dt="2026-09-09T12:08:59.987" v="332" actId="20577"/>
        <pc:sldMkLst>
          <pc:docMk/>
          <pc:sldMk cId="0" sldId="263"/>
        </pc:sldMkLst>
        <pc:spChg chg="mod">
          <ac:chgData name="carolina zambelli" userId="6f054485a52af266" providerId="LiveId" clId="{1CD53902-9EDA-5E1F-9BF3-99506914ED24}" dt="2026-09-09T12:08:59.987" v="332" actId="20577"/>
          <ac:spMkLst>
            <pc:docMk/>
            <pc:sldMk cId="0" sldId="263"/>
            <ac:spMk id="6" creationId="{00000000-0000-0000-0000-000000000000}"/>
          </ac:spMkLst>
        </pc:spChg>
        <pc:spChg chg="mod">
          <ac:chgData name="carolina zambelli" userId="6f054485a52af266" providerId="LiveId" clId="{1CD53902-9EDA-5E1F-9BF3-99506914ED24}" dt="2026-09-04T01:15:41.521" v="33" actId="20577"/>
          <ac:spMkLst>
            <pc:docMk/>
            <pc:sldMk cId="0" sldId="263"/>
            <ac:spMk id="7" creationId="{00000000-0000-0000-0000-000000000000}"/>
          </ac:spMkLst>
        </pc:spChg>
      </pc:sldChg>
      <pc:sldChg chg="addSp delSp modSp mod">
        <pc:chgData name="carolina zambelli" userId="6f054485a52af266" providerId="LiveId" clId="{1CD53902-9EDA-5E1F-9BF3-99506914ED24}" dt="2026-09-09T12:10:28.291" v="380" actId="20577"/>
        <pc:sldMkLst>
          <pc:docMk/>
          <pc:sldMk cId="3683475622" sldId="267"/>
        </pc:sldMkLst>
        <pc:spChg chg="mod">
          <ac:chgData name="carolina zambelli" userId="6f054485a52af266" providerId="LiveId" clId="{1CD53902-9EDA-5E1F-9BF3-99506914ED24}" dt="2026-09-09T12:10:28.291" v="380" actId="20577"/>
          <ac:spMkLst>
            <pc:docMk/>
            <pc:sldMk cId="3683475622" sldId="267"/>
            <ac:spMk id="2" creationId="{00000000-0000-0000-0000-000000000000}"/>
          </ac:spMkLst>
        </pc:spChg>
        <pc:spChg chg="add mod">
          <ac:chgData name="carolina zambelli" userId="6f054485a52af266" providerId="LiveId" clId="{1CD53902-9EDA-5E1F-9BF3-99506914ED24}" dt="2026-09-09T12:10:23.942" v="377" actId="108"/>
          <ac:spMkLst>
            <pc:docMk/>
            <pc:sldMk cId="3683475622" sldId="267"/>
            <ac:spMk id="4" creationId="{1733EEE8-AC0F-3F5F-006F-0C02CD1CFF8F}"/>
          </ac:spMkLst>
        </pc:spChg>
      </pc:sldChg>
      <pc:sldChg chg="modSp mod">
        <pc:chgData name="carolina zambelli" userId="6f054485a52af266" providerId="LiveId" clId="{1CD53902-9EDA-5E1F-9BF3-99506914ED24}" dt="2026-09-09T12:10:08.980" v="370" actId="20577"/>
        <pc:sldMkLst>
          <pc:docMk/>
          <pc:sldMk cId="999824489" sldId="272"/>
        </pc:sldMkLst>
        <pc:spChg chg="mod">
          <ac:chgData name="carolina zambelli" userId="6f054485a52af266" providerId="LiveId" clId="{1CD53902-9EDA-5E1F-9BF3-99506914ED24}" dt="2026-09-09T12:10:08.980" v="370" actId="20577"/>
          <ac:spMkLst>
            <pc:docMk/>
            <pc:sldMk cId="999824489" sldId="272"/>
            <ac:spMk id="6" creationId="{00000000-0000-0000-0000-000000000000}"/>
          </ac:spMkLst>
        </pc:spChg>
        <pc:spChg chg="mod">
          <ac:chgData name="carolina zambelli" userId="6f054485a52af266" providerId="LiveId" clId="{1CD53902-9EDA-5E1F-9BF3-99506914ED24}" dt="2026-09-04T01:20:16.105" v="169" actId="20577"/>
          <ac:spMkLst>
            <pc:docMk/>
            <pc:sldMk cId="999824489" sldId="272"/>
            <ac:spMk id="7" creationId="{00000000-0000-0000-0000-000000000000}"/>
          </ac:spMkLst>
        </pc:spChg>
      </pc:sldChg>
      <pc:sldChg chg="modSp mod">
        <pc:chgData name="carolina zambelli" userId="6f054485a52af266" providerId="LiveId" clId="{1CD53902-9EDA-5E1F-9BF3-99506914ED24}" dt="2026-09-09T12:10:16.916" v="376" actId="20577"/>
        <pc:sldMkLst>
          <pc:docMk/>
          <pc:sldMk cId="3853470118" sldId="273"/>
        </pc:sldMkLst>
        <pc:spChg chg="mod">
          <ac:chgData name="carolina zambelli" userId="6f054485a52af266" providerId="LiveId" clId="{1CD53902-9EDA-5E1F-9BF3-99506914ED24}" dt="2026-09-09T12:10:16.916" v="376" actId="20577"/>
          <ac:spMkLst>
            <pc:docMk/>
            <pc:sldMk cId="3853470118" sldId="273"/>
            <ac:spMk id="6" creationId="{00000000-0000-0000-0000-000000000000}"/>
          </ac:spMkLst>
        </pc:spChg>
      </pc:sldChg>
      <pc:sldChg chg="addSp delSp modSp mod delAnim">
        <pc:chgData name="carolina zambelli" userId="6f054485a52af266" providerId="LiveId" clId="{1CD53902-9EDA-5E1F-9BF3-99506914ED24}" dt="2026-09-09T12:09:03.470" v="334" actId="20577"/>
        <pc:sldMkLst>
          <pc:docMk/>
          <pc:sldMk cId="3340194088" sldId="274"/>
        </pc:sldMkLst>
        <pc:spChg chg="mod">
          <ac:chgData name="carolina zambelli" userId="6f054485a52af266" providerId="LiveId" clId="{1CD53902-9EDA-5E1F-9BF3-99506914ED24}" dt="2026-09-04T01:16:49.588" v="65" actId="1076"/>
          <ac:spMkLst>
            <pc:docMk/>
            <pc:sldMk cId="3340194088" sldId="274"/>
            <ac:spMk id="5" creationId="{75FAA307-8B4E-9E09-B7DD-AD04B7832F51}"/>
          </ac:spMkLst>
        </pc:spChg>
        <pc:spChg chg="mod">
          <ac:chgData name="carolina zambelli" userId="6f054485a52af266" providerId="LiveId" clId="{1CD53902-9EDA-5E1F-9BF3-99506914ED24}" dt="2026-09-09T12:09:03.470" v="334" actId="20577"/>
          <ac:spMkLst>
            <pc:docMk/>
            <pc:sldMk cId="3340194088" sldId="274"/>
            <ac:spMk id="8" creationId="{43B15D04-DDAE-9809-8E55-82E843142B36}"/>
          </ac:spMkLst>
        </pc:spChg>
        <pc:spChg chg="mod">
          <ac:chgData name="carolina zambelli" userId="6f054485a52af266" providerId="LiveId" clId="{1CD53902-9EDA-5E1F-9BF3-99506914ED24}" dt="2026-09-04T01:12:41.837" v="6" actId="14100"/>
          <ac:spMkLst>
            <pc:docMk/>
            <pc:sldMk cId="3340194088" sldId="274"/>
            <ac:spMk id="10" creationId="{AEA16E72-17C9-3A24-F884-8BE5503E4CBC}"/>
          </ac:spMkLst>
        </pc:spChg>
        <pc:spChg chg="add mod">
          <ac:chgData name="carolina zambelli" userId="6f054485a52af266" providerId="LiveId" clId="{1CD53902-9EDA-5E1F-9BF3-99506914ED24}" dt="2026-09-04T01:18:00.647" v="93" actId="1076"/>
          <ac:spMkLst>
            <pc:docMk/>
            <pc:sldMk cId="3340194088" sldId="274"/>
            <ac:spMk id="11" creationId="{4FBEEFC6-4645-BBE2-5C2B-0A057EEC78E9}"/>
          </ac:spMkLst>
        </pc:spChg>
        <pc:spChg chg="add mod">
          <ac:chgData name="carolina zambelli" userId="6f054485a52af266" providerId="LiveId" clId="{1CD53902-9EDA-5E1F-9BF3-99506914ED24}" dt="2026-09-04T01:18:02.746" v="94" actId="1076"/>
          <ac:spMkLst>
            <pc:docMk/>
            <pc:sldMk cId="3340194088" sldId="274"/>
            <ac:spMk id="14" creationId="{409907A3-DF15-22AB-8A50-025688AD18E7}"/>
          </ac:spMkLst>
        </pc:spChg>
      </pc:sldChg>
      <pc:sldChg chg="modSp mod">
        <pc:chgData name="carolina zambelli" userId="6f054485a52af266" providerId="LiveId" clId="{1CD53902-9EDA-5E1F-9BF3-99506914ED24}" dt="2026-09-09T12:09:19.597" v="342" actId="20577"/>
        <pc:sldMkLst>
          <pc:docMk/>
          <pc:sldMk cId="695853506" sldId="276"/>
        </pc:sldMkLst>
        <pc:spChg chg="mod">
          <ac:chgData name="carolina zambelli" userId="6f054485a52af266" providerId="LiveId" clId="{1CD53902-9EDA-5E1F-9BF3-99506914ED24}" dt="2026-09-09T12:09:19.597" v="342" actId="20577"/>
          <ac:spMkLst>
            <pc:docMk/>
            <pc:sldMk cId="695853506" sldId="276"/>
            <ac:spMk id="6" creationId="{765A2FC8-8153-672C-4218-6184B406576D}"/>
          </ac:spMkLst>
        </pc:spChg>
        <pc:spChg chg="mod">
          <ac:chgData name="carolina zambelli" userId="6f054485a52af266" providerId="LiveId" clId="{1CD53902-9EDA-5E1F-9BF3-99506914ED24}" dt="2026-09-04T01:16:18.528" v="56" actId="20577"/>
          <ac:spMkLst>
            <pc:docMk/>
            <pc:sldMk cId="695853506" sldId="276"/>
            <ac:spMk id="7" creationId="{3A1CE4F3-6274-5FB1-DD6F-BF1B0C97EFFF}"/>
          </ac:spMkLst>
        </pc:spChg>
      </pc:sldChg>
      <pc:sldChg chg="addSp delSp modSp mod">
        <pc:chgData name="carolina zambelli" userId="6f054485a52af266" providerId="LiveId" clId="{1CD53902-9EDA-5E1F-9BF3-99506914ED24}" dt="2026-09-09T12:09:24.413" v="345" actId="20577"/>
        <pc:sldMkLst>
          <pc:docMk/>
          <pc:sldMk cId="1407525164" sldId="277"/>
        </pc:sldMkLst>
        <pc:spChg chg="add mod">
          <ac:chgData name="carolina zambelli" userId="6f054485a52af266" providerId="LiveId" clId="{1CD53902-9EDA-5E1F-9BF3-99506914ED24}" dt="2026-09-05T21:12:43.985" v="277" actId="1037"/>
          <ac:spMkLst>
            <pc:docMk/>
            <pc:sldMk cId="1407525164" sldId="277"/>
            <ac:spMk id="2" creationId="{7B272BF4-1960-8EB4-1435-351821D856DC}"/>
          </ac:spMkLst>
        </pc:spChg>
        <pc:spChg chg="add mod">
          <ac:chgData name="carolina zambelli" userId="6f054485a52af266" providerId="LiveId" clId="{1CD53902-9EDA-5E1F-9BF3-99506914ED24}" dt="2026-09-05T21:12:43.985" v="277" actId="1037"/>
          <ac:spMkLst>
            <pc:docMk/>
            <pc:sldMk cId="1407525164" sldId="277"/>
            <ac:spMk id="3" creationId="{311D9D8D-EB21-D196-638B-72086727F4A7}"/>
          </ac:spMkLst>
        </pc:spChg>
        <pc:spChg chg="add mod">
          <ac:chgData name="carolina zambelli" userId="6f054485a52af266" providerId="LiveId" clId="{1CD53902-9EDA-5E1F-9BF3-99506914ED24}" dt="2026-09-05T21:12:37.198" v="273" actId="1037"/>
          <ac:spMkLst>
            <pc:docMk/>
            <pc:sldMk cId="1407525164" sldId="277"/>
            <ac:spMk id="4" creationId="{77669F92-1F55-5F8F-BC30-1A6FB613F69E}"/>
          </ac:spMkLst>
        </pc:spChg>
        <pc:spChg chg="add mod">
          <ac:chgData name="carolina zambelli" userId="6f054485a52af266" providerId="LiveId" clId="{1CD53902-9EDA-5E1F-9BF3-99506914ED24}" dt="2026-09-05T21:12:37.198" v="273" actId="1037"/>
          <ac:spMkLst>
            <pc:docMk/>
            <pc:sldMk cId="1407525164" sldId="277"/>
            <ac:spMk id="5" creationId="{F24D4997-9AE1-94AF-8720-3E7CCA3638C8}"/>
          </ac:spMkLst>
        </pc:spChg>
        <pc:spChg chg="add mod">
          <ac:chgData name="carolina zambelli" userId="6f054485a52af266" providerId="LiveId" clId="{1CD53902-9EDA-5E1F-9BF3-99506914ED24}" dt="2026-09-04T01:18:58.080" v="132" actId="20577"/>
          <ac:spMkLst>
            <pc:docMk/>
            <pc:sldMk cId="1407525164" sldId="277"/>
            <ac:spMk id="6" creationId="{4757E257-C9BB-446C-5FAE-AECACF5C84DD}"/>
          </ac:spMkLst>
        </pc:spChg>
        <pc:spChg chg="add mod">
          <ac:chgData name="carolina zambelli" userId="6f054485a52af266" providerId="LiveId" clId="{1CD53902-9EDA-5E1F-9BF3-99506914ED24}" dt="2026-09-05T21:12:37.198" v="273" actId="1037"/>
          <ac:spMkLst>
            <pc:docMk/>
            <pc:sldMk cId="1407525164" sldId="277"/>
            <ac:spMk id="7" creationId="{6503ED44-8191-5C94-8F6D-BF9870329E4F}"/>
          </ac:spMkLst>
        </pc:spChg>
        <pc:spChg chg="mod">
          <ac:chgData name="carolina zambelli" userId="6f054485a52af266" providerId="LiveId" clId="{1CD53902-9EDA-5E1F-9BF3-99506914ED24}" dt="2026-09-09T12:09:24.413" v="345" actId="20577"/>
          <ac:spMkLst>
            <pc:docMk/>
            <pc:sldMk cId="1407525164" sldId="277"/>
            <ac:spMk id="8" creationId="{436209BC-E2A5-880C-EFC0-5BD814B04AB0}"/>
          </ac:spMkLst>
        </pc:spChg>
        <pc:spChg chg="add mod">
          <ac:chgData name="carolina zambelli" userId="6f054485a52af266" providerId="LiveId" clId="{1CD53902-9EDA-5E1F-9BF3-99506914ED24}" dt="2026-09-05T21:12:37.198" v="273" actId="1037"/>
          <ac:spMkLst>
            <pc:docMk/>
            <pc:sldMk cId="1407525164" sldId="277"/>
            <ac:spMk id="9" creationId="{804C30E2-3537-57BC-DC4E-64C6094B79C3}"/>
          </ac:spMkLst>
        </pc:spChg>
        <pc:spChg chg="add mod">
          <ac:chgData name="carolina zambelli" userId="6f054485a52af266" providerId="LiveId" clId="{1CD53902-9EDA-5E1F-9BF3-99506914ED24}" dt="2026-09-05T21:12:37.198" v="273" actId="1037"/>
          <ac:spMkLst>
            <pc:docMk/>
            <pc:sldMk cId="1407525164" sldId="277"/>
            <ac:spMk id="11" creationId="{FA3B2C78-B2EB-0192-1C08-E4EFDC907D87}"/>
          </ac:spMkLst>
        </pc:spChg>
        <pc:spChg chg="add mod">
          <ac:chgData name="carolina zambelli" userId="6f054485a52af266" providerId="LiveId" clId="{1CD53902-9EDA-5E1F-9BF3-99506914ED24}" dt="2026-09-05T21:12:37.198" v="273" actId="1037"/>
          <ac:spMkLst>
            <pc:docMk/>
            <pc:sldMk cId="1407525164" sldId="277"/>
            <ac:spMk id="12" creationId="{15ADF8F3-FAF8-5D3A-19D1-443A602B9A4C}"/>
          </ac:spMkLst>
        </pc:spChg>
        <pc:spChg chg="add mod">
          <ac:chgData name="carolina zambelli" userId="6f054485a52af266" providerId="LiveId" clId="{1CD53902-9EDA-5E1F-9BF3-99506914ED24}" dt="2026-09-05T21:12:37.198" v="273" actId="1037"/>
          <ac:spMkLst>
            <pc:docMk/>
            <pc:sldMk cId="1407525164" sldId="277"/>
            <ac:spMk id="13" creationId="{50A86190-7C74-1CB1-4501-E804AD532427}"/>
          </ac:spMkLst>
        </pc:spChg>
        <pc:spChg chg="add mod">
          <ac:chgData name="carolina zambelli" userId="6f054485a52af266" providerId="LiveId" clId="{1CD53902-9EDA-5E1F-9BF3-99506914ED24}" dt="2026-09-05T21:12:37.198" v="273" actId="1037"/>
          <ac:spMkLst>
            <pc:docMk/>
            <pc:sldMk cId="1407525164" sldId="277"/>
            <ac:spMk id="14" creationId="{26D3C2D1-E984-08BC-BA9B-631CBF2C9D06}"/>
          </ac:spMkLst>
        </pc:spChg>
        <pc:spChg chg="add mod">
          <ac:chgData name="carolina zambelli" userId="6f054485a52af266" providerId="LiveId" clId="{1CD53902-9EDA-5E1F-9BF3-99506914ED24}" dt="2026-09-05T21:12:37.198" v="273" actId="1037"/>
          <ac:spMkLst>
            <pc:docMk/>
            <pc:sldMk cId="1407525164" sldId="277"/>
            <ac:spMk id="15" creationId="{8BE13D84-0CCD-FC87-4647-DD59BBD83D4D}"/>
          </ac:spMkLst>
        </pc:spChg>
        <pc:spChg chg="add mod">
          <ac:chgData name="carolina zambelli" userId="6f054485a52af266" providerId="LiveId" clId="{1CD53902-9EDA-5E1F-9BF3-99506914ED24}" dt="2026-09-05T21:12:50.990" v="280" actId="20577"/>
          <ac:spMkLst>
            <pc:docMk/>
            <pc:sldMk cId="1407525164" sldId="277"/>
            <ac:spMk id="16" creationId="{7B7B1405-596D-1B91-2599-4E688945F592}"/>
          </ac:spMkLst>
        </pc:spChg>
        <pc:spChg chg="add mod">
          <ac:chgData name="carolina zambelli" userId="6f054485a52af266" providerId="LiveId" clId="{1CD53902-9EDA-5E1F-9BF3-99506914ED24}" dt="2026-09-05T21:12:30.690" v="265" actId="1038"/>
          <ac:spMkLst>
            <pc:docMk/>
            <pc:sldMk cId="1407525164" sldId="277"/>
            <ac:spMk id="17" creationId="{2555E11F-E5D2-FF14-E205-422003CAD6AD}"/>
          </ac:spMkLst>
        </pc:spChg>
        <pc:spChg chg="add mod">
          <ac:chgData name="carolina zambelli" userId="6f054485a52af266" providerId="LiveId" clId="{1CD53902-9EDA-5E1F-9BF3-99506914ED24}" dt="2026-09-05T21:12:30.690" v="265" actId="1038"/>
          <ac:spMkLst>
            <pc:docMk/>
            <pc:sldMk cId="1407525164" sldId="277"/>
            <ac:spMk id="18" creationId="{F43D3194-531A-5224-C8EA-2DCA5D3CF953}"/>
          </ac:spMkLst>
        </pc:spChg>
        <pc:spChg chg="add mod">
          <ac:chgData name="carolina zambelli" userId="6f054485a52af266" providerId="LiveId" clId="{1CD53902-9EDA-5E1F-9BF3-99506914ED24}" dt="2026-09-05T21:12:30.690" v="265" actId="1038"/>
          <ac:spMkLst>
            <pc:docMk/>
            <pc:sldMk cId="1407525164" sldId="277"/>
            <ac:spMk id="19" creationId="{FBC45259-83C7-1A58-2B15-D494D0743301}"/>
          </ac:spMkLst>
        </pc:spChg>
        <pc:spChg chg="mod">
          <ac:chgData name="carolina zambelli" userId="6f054485a52af266" providerId="LiveId" clId="{1CD53902-9EDA-5E1F-9BF3-99506914ED24}" dt="2026-09-05T21:12:30.690" v="265" actId="1038"/>
          <ac:spMkLst>
            <pc:docMk/>
            <pc:sldMk cId="1407525164" sldId="277"/>
            <ac:spMk id="20" creationId="{3910CAB7-EC18-A02D-D3A5-B12419355D26}"/>
          </ac:spMkLst>
        </pc:spChg>
        <pc:spChg chg="mod">
          <ac:chgData name="carolina zambelli" userId="6f054485a52af266" providerId="LiveId" clId="{1CD53902-9EDA-5E1F-9BF3-99506914ED24}" dt="2026-09-05T21:12:30.690" v="265" actId="1038"/>
          <ac:spMkLst>
            <pc:docMk/>
            <pc:sldMk cId="1407525164" sldId="277"/>
            <ac:spMk id="21" creationId="{41384059-C478-A6D1-2275-935C6F2B29BE}"/>
          </ac:spMkLst>
        </pc:spChg>
        <pc:spChg chg="add mod">
          <ac:chgData name="carolina zambelli" userId="6f054485a52af266" providerId="LiveId" clId="{1CD53902-9EDA-5E1F-9BF3-99506914ED24}" dt="2026-09-05T21:12:30.690" v="265" actId="1038"/>
          <ac:spMkLst>
            <pc:docMk/>
            <pc:sldMk cId="1407525164" sldId="277"/>
            <ac:spMk id="22" creationId="{E444AA18-DF0A-0913-00B0-0E27E6EF6E8F}"/>
          </ac:spMkLst>
        </pc:spChg>
        <pc:spChg chg="mod">
          <ac:chgData name="carolina zambelli" userId="6f054485a52af266" providerId="LiveId" clId="{1CD53902-9EDA-5E1F-9BF3-99506914ED24}" dt="2026-09-05T21:12:30.690" v="265" actId="1038"/>
          <ac:spMkLst>
            <pc:docMk/>
            <pc:sldMk cId="1407525164" sldId="277"/>
            <ac:spMk id="23" creationId="{5B871E95-A7A9-93E2-D5C8-433D2CB7B3B3}"/>
          </ac:spMkLst>
        </pc:spChg>
        <pc:spChg chg="mod">
          <ac:chgData name="carolina zambelli" userId="6f054485a52af266" providerId="LiveId" clId="{1CD53902-9EDA-5E1F-9BF3-99506914ED24}" dt="2026-09-05T21:12:30.690" v="265" actId="1038"/>
          <ac:spMkLst>
            <pc:docMk/>
            <pc:sldMk cId="1407525164" sldId="277"/>
            <ac:spMk id="24" creationId="{CB7F4711-D82F-30B3-45DD-6509F7C26D53}"/>
          </ac:spMkLst>
        </pc:spChg>
        <pc:spChg chg="add mod">
          <ac:chgData name="carolina zambelli" userId="6f054485a52af266" providerId="LiveId" clId="{1CD53902-9EDA-5E1F-9BF3-99506914ED24}" dt="2026-09-05T21:12:30.690" v="265" actId="1038"/>
          <ac:spMkLst>
            <pc:docMk/>
            <pc:sldMk cId="1407525164" sldId="277"/>
            <ac:spMk id="25" creationId="{CA23B56A-AC2B-ED31-CA3F-B013F134BC72}"/>
          </ac:spMkLst>
        </pc:spChg>
        <pc:spChg chg="mod">
          <ac:chgData name="carolina zambelli" userId="6f054485a52af266" providerId="LiveId" clId="{1CD53902-9EDA-5E1F-9BF3-99506914ED24}" dt="2026-09-05T21:12:53.238" v="282" actId="20577"/>
          <ac:spMkLst>
            <pc:docMk/>
            <pc:sldMk cId="1407525164" sldId="277"/>
            <ac:spMk id="26" creationId="{77B9338A-DF07-8D70-0F7A-5D185D6A5759}"/>
          </ac:spMkLst>
        </pc:spChg>
        <pc:spChg chg="mod">
          <ac:chgData name="carolina zambelli" userId="6f054485a52af266" providerId="LiveId" clId="{1CD53902-9EDA-5E1F-9BF3-99506914ED24}" dt="2026-09-05T21:12:48.028" v="278" actId="1076"/>
          <ac:spMkLst>
            <pc:docMk/>
            <pc:sldMk cId="1407525164" sldId="277"/>
            <ac:spMk id="1008" creationId="{00000000-0000-0000-0000-000000000000}"/>
          </ac:spMkLst>
        </pc:spChg>
        <pc:spChg chg="mod">
          <ac:chgData name="carolina zambelli" userId="6f054485a52af266" providerId="LiveId" clId="{1CD53902-9EDA-5E1F-9BF3-99506914ED24}" dt="2026-09-05T21:12:43.985" v="277" actId="1037"/>
          <ac:spMkLst>
            <pc:docMk/>
            <pc:sldMk cId="1407525164" sldId="277"/>
            <ac:spMk id="1009" creationId="{00000000-0000-0000-0000-000000000000}"/>
          </ac:spMkLst>
        </pc:spChg>
        <pc:spChg chg="mod">
          <ac:chgData name="carolina zambelli" userId="6f054485a52af266" providerId="LiveId" clId="{1CD53902-9EDA-5E1F-9BF3-99506914ED24}" dt="2026-09-05T21:12:43.985" v="277" actId="1037"/>
          <ac:spMkLst>
            <pc:docMk/>
            <pc:sldMk cId="1407525164" sldId="277"/>
            <ac:spMk id="1010" creationId="{00000000-0000-0000-0000-000000000000}"/>
          </ac:spMkLst>
        </pc:spChg>
        <pc:spChg chg="mod">
          <ac:chgData name="carolina zambelli" userId="6f054485a52af266" providerId="LiveId" clId="{1CD53902-9EDA-5E1F-9BF3-99506914ED24}" dt="2026-09-05T21:12:43.985" v="277" actId="1037"/>
          <ac:spMkLst>
            <pc:docMk/>
            <pc:sldMk cId="1407525164" sldId="277"/>
            <ac:spMk id="1011" creationId="{00000000-0000-0000-0000-000000000000}"/>
          </ac:spMkLst>
        </pc:spChg>
        <pc:spChg chg="mod">
          <ac:chgData name="carolina zambelli" userId="6f054485a52af266" providerId="LiveId" clId="{1CD53902-9EDA-5E1F-9BF3-99506914ED24}" dt="2026-09-05T21:12:43.985" v="277" actId="1037"/>
          <ac:spMkLst>
            <pc:docMk/>
            <pc:sldMk cId="1407525164" sldId="277"/>
            <ac:spMk id="1012" creationId="{00000000-0000-0000-0000-000000000000}"/>
          </ac:spMkLst>
        </pc:spChg>
        <pc:spChg chg="mod">
          <ac:chgData name="carolina zambelli" userId="6f054485a52af266" providerId="LiveId" clId="{1CD53902-9EDA-5E1F-9BF3-99506914ED24}" dt="2026-09-05T21:12:43.985" v="277" actId="1037"/>
          <ac:spMkLst>
            <pc:docMk/>
            <pc:sldMk cId="1407525164" sldId="277"/>
            <ac:spMk id="1013" creationId="{00000000-0000-0000-0000-000000000000}"/>
          </ac:spMkLst>
        </pc:spChg>
        <pc:spChg chg="mod">
          <ac:chgData name="carolina zambelli" userId="6f054485a52af266" providerId="LiveId" clId="{1CD53902-9EDA-5E1F-9BF3-99506914ED24}" dt="2026-09-05T21:12:43.985" v="277" actId="1037"/>
          <ac:spMkLst>
            <pc:docMk/>
            <pc:sldMk cId="1407525164" sldId="277"/>
            <ac:spMk id="1014" creationId="{00000000-0000-0000-0000-000000000000}"/>
          </ac:spMkLst>
        </pc:spChg>
        <pc:spChg chg="mod">
          <ac:chgData name="carolina zambelli" userId="6f054485a52af266" providerId="LiveId" clId="{1CD53902-9EDA-5E1F-9BF3-99506914ED24}" dt="2026-09-05T21:12:43.985" v="277" actId="1037"/>
          <ac:spMkLst>
            <pc:docMk/>
            <pc:sldMk cId="1407525164" sldId="277"/>
            <ac:spMk id="1015" creationId="{00000000-0000-0000-0000-000000000000}"/>
          </ac:spMkLst>
        </pc:spChg>
        <pc:spChg chg="mod">
          <ac:chgData name="carolina zambelli" userId="6f054485a52af266" providerId="LiveId" clId="{1CD53902-9EDA-5E1F-9BF3-99506914ED24}" dt="2026-09-05T21:12:43.985" v="277" actId="1037"/>
          <ac:spMkLst>
            <pc:docMk/>
            <pc:sldMk cId="1407525164" sldId="277"/>
            <ac:spMk id="1016" creationId="{00000000-0000-0000-0000-000000000000}"/>
          </ac:spMkLst>
        </pc:spChg>
      </pc:sldChg>
      <pc:sldChg chg="modSp add mod">
        <pc:chgData name="carolina zambelli" userId="6f054485a52af266" providerId="LiveId" clId="{1CD53902-9EDA-5E1F-9BF3-99506914ED24}" dt="2026-09-09T12:09:07.440" v="336" actId="20577"/>
        <pc:sldMkLst>
          <pc:docMk/>
          <pc:sldMk cId="3811945213" sldId="289"/>
        </pc:sldMkLst>
        <pc:spChg chg="mod">
          <ac:chgData name="carolina zambelli" userId="6f054485a52af266" providerId="LiveId" clId="{1CD53902-9EDA-5E1F-9BF3-99506914ED24}" dt="2026-09-04T01:17:14.215" v="77" actId="20577"/>
          <ac:spMkLst>
            <pc:docMk/>
            <pc:sldMk cId="3811945213" sldId="289"/>
            <ac:spMk id="5" creationId="{BBB1F523-3A5E-DF42-1E74-5816E9135E02}"/>
          </ac:spMkLst>
        </pc:spChg>
        <pc:spChg chg="mod">
          <ac:chgData name="carolina zambelli" userId="6f054485a52af266" providerId="LiveId" clId="{1CD53902-9EDA-5E1F-9BF3-99506914ED24}" dt="2026-09-09T12:09:07.440" v="336" actId="20577"/>
          <ac:spMkLst>
            <pc:docMk/>
            <pc:sldMk cId="3811945213" sldId="289"/>
            <ac:spMk id="8" creationId="{4A008E2C-5B02-9A5F-9F80-4DAE25E4B772}"/>
          </ac:spMkLst>
        </pc:spChg>
      </pc:sldChg>
      <pc:sldChg chg="addSp delSp modSp add mod ord">
        <pc:chgData name="carolina zambelli" userId="6f054485a52af266" providerId="LiveId" clId="{1CD53902-9EDA-5E1F-9BF3-99506914ED24}" dt="2026-09-09T12:10:12.811" v="373" actId="20577"/>
        <pc:sldMkLst>
          <pc:docMk/>
          <pc:sldMk cId="159210585" sldId="290"/>
        </pc:sldMkLst>
        <pc:spChg chg="add mod">
          <ac:chgData name="carolina zambelli" userId="6f054485a52af266" providerId="LiveId" clId="{1CD53902-9EDA-5E1F-9BF3-99506914ED24}" dt="2026-09-04T01:20:54.081" v="189" actId="1076"/>
          <ac:spMkLst>
            <pc:docMk/>
            <pc:sldMk cId="159210585" sldId="290"/>
            <ac:spMk id="2" creationId="{9DBDFE3D-F572-DF98-9A98-C0AF817FFFC0}"/>
          </ac:spMkLst>
        </pc:spChg>
        <pc:spChg chg="mod">
          <ac:chgData name="carolina zambelli" userId="6f054485a52af266" providerId="LiveId" clId="{1CD53902-9EDA-5E1F-9BF3-99506914ED24}" dt="2026-09-04T01:20:30.551" v="178" actId="20577"/>
          <ac:spMkLst>
            <pc:docMk/>
            <pc:sldMk cId="159210585" sldId="290"/>
            <ac:spMk id="6" creationId="{6EA29CB6-933D-8845-833B-8B972FCD402F}"/>
          </ac:spMkLst>
        </pc:spChg>
        <pc:spChg chg="mod">
          <ac:chgData name="carolina zambelli" userId="6f054485a52af266" providerId="LiveId" clId="{1CD53902-9EDA-5E1F-9BF3-99506914ED24}" dt="2026-09-09T12:10:12.811" v="373" actId="20577"/>
          <ac:spMkLst>
            <pc:docMk/>
            <pc:sldMk cId="159210585" sldId="290"/>
            <ac:spMk id="8" creationId="{6A29F0B8-47E4-C38A-D4DA-A6B53CD1DAFE}"/>
          </ac:spMkLst>
        </pc:spChg>
      </pc:sldChg>
      <pc:sldChg chg="modSp mod">
        <pc:chgData name="carolina zambelli" userId="6f054485a52af266" providerId="LiveId" clId="{1CD53902-9EDA-5E1F-9BF3-99506914ED24}" dt="2026-09-09T12:09:11.315" v="338" actId="20577"/>
        <pc:sldMkLst>
          <pc:docMk/>
          <pc:sldMk cId="3811945213" sldId="293"/>
        </pc:sldMkLst>
        <pc:spChg chg="mod">
          <ac:chgData name="carolina zambelli" userId="6f054485a52af266" providerId="LiveId" clId="{1CD53902-9EDA-5E1F-9BF3-99506914ED24}" dt="2026-09-09T12:09:11.315" v="338" actId="20577"/>
          <ac:spMkLst>
            <pc:docMk/>
            <pc:sldMk cId="3811945213" sldId="293"/>
            <ac:spMk id="8" creationId="{4A008E2C-5B02-9A5F-9F80-4DAE25E4B772}"/>
          </ac:spMkLst>
        </pc:spChg>
      </pc:sldChg>
      <pc:sldChg chg="modSp mod">
        <pc:chgData name="carolina zambelli" userId="6f054485a52af266" providerId="LiveId" clId="{1CD53902-9EDA-5E1F-9BF3-99506914ED24}" dt="2026-09-09T12:09:15.219" v="340" actId="20577"/>
        <pc:sldMkLst>
          <pc:docMk/>
          <pc:sldMk cId="3811945213" sldId="294"/>
        </pc:sldMkLst>
        <pc:spChg chg="mod">
          <ac:chgData name="carolina zambelli" userId="6f054485a52af266" providerId="LiveId" clId="{1CD53902-9EDA-5E1F-9BF3-99506914ED24}" dt="2026-09-09T12:09:15.219" v="340" actId="20577"/>
          <ac:spMkLst>
            <pc:docMk/>
            <pc:sldMk cId="3811945213" sldId="294"/>
            <ac:spMk id="8" creationId="{4A008E2C-5B02-9A5F-9F80-4DAE25E4B772}"/>
          </ac:spMkLst>
        </pc:spChg>
      </pc:sldChg>
      <pc:sldChg chg="addSp delSp modSp mod">
        <pc:chgData name="carolina zambelli" userId="6f054485a52af266" providerId="LiveId" clId="{1CD53902-9EDA-5E1F-9BF3-99506914ED24}" dt="2026-09-09T12:09:28.295" v="348" actId="20577"/>
        <pc:sldMkLst>
          <pc:docMk/>
          <pc:sldMk cId="1407525164" sldId="295"/>
        </pc:sldMkLst>
        <pc:spChg chg="mod">
          <ac:chgData name="carolina zambelli" userId="6f054485a52af266" providerId="LiveId" clId="{1CD53902-9EDA-5E1F-9BF3-99506914ED24}" dt="2026-09-09T12:09:28.295" v="348" actId="20577"/>
          <ac:spMkLst>
            <pc:docMk/>
            <pc:sldMk cId="1407525164" sldId="295"/>
            <ac:spMk id="8" creationId="{436209BC-E2A5-880C-EFC0-5BD814B04AB0}"/>
          </ac:spMkLst>
        </pc:spChg>
        <pc:picChg chg="add mod">
          <ac:chgData name="carolina zambelli" userId="6f054485a52af266" providerId="LiveId" clId="{1CD53902-9EDA-5E1F-9BF3-99506914ED24}" dt="2026-09-05T21:14:12.980" v="300" actId="1076"/>
          <ac:picMkLst>
            <pc:docMk/>
            <pc:sldMk cId="1407525164" sldId="295"/>
            <ac:picMk id="3" creationId="{5B2DB629-519E-AE68-74FE-D05814821A4A}"/>
          </ac:picMkLst>
        </pc:picChg>
      </pc:sldChg>
      <pc:sldChg chg="modSp mod">
        <pc:chgData name="carolina zambelli" userId="6f054485a52af266" providerId="LiveId" clId="{1CD53902-9EDA-5E1F-9BF3-99506914ED24}" dt="2026-09-09T12:09:32.289" v="353" actId="20577"/>
        <pc:sldMkLst>
          <pc:docMk/>
          <pc:sldMk cId="3811945213" sldId="296"/>
        </pc:sldMkLst>
        <pc:spChg chg="mod">
          <ac:chgData name="carolina zambelli" userId="6f054485a52af266" providerId="LiveId" clId="{1CD53902-9EDA-5E1F-9BF3-99506914ED24}" dt="2026-09-09T12:09:32.289" v="353" actId="20577"/>
          <ac:spMkLst>
            <pc:docMk/>
            <pc:sldMk cId="3811945213" sldId="296"/>
            <ac:spMk id="8" creationId="{4A008E2C-5B02-9A5F-9F80-4DAE25E4B772}"/>
          </ac:spMkLst>
        </pc:spChg>
      </pc:sldChg>
      <pc:sldChg chg="addSp delSp modSp mod">
        <pc:chgData name="carolina zambelli" userId="6f054485a52af266" providerId="LiveId" clId="{1CD53902-9EDA-5E1F-9BF3-99506914ED24}" dt="2026-09-09T12:09:36.061" v="355" actId="20577"/>
        <pc:sldMkLst>
          <pc:docMk/>
          <pc:sldMk cId="1407525164" sldId="297"/>
        </pc:sldMkLst>
        <pc:spChg chg="mod">
          <ac:chgData name="carolina zambelli" userId="6f054485a52af266" providerId="LiveId" clId="{1CD53902-9EDA-5E1F-9BF3-99506914ED24}" dt="2026-09-09T12:09:36.061" v="355" actId="20577"/>
          <ac:spMkLst>
            <pc:docMk/>
            <pc:sldMk cId="1407525164" sldId="297"/>
            <ac:spMk id="8" creationId="{436209BC-E2A5-880C-EFC0-5BD814B04AB0}"/>
          </ac:spMkLst>
        </pc:spChg>
        <pc:spChg chg="mod">
          <ac:chgData name="carolina zambelli" userId="6f054485a52af266" providerId="LiveId" clId="{1CD53902-9EDA-5E1F-9BF3-99506914ED24}" dt="2026-09-04T17:41:10.018" v="191" actId="14100"/>
          <ac:spMkLst>
            <pc:docMk/>
            <pc:sldMk cId="1407525164" sldId="297"/>
            <ac:spMk id="1022" creationId="{00000000-0000-0000-0000-000000000000}"/>
          </ac:spMkLst>
        </pc:spChg>
        <pc:spChg chg="mod">
          <ac:chgData name="carolina zambelli" userId="6f054485a52af266" providerId="LiveId" clId="{1CD53902-9EDA-5E1F-9BF3-99506914ED24}" dt="2026-09-04T17:41:07.964" v="190" actId="14100"/>
          <ac:spMkLst>
            <pc:docMk/>
            <pc:sldMk cId="1407525164" sldId="297"/>
            <ac:spMk id="1023" creationId="{00000000-0000-0000-0000-000000000000}"/>
          </ac:spMkLst>
        </pc:spChg>
        <pc:picChg chg="add mod">
          <ac:chgData name="carolina zambelli" userId="6f054485a52af266" providerId="LiveId" clId="{1CD53902-9EDA-5E1F-9BF3-99506914ED24}" dt="2026-09-05T21:14:06.190" v="297" actId="1076"/>
          <ac:picMkLst>
            <pc:docMk/>
            <pc:sldMk cId="1407525164" sldId="297"/>
            <ac:picMk id="27" creationId="{43C052C9-7B5D-1CBC-2518-957FD555C483}"/>
          </ac:picMkLst>
        </pc:picChg>
      </pc:sldChg>
      <pc:sldChg chg="modSp mod">
        <pc:chgData name="carolina zambelli" userId="6f054485a52af266" providerId="LiveId" clId="{1CD53902-9EDA-5E1F-9BF3-99506914ED24}" dt="2026-09-09T12:09:39.990" v="357" actId="20577"/>
        <pc:sldMkLst>
          <pc:docMk/>
          <pc:sldMk cId="3811945213" sldId="298"/>
        </pc:sldMkLst>
        <pc:spChg chg="mod">
          <ac:chgData name="carolina zambelli" userId="6f054485a52af266" providerId="LiveId" clId="{1CD53902-9EDA-5E1F-9BF3-99506914ED24}" dt="2026-09-09T12:09:39.990" v="357" actId="20577"/>
          <ac:spMkLst>
            <pc:docMk/>
            <pc:sldMk cId="3811945213" sldId="298"/>
            <ac:spMk id="8" creationId="{4A008E2C-5B02-9A5F-9F80-4DAE25E4B772}"/>
          </ac:spMkLst>
        </pc:spChg>
        <pc:spChg chg="mod">
          <ac:chgData name="carolina zambelli" userId="6f054485a52af266" providerId="LiveId" clId="{1CD53902-9EDA-5E1F-9BF3-99506914ED24}" dt="2026-09-04T17:41:17.323" v="193" actId="14100"/>
          <ac:spMkLst>
            <pc:docMk/>
            <pc:sldMk cId="3811945213" sldId="298"/>
            <ac:spMk id="1052" creationId="{00000000-0000-0000-0000-000000000000}"/>
          </ac:spMkLst>
        </pc:spChg>
        <pc:spChg chg="mod">
          <ac:chgData name="carolina zambelli" userId="6f054485a52af266" providerId="LiveId" clId="{1CD53902-9EDA-5E1F-9BF3-99506914ED24}" dt="2026-09-04T17:41:15.456" v="192" actId="14100"/>
          <ac:spMkLst>
            <pc:docMk/>
            <pc:sldMk cId="3811945213" sldId="298"/>
            <ac:spMk id="1053" creationId="{00000000-0000-0000-0000-000000000000}"/>
          </ac:spMkLst>
        </pc:spChg>
      </pc:sldChg>
      <pc:sldChg chg="addSp delSp modSp mod">
        <pc:chgData name="carolina zambelli" userId="6f054485a52af266" providerId="LiveId" clId="{1CD53902-9EDA-5E1F-9BF3-99506914ED24}" dt="2026-09-09T12:09:45.863" v="359" actId="20577"/>
        <pc:sldMkLst>
          <pc:docMk/>
          <pc:sldMk cId="1407525164" sldId="299"/>
        </pc:sldMkLst>
        <pc:spChg chg="mod">
          <ac:chgData name="carolina zambelli" userId="6f054485a52af266" providerId="LiveId" clId="{1CD53902-9EDA-5E1F-9BF3-99506914ED24}" dt="2026-09-09T12:09:45.863" v="359" actId="20577"/>
          <ac:spMkLst>
            <pc:docMk/>
            <pc:sldMk cId="1407525164" sldId="299"/>
            <ac:spMk id="8" creationId="{436209BC-E2A5-880C-EFC0-5BD814B04AB0}"/>
          </ac:spMkLst>
        </pc:spChg>
        <pc:picChg chg="add mod">
          <ac:chgData name="carolina zambelli" userId="6f054485a52af266" providerId="LiveId" clId="{1CD53902-9EDA-5E1F-9BF3-99506914ED24}" dt="2026-09-05T21:14:31.814" v="307" actId="1076"/>
          <ac:picMkLst>
            <pc:docMk/>
            <pc:sldMk cId="1407525164" sldId="299"/>
            <ac:picMk id="27" creationId="{BBF0BEB8-5C31-9B09-7121-1AB11DA26308}"/>
          </ac:picMkLst>
        </pc:picChg>
      </pc:sldChg>
      <pc:sldChg chg="addSp delSp modSp mod">
        <pc:chgData name="carolina zambelli" userId="6f054485a52af266" providerId="LiveId" clId="{1CD53902-9EDA-5E1F-9BF3-99506914ED24}" dt="2026-09-09T12:09:50.311" v="361" actId="20577"/>
        <pc:sldMkLst>
          <pc:docMk/>
          <pc:sldMk cId="1407525164" sldId="300"/>
        </pc:sldMkLst>
        <pc:spChg chg="mod">
          <ac:chgData name="carolina zambelli" userId="6f054485a52af266" providerId="LiveId" clId="{1CD53902-9EDA-5E1F-9BF3-99506914ED24}" dt="2026-09-09T12:09:50.311" v="361" actId="20577"/>
          <ac:spMkLst>
            <pc:docMk/>
            <pc:sldMk cId="1407525164" sldId="300"/>
            <ac:spMk id="8" creationId="{436209BC-E2A5-880C-EFC0-5BD814B04AB0}"/>
          </ac:spMkLst>
        </pc:spChg>
        <pc:picChg chg="add mod">
          <ac:chgData name="carolina zambelli" userId="6f054485a52af266" providerId="LiveId" clId="{1CD53902-9EDA-5E1F-9BF3-99506914ED24}" dt="2026-09-05T21:14:47.006" v="315" actId="1076"/>
          <ac:picMkLst>
            <pc:docMk/>
            <pc:sldMk cId="1407525164" sldId="300"/>
            <ac:picMk id="26" creationId="{13EF0024-7654-2AA5-0BC2-7D5B1B17BA0E}"/>
          </ac:picMkLst>
        </pc:picChg>
      </pc:sldChg>
      <pc:sldChg chg="modSp mod">
        <pc:chgData name="carolina zambelli" userId="6f054485a52af266" providerId="LiveId" clId="{1CD53902-9EDA-5E1F-9BF3-99506914ED24}" dt="2026-09-09T12:09:54.296" v="363" actId="20577"/>
        <pc:sldMkLst>
          <pc:docMk/>
          <pc:sldMk cId="3811945213" sldId="301"/>
        </pc:sldMkLst>
        <pc:spChg chg="mod">
          <ac:chgData name="carolina zambelli" userId="6f054485a52af266" providerId="LiveId" clId="{1CD53902-9EDA-5E1F-9BF3-99506914ED24}" dt="2026-09-09T12:09:54.296" v="363" actId="20577"/>
          <ac:spMkLst>
            <pc:docMk/>
            <pc:sldMk cId="3811945213" sldId="301"/>
            <ac:spMk id="8" creationId="{4A008E2C-5B02-9A5F-9F80-4DAE25E4B772}"/>
          </ac:spMkLst>
        </pc:spChg>
        <pc:spChg chg="mod">
          <ac:chgData name="carolina zambelli" userId="6f054485a52af266" providerId="LiveId" clId="{1CD53902-9EDA-5E1F-9BF3-99506914ED24}" dt="2026-09-04T17:41:27.476" v="195" actId="14100"/>
          <ac:spMkLst>
            <pc:docMk/>
            <pc:sldMk cId="3811945213" sldId="301"/>
            <ac:spMk id="1006" creationId="{00000000-0000-0000-0000-000000000000}"/>
          </ac:spMkLst>
        </pc:spChg>
        <pc:spChg chg="mod">
          <ac:chgData name="carolina zambelli" userId="6f054485a52af266" providerId="LiveId" clId="{1CD53902-9EDA-5E1F-9BF3-99506914ED24}" dt="2026-09-04T17:41:25.637" v="194" actId="14100"/>
          <ac:spMkLst>
            <pc:docMk/>
            <pc:sldMk cId="3811945213" sldId="301"/>
            <ac:spMk id="1008" creationId="{00000000-0000-0000-0000-000000000000}"/>
          </ac:spMkLst>
        </pc:spChg>
      </pc:sldChg>
      <pc:sldChg chg="modSp mod">
        <pc:chgData name="carolina zambelli" userId="6f054485a52af266" providerId="LiveId" clId="{1CD53902-9EDA-5E1F-9BF3-99506914ED24}" dt="2026-09-09T12:09:59.066" v="365" actId="20577"/>
        <pc:sldMkLst>
          <pc:docMk/>
          <pc:sldMk cId="3811945213" sldId="302"/>
        </pc:sldMkLst>
        <pc:spChg chg="mod">
          <ac:chgData name="carolina zambelli" userId="6f054485a52af266" providerId="LiveId" clId="{1CD53902-9EDA-5E1F-9BF3-99506914ED24}" dt="2026-09-09T12:09:59.066" v="365" actId="20577"/>
          <ac:spMkLst>
            <pc:docMk/>
            <pc:sldMk cId="3811945213" sldId="302"/>
            <ac:spMk id="8" creationId="{4A008E2C-5B02-9A5F-9F80-4DAE25E4B772}"/>
          </ac:spMkLst>
        </pc:spChg>
      </pc:sldChg>
      <pc:sldChg chg="modSp mod">
        <pc:chgData name="carolina zambelli" userId="6f054485a52af266" providerId="LiveId" clId="{1CD53902-9EDA-5E1F-9BF3-99506914ED24}" dt="2026-09-09T12:10:02.594" v="367" actId="20577"/>
        <pc:sldMkLst>
          <pc:docMk/>
          <pc:sldMk cId="3811945213" sldId="303"/>
        </pc:sldMkLst>
        <pc:spChg chg="mod">
          <ac:chgData name="carolina zambelli" userId="6f054485a52af266" providerId="LiveId" clId="{1CD53902-9EDA-5E1F-9BF3-99506914ED24}" dt="2026-09-09T12:10:02.594" v="367" actId="20577"/>
          <ac:spMkLst>
            <pc:docMk/>
            <pc:sldMk cId="3811945213" sldId="303"/>
            <ac:spMk id="8" creationId="{4A008E2C-5B02-9A5F-9F80-4DAE25E4B772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3DD68CC0-A8C6-4D13-8367-DAC13869776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E795919C-743F-4506-96DE-0E5CD959ADA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7EC28F-1E2D-4976-A1E4-ECA0ECDF6EE1}" type="datetimeFigureOut">
              <a:rPr lang="pt-BR" smtClean="0"/>
              <a:t>09/09/2026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646D5DD5-86E4-4B49-84BF-6957495C220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FIA LABDATA . Copyright all rights reserved.</a:t>
            </a:r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96F2C2D8-E843-43F8-AB3B-5B27B1A225B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FB1A925-2493-4BA4-B8BB-70E30BA1039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89168346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C8B82B-C1FE-46F5-A406-4110563D3758}" type="datetimeFigureOut">
              <a:rPr lang="pt-BR" smtClean="0"/>
              <a:t>09/09/2026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FIA LABDATA . Copyright all rights reserved.</a:t>
            </a:r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521CF29-2038-4519-9484-F3B51481CF4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25108090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SLIDE OBRIGATÓRIO!!!!!!!!! </a:t>
            </a:r>
          </a:p>
          <a:p>
            <a:r>
              <a:rPr lang="pt-BR" dirty="0"/>
              <a:t>--Colocar o tema de acordo com a aula</a:t>
            </a:r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FIA LABDATA . Copyright all rights reserved.</a:t>
            </a:r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21CF29-2038-4519-9484-F3B51481CF49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441257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SLIDE OBRIGATÓRIO!!!!!!!!! </a:t>
            </a:r>
          </a:p>
          <a:p>
            <a:endParaRPr lang="pt-BR" dirty="0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FIA LABDATA . Copyright all rights reserved.</a:t>
            </a:r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21CF29-2038-4519-9484-F3B51481CF49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5079871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SLIDE OBRIGATÓRIO!!!!!!!!! </a:t>
            </a:r>
          </a:p>
          <a:p>
            <a:r>
              <a:rPr lang="pt-BR" dirty="0"/>
              <a:t>--Ajustar o conteúdo da aula de acordo com a aula ministrada</a:t>
            </a:r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FIA LABDATA . Copyright all rights reserved.</a:t>
            </a:r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21CF29-2038-4519-9484-F3B51481CF49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016855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SLIDE OBRIGATÓRIO!!!!!!!!! </a:t>
            </a:r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FIA LABDATA . Copyright all rights reserved.</a:t>
            </a:r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21CF29-2038-4519-9484-F3B51481CF49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377708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6A4A22-FA37-5E0F-499F-6A7E51BBAE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C6180DB1-3916-5BEF-D13D-6507CD6629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10D6EBC6-B8C3-B755-A95C-190D3B4D29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SLIDE OBRIGATÓRIO!!!!!!!!! </a:t>
            </a:r>
          </a:p>
          <a:p>
            <a:r>
              <a:rPr lang="pt-BR" dirty="0"/>
              <a:t>--Ajustar o conteúdo da aula de acordo com a aula ministrada</a:t>
            </a:r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3839ED53-9996-5988-4047-A2BF5F7E1149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FIA LABDATA . Copyright all rights reserved.</a:t>
            </a:r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4D7FAB9B-75CE-21ED-FF87-D4BF076856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21CF29-2038-4519-9484-F3B51481CF49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0287693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49CF79-D9B6-AA82-7F77-3439AB052F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A5E0DFBF-DC1B-0CE3-7EBC-14A2DA3221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2CAD0A7C-EC05-10A0-E05C-FDF5B59CA4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SLIDE OBRIGATÓRIO!!!!!!!!! </a:t>
            </a:r>
          </a:p>
          <a:p>
            <a:r>
              <a:rPr lang="pt-BR" dirty="0"/>
              <a:t>--Ajustar o conteúdo da aula de acordo com a aula ministrada</a:t>
            </a:r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F56F1247-4613-75B6-1999-C605D97693D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FIA LABDATA . Copyright all rights reserved.</a:t>
            </a:r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C0AAFA80-DBC0-D4FA-CEB4-E4426AAC4C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21CF29-2038-4519-9484-F3B51481CF49}" type="slidenum">
              <a:rPr lang="pt-BR" smtClean="0"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0430189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65560A-CDBB-7A7E-C0DC-1E29A37656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3EC7750A-6F61-3182-EAA3-5A245E8444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F8A52B52-9F22-1562-3A0B-0BF429C198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SLIDE OBRIGATÓRIO!!!!!!!!! </a:t>
            </a:r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FA2E1938-9040-CAFB-825D-362C114D04C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FIA LABDATA . Copyright all rights reserved.</a:t>
            </a:r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53149BC3-B8A6-B874-22DB-B576AB5E185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21CF29-2038-4519-9484-F3B51481CF49}" type="slidenum">
              <a:rPr lang="pt-BR" smtClean="0"/>
              <a:t>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1605209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E9F32E-09C3-B585-91AC-BB989291B5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62179811-9682-E537-7EDD-179DC3AD5C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2CC1F3DF-9BE9-7758-5282-BBA471789F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SLIDE OBRIGATÓRIO!!!!!!!!! </a:t>
            </a:r>
          </a:p>
          <a:p>
            <a:r>
              <a:rPr lang="pt-BR" dirty="0"/>
              <a:t>--Ajustar o conteúdo da aula de acordo com a aula ministrada</a:t>
            </a:r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6ABF260C-BEA5-A6A9-240F-D0B7DF00B88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FIA LABDATA . Copyright all rights reserved.</a:t>
            </a:r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E391232B-3C12-D136-42A1-60D79F8D68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21CF29-2038-4519-9484-F3B51481CF49}" type="slidenum">
              <a:rPr lang="pt-BR" smtClean="0"/>
              <a:t>10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6607983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FIA LABDATA . Copyright all rights reserved.</a:t>
            </a:r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21CF29-2038-4519-9484-F3B51481CF49}" type="slidenum">
              <a:rPr lang="pt-BR" smtClean="0"/>
              <a:t>11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967434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FIA LABDATA . Copyright all rights reserved.</a:t>
            </a:r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21CF29-2038-4519-9484-F3B51481CF49}" type="slidenum">
              <a:rPr lang="pt-BR" smtClean="0"/>
              <a:t>12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7264829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SLIDE OBRIGATÓRIO!!!!!!!!! </a:t>
            </a:r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FIA LABDATA . Copyright all rights reserved.</a:t>
            </a:r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21CF29-2038-4519-9484-F3B51481CF49}" type="slidenum">
              <a:rPr lang="pt-BR" smtClean="0"/>
              <a:t>20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1749673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F831C7-2F42-290C-1756-F325A31F9E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456B2CF0-7A16-2574-9ED0-8B3DA95135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2C828468-ED36-C709-3260-09653D6554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SLIDE OBRIGATÓRIO!!!!!!!!! </a:t>
            </a:r>
          </a:p>
          <a:p>
            <a:r>
              <a:rPr lang="pt-BR" dirty="0"/>
              <a:t>--Ajustar o conteúdo da aula de acordo com a aula ministrada</a:t>
            </a:r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6335860E-7505-E909-0A06-25358FCFE4AE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FIA LABDATA . Copyright all rights reserved.</a:t>
            </a:r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7643F83C-94D6-8CD5-0B12-7E6018EF341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21CF29-2038-4519-9484-F3B51481CF49}" type="slidenum">
              <a:rPr lang="pt-BR" smtClean="0"/>
              <a:t>21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7398151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SLIDE OBRIGATÓRIO!!!!!!!!! </a:t>
            </a:r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FIA LABDATA . Copyright all rights reserved.</a:t>
            </a:r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21CF29-2038-4519-9484-F3B51481CF49}" type="slidenum">
              <a:rPr lang="pt-BR" smtClean="0"/>
              <a:t>22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1748729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SLIDE OBRIGATÓRIO!!!!!!!!! </a:t>
            </a:r>
          </a:p>
          <a:p>
            <a:r>
              <a:rPr lang="pt-BR" dirty="0"/>
              <a:t>--TODAS AS AULAS DEVEM TER AS REFERENCIAS BIBLIOGRÁFICAS.</a:t>
            </a:r>
          </a:p>
          <a:p>
            <a:endParaRPr lang="pt-BR" dirty="0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FIA LABDATA . Copyright all rights reserved.</a:t>
            </a:r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21CF29-2038-4519-9484-F3B51481CF49}" type="slidenum">
              <a:rPr lang="pt-BR" smtClean="0"/>
              <a:t>23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301680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Rodapé 8">
            <a:extLst>
              <a:ext uri="{FF2B5EF4-FFF2-40B4-BE49-F238E27FC236}">
                <a16:creationId xmlns:a16="http://schemas.microsoft.com/office/drawing/2014/main" id="{7C7703B8-8306-4536-9211-5946EFB1B9F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0" y="9739311"/>
            <a:ext cx="18311327" cy="5360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>
                <a:solidFill>
                  <a:schemeClr val="bg1"/>
                </a:solidFill>
                <a:latin typeface="DM Sans 2" panose="020B0604020202020204" charset="0"/>
              </a:defRPr>
            </a:lvl1pPr>
          </a:lstStyle>
          <a:p>
            <a:r>
              <a:rPr lang="en-US" dirty="0"/>
              <a:t>FIA LABDATA . Copyright all rights reserved.</a:t>
            </a:r>
            <a:endParaRPr lang="pt-BR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Rodapé 8">
            <a:extLst>
              <a:ext uri="{FF2B5EF4-FFF2-40B4-BE49-F238E27FC236}">
                <a16:creationId xmlns:a16="http://schemas.microsoft.com/office/drawing/2014/main" id="{3A4652E4-8D20-484A-B52C-F30A1C7B66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0" y="9739311"/>
            <a:ext cx="18311327" cy="5360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>
                <a:solidFill>
                  <a:schemeClr val="bg1"/>
                </a:solidFill>
                <a:latin typeface="DM Sans 2" panose="020B0604020202020204" charset="0"/>
              </a:defRPr>
            </a:lvl1pPr>
          </a:lstStyle>
          <a:p>
            <a:r>
              <a:rPr lang="en-US" dirty="0"/>
              <a:t>FIA LABDATA . Copyright all rights reserved.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4307465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47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m 14">
            <a:extLst>
              <a:ext uri="{FF2B5EF4-FFF2-40B4-BE49-F238E27FC236}">
                <a16:creationId xmlns:a16="http://schemas.microsoft.com/office/drawing/2014/main" id="{9AC137E8-3EA7-4F1C-9BC1-7CC4CE2FD79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6" t="28877" r="-556" b="24392"/>
          <a:stretch/>
        </p:blipFill>
        <p:spPr>
          <a:xfrm>
            <a:off x="17106" y="9534072"/>
            <a:ext cx="2268894" cy="752928"/>
          </a:xfrm>
          <a:prstGeom prst="rect">
            <a:avLst/>
          </a:prstGeom>
        </p:spPr>
      </p:pic>
      <p:sp>
        <p:nvSpPr>
          <p:cNvPr id="7" name="Espaço Reservado para Título 6">
            <a:extLst>
              <a:ext uri="{FF2B5EF4-FFF2-40B4-BE49-F238E27FC236}">
                <a16:creationId xmlns:a16="http://schemas.microsoft.com/office/drawing/2014/main" id="{CA13E89D-CE32-42DB-9563-857FB93735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1839" y="250062"/>
            <a:ext cx="17694728" cy="67468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dirty="0"/>
              <a:t>Clique para editar o título Mestre</a:t>
            </a:r>
          </a:p>
        </p:txBody>
      </p:sp>
      <p:sp>
        <p:nvSpPr>
          <p:cNvPr id="8" name="Espaço Reservado para Texto 7">
            <a:extLst>
              <a:ext uri="{FF2B5EF4-FFF2-40B4-BE49-F238E27FC236}">
                <a16:creationId xmlns:a16="http://schemas.microsoft.com/office/drawing/2014/main" id="{E67AA37B-AEFB-4369-B434-7D89960115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57300" y="2738438"/>
            <a:ext cx="15773400" cy="6527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dirty="0"/>
              <a:t>Editar estilos de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9" name="Espaço Reservado para Rodapé 8">
            <a:extLst>
              <a:ext uri="{FF2B5EF4-FFF2-40B4-BE49-F238E27FC236}">
                <a16:creationId xmlns:a16="http://schemas.microsoft.com/office/drawing/2014/main" id="{3EC44FA8-2305-47BB-AAEC-6D7ADD91B0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0" y="9739311"/>
            <a:ext cx="18311327" cy="5360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>
                <a:solidFill>
                  <a:schemeClr val="bg1"/>
                </a:solidFill>
                <a:latin typeface="DM Sans 2" panose="020B0604020202020204" charset="0"/>
              </a:defRPr>
            </a:lvl1pPr>
          </a:lstStyle>
          <a:p>
            <a:r>
              <a:rPr lang="en-US" dirty="0"/>
              <a:t>FIA LABDATA . Copyright all rights reserved.</a:t>
            </a:r>
            <a:endParaRPr lang="pt-BR" dirty="0"/>
          </a:p>
        </p:txBody>
      </p:sp>
      <p:sp>
        <p:nvSpPr>
          <p:cNvPr id="10" name="Espaço Reservado para Número de Slide 9">
            <a:extLst>
              <a:ext uri="{FF2B5EF4-FFF2-40B4-BE49-F238E27FC236}">
                <a16:creationId xmlns:a16="http://schemas.microsoft.com/office/drawing/2014/main" id="{682560D1-1A30-4636-A3C3-5294E33C82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173200" y="9727648"/>
            <a:ext cx="36576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pt-BR" sz="1400" b="1" kern="1200" smtClean="0">
                <a:solidFill>
                  <a:srgbClr val="A2DA6A"/>
                </a:solidFill>
                <a:latin typeface="DM Sans 2" panose="020B0604020202020204" charset="0"/>
                <a:ea typeface="+mn-ea"/>
                <a:cs typeface="+mn-cs"/>
              </a:defRPr>
            </a:lvl1pPr>
          </a:lstStyle>
          <a:p>
            <a:fld id="{664668FA-523D-47B5-8010-16B18F0DFFC6}" type="slidenum">
              <a:rPr lang="pt-BR" smtClean="0"/>
              <a:pPr/>
              <a:t>‹nº›</a:t>
            </a:fld>
            <a:endParaRPr lang="pt-BR" dirty="0"/>
          </a:p>
        </p:txBody>
      </p:sp>
      <p:sp>
        <p:nvSpPr>
          <p:cNvPr id="11" name="Espaço Reservado para Rodapé 8">
            <a:extLst>
              <a:ext uri="{FF2B5EF4-FFF2-40B4-BE49-F238E27FC236}">
                <a16:creationId xmlns:a16="http://schemas.microsoft.com/office/drawing/2014/main" id="{3E7A2413-0C16-4E6D-B420-75487AAD969B}"/>
              </a:ext>
            </a:extLst>
          </p:cNvPr>
          <p:cNvSpPr txBox="1">
            <a:spLocks/>
          </p:cNvSpPr>
          <p:nvPr userDrawn="1"/>
        </p:nvSpPr>
        <p:spPr>
          <a:xfrm>
            <a:off x="31102" y="0"/>
            <a:ext cx="18311327" cy="5360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pt-BR" dirty="0"/>
          </a:p>
        </p:txBody>
      </p:sp>
      <p:sp>
        <p:nvSpPr>
          <p:cNvPr id="16" name="Espaço Reservado para Rodapé 8">
            <a:extLst>
              <a:ext uri="{FF2B5EF4-FFF2-40B4-BE49-F238E27FC236}">
                <a16:creationId xmlns:a16="http://schemas.microsoft.com/office/drawing/2014/main" id="{5E0E08DF-1E7C-4F94-A5C9-D496F98C69F9}"/>
              </a:ext>
            </a:extLst>
          </p:cNvPr>
          <p:cNvSpPr txBox="1">
            <a:spLocks/>
          </p:cNvSpPr>
          <p:nvPr userDrawn="1"/>
        </p:nvSpPr>
        <p:spPr>
          <a:xfrm>
            <a:off x="17952098" y="-23327"/>
            <a:ext cx="304800" cy="10287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400" kern="1200">
                <a:solidFill>
                  <a:schemeClr val="bg1"/>
                </a:solidFill>
                <a:latin typeface="DM Sans 2" panose="020B060402020202020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pt-BR" dirty="0"/>
          </a:p>
        </p:txBody>
      </p:sp>
      <p:sp>
        <p:nvSpPr>
          <p:cNvPr id="17" name="Espaço Reservado para Rodapé 8">
            <a:extLst>
              <a:ext uri="{FF2B5EF4-FFF2-40B4-BE49-F238E27FC236}">
                <a16:creationId xmlns:a16="http://schemas.microsoft.com/office/drawing/2014/main" id="{A4A8287E-4F33-4C5D-9264-55622A62B753}"/>
              </a:ext>
            </a:extLst>
          </p:cNvPr>
          <p:cNvSpPr txBox="1">
            <a:spLocks/>
          </p:cNvSpPr>
          <p:nvPr userDrawn="1"/>
        </p:nvSpPr>
        <p:spPr>
          <a:xfrm>
            <a:off x="-8553" y="6220"/>
            <a:ext cx="304800" cy="10287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400" kern="1200">
                <a:solidFill>
                  <a:schemeClr val="bg1"/>
                </a:solidFill>
                <a:latin typeface="DM Sans 2" panose="020B060402020202020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pt-BR" dirty="0"/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C0320D6E-4291-4317-9267-A247D28E11F8}"/>
              </a:ext>
            </a:extLst>
          </p:cNvPr>
          <p:cNvSpPr/>
          <p:nvPr userDrawn="1"/>
        </p:nvSpPr>
        <p:spPr>
          <a:xfrm>
            <a:off x="0" y="273552"/>
            <a:ext cx="18256898" cy="674687"/>
          </a:xfrm>
          <a:prstGeom prst="rect">
            <a:avLst/>
          </a:prstGeom>
          <a:solidFill>
            <a:srgbClr val="C3FA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pt-BR" sz="32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2"/>
  </p:sldLayoutIdLst>
  <p:hf sldNum="0"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sv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onfluent.io/hub/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kafka.apache.org/documentation/" TargetMode="External"/><Relationship Id="rId4" Type="http://schemas.openxmlformats.org/officeDocument/2006/relationships/hyperlink" Target="https://www.confluent.io/cloud-kafka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 descr="Homem sentado em frente a computador  O conteúdo gerado por IA pode estar incorreto."/>
          <p:cNvSpPr/>
          <p:nvPr/>
        </p:nvSpPr>
        <p:spPr>
          <a:xfrm>
            <a:off x="180" y="101"/>
            <a:ext cx="18287640" cy="10286797"/>
          </a:xfrm>
          <a:custGeom>
            <a:avLst/>
            <a:gdLst/>
            <a:ahLst/>
            <a:cxnLst/>
            <a:rect l="l" t="t" r="r" b="b"/>
            <a:pathLst>
              <a:path w="18287640" h="10286797">
                <a:moveTo>
                  <a:pt x="0" y="0"/>
                </a:moveTo>
                <a:lnTo>
                  <a:pt x="18287640" y="0"/>
                </a:lnTo>
                <a:lnTo>
                  <a:pt x="18287640" y="10286798"/>
                </a:lnTo>
                <a:lnTo>
                  <a:pt x="0" y="1028679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grpSp>
        <p:nvGrpSpPr>
          <p:cNvPr id="3" name="Group 3"/>
          <p:cNvGrpSpPr/>
          <p:nvPr/>
        </p:nvGrpSpPr>
        <p:grpSpPr>
          <a:xfrm>
            <a:off x="180" y="101"/>
            <a:ext cx="5667633" cy="4946133"/>
            <a:chOff x="0" y="0"/>
            <a:chExt cx="7556844" cy="6594844"/>
          </a:xfrm>
        </p:grpSpPr>
        <p:grpSp>
          <p:nvGrpSpPr>
            <p:cNvPr id="4" name="Group 4"/>
            <p:cNvGrpSpPr/>
            <p:nvPr/>
          </p:nvGrpSpPr>
          <p:grpSpPr>
            <a:xfrm>
              <a:off x="0" y="0"/>
              <a:ext cx="3797034" cy="6594844"/>
              <a:chOff x="0" y="0"/>
              <a:chExt cx="670780" cy="1165038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670780" cy="1165038"/>
              </a:xfrm>
              <a:custGeom>
                <a:avLst/>
                <a:gdLst/>
                <a:ahLst/>
                <a:cxnLst/>
                <a:rect l="l" t="t" r="r" b="b"/>
                <a:pathLst>
                  <a:path w="670780" h="1165038">
                    <a:moveTo>
                      <a:pt x="0" y="0"/>
                    </a:moveTo>
                    <a:lnTo>
                      <a:pt x="670780" y="0"/>
                    </a:lnTo>
                    <a:lnTo>
                      <a:pt x="670780" y="1165038"/>
                    </a:lnTo>
                    <a:lnTo>
                      <a:pt x="0" y="1165038"/>
                    </a:lnTo>
                    <a:close/>
                  </a:path>
                </a:pathLst>
              </a:custGeom>
              <a:solidFill>
                <a:srgbClr val="084734"/>
              </a:solidFill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6" name="TextBox 6"/>
              <p:cNvSpPr txBox="1"/>
              <p:nvPr/>
            </p:nvSpPr>
            <p:spPr>
              <a:xfrm>
                <a:off x="0" y="-38100"/>
                <a:ext cx="670780" cy="1203138"/>
              </a:xfrm>
              <a:prstGeom prst="rect">
                <a:avLst/>
              </a:prstGeom>
            </p:spPr>
            <p:txBody>
              <a:bodyPr lIns="56803" tIns="56803" rIns="56803" bIns="56803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7" name="Group 7"/>
            <p:cNvGrpSpPr/>
            <p:nvPr/>
          </p:nvGrpSpPr>
          <p:grpSpPr>
            <a:xfrm>
              <a:off x="2274762" y="3534500"/>
              <a:ext cx="5282083" cy="3060344"/>
              <a:chOff x="0" y="0"/>
              <a:chExt cx="933127" cy="540637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933127" cy="540637"/>
              </a:xfrm>
              <a:custGeom>
                <a:avLst/>
                <a:gdLst/>
                <a:ahLst/>
                <a:cxnLst/>
                <a:rect l="l" t="t" r="r" b="b"/>
                <a:pathLst>
                  <a:path w="933127" h="540637">
                    <a:moveTo>
                      <a:pt x="0" y="0"/>
                    </a:moveTo>
                    <a:lnTo>
                      <a:pt x="933127" y="0"/>
                    </a:lnTo>
                    <a:lnTo>
                      <a:pt x="933127" y="540637"/>
                    </a:lnTo>
                    <a:lnTo>
                      <a:pt x="0" y="540637"/>
                    </a:lnTo>
                    <a:close/>
                  </a:path>
                </a:pathLst>
              </a:custGeom>
              <a:solidFill>
                <a:srgbClr val="084734"/>
              </a:solidFill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0" y="-38100"/>
                <a:ext cx="933127" cy="578737"/>
              </a:xfrm>
              <a:prstGeom prst="rect">
                <a:avLst/>
              </a:prstGeom>
            </p:spPr>
            <p:txBody>
              <a:bodyPr lIns="56803" tIns="56803" rIns="56803" bIns="56803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grpSp>
        <p:nvGrpSpPr>
          <p:cNvPr id="10" name="Group 10"/>
          <p:cNvGrpSpPr/>
          <p:nvPr/>
        </p:nvGrpSpPr>
        <p:grpSpPr>
          <a:xfrm>
            <a:off x="2824472" y="101"/>
            <a:ext cx="5458440" cy="7870255"/>
            <a:chOff x="0" y="0"/>
            <a:chExt cx="7277920" cy="10493673"/>
          </a:xfrm>
        </p:grpSpPr>
        <p:grpSp>
          <p:nvGrpSpPr>
            <p:cNvPr id="11" name="Group 11"/>
            <p:cNvGrpSpPr/>
            <p:nvPr/>
          </p:nvGrpSpPr>
          <p:grpSpPr>
            <a:xfrm rot="-10800000">
              <a:off x="3791122" y="0"/>
              <a:ext cx="3486798" cy="10493673"/>
              <a:chOff x="0" y="0"/>
              <a:chExt cx="643237" cy="1935851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643237" cy="1935851"/>
              </a:xfrm>
              <a:custGeom>
                <a:avLst/>
                <a:gdLst/>
                <a:ahLst/>
                <a:cxnLst/>
                <a:rect l="l" t="t" r="r" b="b"/>
                <a:pathLst>
                  <a:path w="643237" h="1935851">
                    <a:moveTo>
                      <a:pt x="0" y="0"/>
                    </a:moveTo>
                    <a:lnTo>
                      <a:pt x="643237" y="0"/>
                    </a:lnTo>
                    <a:lnTo>
                      <a:pt x="643237" y="1935851"/>
                    </a:lnTo>
                    <a:lnTo>
                      <a:pt x="0" y="1935851"/>
                    </a:lnTo>
                    <a:close/>
                  </a:path>
                </a:pathLst>
              </a:custGeom>
              <a:solidFill>
                <a:srgbClr val="C3FA75"/>
              </a:solidFill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0" y="-38100"/>
                <a:ext cx="643237" cy="1973951"/>
              </a:xfrm>
              <a:prstGeom prst="rect">
                <a:avLst/>
              </a:prstGeom>
            </p:spPr>
            <p:txBody>
              <a:bodyPr lIns="52753" tIns="52753" rIns="52753" bIns="52753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14" name="Group 14"/>
            <p:cNvGrpSpPr/>
            <p:nvPr/>
          </p:nvGrpSpPr>
          <p:grpSpPr>
            <a:xfrm rot="-10800000">
              <a:off x="0" y="0"/>
              <a:ext cx="7241761" cy="3534500"/>
              <a:chOff x="0" y="0"/>
              <a:chExt cx="1335945" cy="652037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0" y="0"/>
                <a:ext cx="1335945" cy="652037"/>
              </a:xfrm>
              <a:custGeom>
                <a:avLst/>
                <a:gdLst/>
                <a:ahLst/>
                <a:cxnLst/>
                <a:rect l="l" t="t" r="r" b="b"/>
                <a:pathLst>
                  <a:path w="1335945" h="652037">
                    <a:moveTo>
                      <a:pt x="0" y="0"/>
                    </a:moveTo>
                    <a:lnTo>
                      <a:pt x="1335945" y="0"/>
                    </a:lnTo>
                    <a:lnTo>
                      <a:pt x="1335945" y="652037"/>
                    </a:lnTo>
                    <a:lnTo>
                      <a:pt x="0" y="652037"/>
                    </a:lnTo>
                    <a:close/>
                  </a:path>
                </a:pathLst>
              </a:custGeom>
              <a:solidFill>
                <a:srgbClr val="C3FA75"/>
              </a:solidFill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0" y="-38100"/>
                <a:ext cx="1335945" cy="690137"/>
              </a:xfrm>
              <a:prstGeom prst="rect">
                <a:avLst/>
              </a:prstGeom>
            </p:spPr>
            <p:txBody>
              <a:bodyPr lIns="52753" tIns="52753" rIns="52753" bIns="52753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grpSp>
        <p:nvGrpSpPr>
          <p:cNvPr id="17" name="Group 17"/>
          <p:cNvGrpSpPr/>
          <p:nvPr/>
        </p:nvGrpSpPr>
        <p:grpSpPr>
          <a:xfrm>
            <a:off x="180" y="4922274"/>
            <a:ext cx="8282731" cy="5364625"/>
            <a:chOff x="0" y="0"/>
            <a:chExt cx="2115652" cy="1370282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2115652" cy="1370282"/>
            </a:xfrm>
            <a:custGeom>
              <a:avLst/>
              <a:gdLst/>
              <a:ahLst/>
              <a:cxnLst/>
              <a:rect l="l" t="t" r="r" b="b"/>
              <a:pathLst>
                <a:path w="2115652" h="1370282">
                  <a:moveTo>
                    <a:pt x="0" y="0"/>
                  </a:moveTo>
                  <a:lnTo>
                    <a:pt x="2115652" y="0"/>
                  </a:lnTo>
                  <a:lnTo>
                    <a:pt x="2115652" y="1370282"/>
                  </a:lnTo>
                  <a:lnTo>
                    <a:pt x="0" y="1370282"/>
                  </a:lnTo>
                  <a:close/>
                </a:path>
              </a:pathLst>
            </a:custGeom>
            <a:solidFill>
              <a:srgbClr val="142D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38100"/>
              <a:ext cx="2115652" cy="1408382"/>
            </a:xfrm>
            <a:prstGeom prst="rect">
              <a:avLst/>
            </a:prstGeom>
          </p:spPr>
          <p:txBody>
            <a:bodyPr lIns="50799" tIns="50799" rIns="50799" bIns="50799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0" name="Freeform 20"/>
          <p:cNvSpPr/>
          <p:nvPr/>
        </p:nvSpPr>
        <p:spPr>
          <a:xfrm>
            <a:off x="3286997" y="1056198"/>
            <a:ext cx="4506271" cy="1208200"/>
          </a:xfrm>
          <a:custGeom>
            <a:avLst/>
            <a:gdLst/>
            <a:ahLst/>
            <a:cxnLst/>
            <a:rect l="l" t="t" r="r" b="b"/>
            <a:pathLst>
              <a:path w="4506271" h="1208200">
                <a:moveTo>
                  <a:pt x="0" y="0"/>
                </a:moveTo>
                <a:lnTo>
                  <a:pt x="4506270" y="0"/>
                </a:lnTo>
                <a:lnTo>
                  <a:pt x="4506270" y="1208200"/>
                </a:lnTo>
                <a:lnTo>
                  <a:pt x="0" y="12082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7497" t="-157710" r="-21907" b="-137997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21" name="TextBox 21"/>
          <p:cNvSpPr txBox="1"/>
          <p:nvPr/>
        </p:nvSpPr>
        <p:spPr>
          <a:xfrm>
            <a:off x="460943" y="5412567"/>
            <a:ext cx="7472858" cy="17042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79"/>
              </a:lnSpc>
              <a:spcBef>
                <a:spcPct val="0"/>
              </a:spcBef>
            </a:pPr>
            <a:r>
              <a:rPr lang="en-US" sz="3200" dirty="0" err="1">
                <a:solidFill>
                  <a:srgbClr val="C3FA75"/>
                </a:solidFill>
                <a:latin typeface="DM Sans 1 Light"/>
                <a:ea typeface="DM Sans 1 Light"/>
                <a:cs typeface="DM Sans 1 Light"/>
                <a:sym typeface="DM Sans 1 Light"/>
              </a:rPr>
              <a:t>Advanved</a:t>
            </a:r>
            <a:r>
              <a:rPr lang="en-US" sz="3200" dirty="0">
                <a:solidFill>
                  <a:srgbClr val="C3FA75"/>
                </a:solidFill>
                <a:latin typeface="DM Sans 1 Light"/>
                <a:ea typeface="DM Sans 1 Light"/>
                <a:cs typeface="DM Sans 1 Light"/>
                <a:sym typeface="DM Sans 1 Light"/>
              </a:rPr>
              <a:t> MBA | </a:t>
            </a:r>
            <a:r>
              <a:rPr lang="en-US" sz="3200" dirty="0" err="1">
                <a:solidFill>
                  <a:srgbClr val="C3FA75"/>
                </a:solidFill>
                <a:latin typeface="DM Sans 1 Light"/>
                <a:ea typeface="DM Sans 1 Light"/>
                <a:cs typeface="DM Sans 1 Light"/>
                <a:sym typeface="DM Sans 1 Light"/>
              </a:rPr>
              <a:t>Pós-Graduação</a:t>
            </a:r>
            <a:r>
              <a:rPr lang="en-US" sz="3200" dirty="0">
                <a:solidFill>
                  <a:srgbClr val="C3FA75"/>
                </a:solidFill>
                <a:latin typeface="DM Sans 1 Light"/>
                <a:ea typeface="DM Sans 1 Light"/>
                <a:cs typeface="DM Sans 1 Light"/>
                <a:sym typeface="DM Sans 1 Light"/>
              </a:rPr>
              <a:t> </a:t>
            </a:r>
          </a:p>
          <a:p>
            <a:pPr algn="l">
              <a:lnSpc>
                <a:spcPts val="4479"/>
              </a:lnSpc>
              <a:spcBef>
                <a:spcPct val="0"/>
              </a:spcBef>
            </a:pPr>
            <a:r>
              <a:rPr lang="en-US" sz="3200" b="1" dirty="0" err="1">
                <a:solidFill>
                  <a:srgbClr val="C3FA75"/>
                </a:solidFill>
                <a:latin typeface="DM Sans 1 Medium"/>
                <a:ea typeface="DM Sans 1 Medium"/>
                <a:cs typeface="DM Sans 1 Medium"/>
                <a:sym typeface="DM Sans 1 Medium"/>
              </a:rPr>
              <a:t>Engenharia</a:t>
            </a:r>
            <a:r>
              <a:rPr lang="en-US" sz="3200" b="1" dirty="0">
                <a:solidFill>
                  <a:srgbClr val="C3FA75"/>
                </a:solidFill>
                <a:latin typeface="DM Sans 1 Medium"/>
                <a:ea typeface="DM Sans 1 Medium"/>
                <a:cs typeface="DM Sans 1 Medium"/>
                <a:sym typeface="DM Sans 1 Medium"/>
              </a:rPr>
              <a:t> e </a:t>
            </a:r>
            <a:r>
              <a:rPr lang="en-US" sz="3200" b="1" dirty="0" err="1">
                <a:solidFill>
                  <a:srgbClr val="C3FA75"/>
                </a:solidFill>
                <a:latin typeface="DM Sans 1 Medium"/>
                <a:ea typeface="DM Sans 1 Medium"/>
                <a:cs typeface="DM Sans 1 Medium"/>
                <a:sym typeface="DM Sans 1 Medium"/>
              </a:rPr>
              <a:t>Arquitetura</a:t>
            </a:r>
            <a:r>
              <a:rPr lang="en-US" sz="3200" b="1" dirty="0">
                <a:solidFill>
                  <a:srgbClr val="C3FA75"/>
                </a:solidFill>
                <a:latin typeface="DM Sans 1 Medium"/>
                <a:ea typeface="DM Sans 1 Medium"/>
                <a:cs typeface="DM Sans 1 Medium"/>
                <a:sym typeface="DM Sans 1 Medium"/>
              </a:rPr>
              <a:t> de Dados - Big Data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7893663" y="9762665"/>
            <a:ext cx="152397" cy="200022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C3FA75"/>
                </a:solidFill>
                <a:latin typeface="DM Sans 1"/>
                <a:ea typeface="DM Sans 1"/>
                <a:cs typeface="DM Sans 1"/>
                <a:sym typeface="DM Sans 1"/>
              </a:rPr>
              <a:t>1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460942" y="7605805"/>
            <a:ext cx="7472857" cy="5793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479"/>
              </a:lnSpc>
              <a:spcBef>
                <a:spcPct val="0"/>
              </a:spcBef>
            </a:pPr>
            <a:r>
              <a:rPr lang="en-US" sz="4000" dirty="0">
                <a:solidFill>
                  <a:srgbClr val="FFFFFF"/>
                </a:solidFill>
                <a:latin typeface="DM Sans 1"/>
                <a:ea typeface="DM Sans 1"/>
                <a:cs typeface="DM Sans 1"/>
                <a:sym typeface="DM Sans 1"/>
              </a:rPr>
              <a:t>Kafka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47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1"/>
          <p:cNvSpPr txBox="1"/>
          <p:nvPr/>
        </p:nvSpPr>
        <p:spPr>
          <a:xfrm>
            <a:off x="17877688" y="9762665"/>
            <a:ext cx="184346" cy="428194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 dirty="0">
                <a:solidFill>
                  <a:srgbClr val="C3FA75"/>
                </a:solidFill>
                <a:latin typeface="DM Sans 1"/>
                <a:ea typeface="DM Sans 1"/>
                <a:cs typeface="DM Sans 1"/>
                <a:sym typeface="DM Sans 1"/>
              </a:rPr>
              <a:t>2</a:t>
            </a:r>
          </a:p>
        </p:txBody>
      </p:sp>
      <p:sp>
        <p:nvSpPr>
          <p:cNvPr id="14" name="Espaço Reservado para Rodapé 13">
            <a:extLst>
              <a:ext uri="{FF2B5EF4-FFF2-40B4-BE49-F238E27FC236}">
                <a16:creationId xmlns:a16="http://schemas.microsoft.com/office/drawing/2014/main" id="{4119F181-06BA-434A-99FF-8F00D4FE99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FIA LABDATA . Copyright all rights reserved.</a:t>
            </a:r>
            <a:endParaRPr lang="pt-BR" dirty="0"/>
          </a:p>
        </p:txBody>
      </p:sp>
      <p:sp>
        <p:nvSpPr>
          <p:cNvPr id="17" name="TextBox 5">
            <a:extLst>
              <a:ext uri="{FF2B5EF4-FFF2-40B4-BE49-F238E27FC236}">
                <a16:creationId xmlns:a16="http://schemas.microsoft.com/office/drawing/2014/main" id="{874945BE-C5DB-41A8-B1C4-33F6E60208AF}"/>
              </a:ext>
            </a:extLst>
          </p:cNvPr>
          <p:cNvSpPr txBox="1"/>
          <p:nvPr/>
        </p:nvSpPr>
        <p:spPr>
          <a:xfrm>
            <a:off x="460942" y="291940"/>
            <a:ext cx="10778397" cy="6851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599"/>
              </a:lnSpc>
            </a:pPr>
            <a:r>
              <a:rPr lang="en-US" sz="3999" b="1" dirty="0">
                <a:solidFill>
                  <a:srgbClr val="084734"/>
                </a:solidFill>
                <a:latin typeface="DM Sans 1 Light" panose="020B0604020202020204" charset="0"/>
                <a:sym typeface="DM Sans 1 Medium"/>
              </a:rPr>
              <a:t>Corpo </a:t>
            </a:r>
            <a:r>
              <a:rPr lang="en-US" sz="3999" b="1" dirty="0" err="1">
                <a:solidFill>
                  <a:srgbClr val="084734"/>
                </a:solidFill>
                <a:latin typeface="DM Sans 1 Light" panose="020B0604020202020204" charset="0"/>
                <a:sym typeface="DM Sans 1 Medium"/>
              </a:rPr>
              <a:t>Docente</a:t>
            </a:r>
            <a:endParaRPr lang="en-US" sz="3999" b="1" dirty="0">
              <a:solidFill>
                <a:srgbClr val="084734"/>
              </a:solidFill>
              <a:latin typeface="DM Sans 1 Light" panose="020B0604020202020204" charset="0"/>
              <a:sym typeface="DM Sans 1 Medium"/>
            </a:endParaRP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42C63E73-58E4-FA20-AD81-9F1B9E86C8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82400" y="1028700"/>
            <a:ext cx="6096000" cy="9149718"/>
          </a:xfrm>
          <a:prstGeom prst="rect">
            <a:avLst/>
          </a:prstGeom>
        </p:spPr>
      </p:pic>
      <p:sp>
        <p:nvSpPr>
          <p:cNvPr id="3" name="TextBox 48">
            <a:extLst>
              <a:ext uri="{FF2B5EF4-FFF2-40B4-BE49-F238E27FC236}">
                <a16:creationId xmlns:a16="http://schemas.microsoft.com/office/drawing/2014/main" id="{E8F93A01-E457-602B-3A9F-34F8256386C2}"/>
              </a:ext>
            </a:extLst>
          </p:cNvPr>
          <p:cNvSpPr txBox="1"/>
          <p:nvPr/>
        </p:nvSpPr>
        <p:spPr>
          <a:xfrm>
            <a:off x="456393" y="2342733"/>
            <a:ext cx="10210801" cy="60433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pt-BR" sz="2400" dirty="0">
                <a:solidFill>
                  <a:schemeClr val="bg1"/>
                </a:solidFill>
                <a:latin typeface="DM Sans"/>
              </a:rPr>
              <a:t>Bacharel em Matemática Pura, Bacharel e mestra em Engenharia de Informação pela Universidade Federal do ABC, tendo como área de pesquisa modelos de Inteligência Artificial </a:t>
            </a:r>
            <a:r>
              <a:rPr lang="pt-BR" sz="2400" dirty="0" err="1">
                <a:solidFill>
                  <a:schemeClr val="bg1"/>
                </a:solidFill>
                <a:latin typeface="DM Sans"/>
              </a:rPr>
              <a:t>Bioinspirados</a:t>
            </a:r>
            <a:r>
              <a:rPr lang="pt-BR" sz="2400" dirty="0">
                <a:solidFill>
                  <a:schemeClr val="bg1"/>
                </a:solidFill>
                <a:latin typeface="DM Sans"/>
              </a:rPr>
              <a:t>, Neurociência Computacional e Engenharia Neuromórfica. </a:t>
            </a:r>
          </a:p>
          <a:p>
            <a:pPr>
              <a:lnSpc>
                <a:spcPct val="150000"/>
              </a:lnSpc>
            </a:pPr>
            <a:endParaRPr lang="pt-BR" sz="2400" dirty="0">
              <a:solidFill>
                <a:schemeClr val="bg1"/>
              </a:solidFill>
              <a:latin typeface="DM Sans"/>
            </a:endParaRPr>
          </a:p>
          <a:p>
            <a:pPr>
              <a:lnSpc>
                <a:spcPct val="150000"/>
              </a:lnSpc>
            </a:pPr>
            <a:r>
              <a:rPr lang="pt-BR" sz="2400" dirty="0">
                <a:solidFill>
                  <a:schemeClr val="bg1"/>
                </a:solidFill>
                <a:latin typeface="DM Sans"/>
              </a:rPr>
              <a:t>+10 anos de atuação no mercado de Dados &amp; </a:t>
            </a:r>
            <a:r>
              <a:rPr lang="pt-BR" sz="2400" dirty="0" err="1">
                <a:solidFill>
                  <a:schemeClr val="bg1"/>
                </a:solidFill>
                <a:latin typeface="DM Sans"/>
              </a:rPr>
              <a:t>Analytics</a:t>
            </a:r>
            <a:r>
              <a:rPr lang="pt-BR" sz="2400" dirty="0">
                <a:solidFill>
                  <a:schemeClr val="bg1"/>
                </a:solidFill>
                <a:latin typeface="DM Sans"/>
              </a:rPr>
              <a:t> no segmento de indústria e consultoria atuando em projetos de Ciência de Dados, Engenharia de Dados, Inteligência Artificial e </a:t>
            </a:r>
            <a:r>
              <a:rPr lang="pt-BR" sz="2400" dirty="0" err="1">
                <a:solidFill>
                  <a:schemeClr val="bg1"/>
                </a:solidFill>
                <a:latin typeface="DM Sans"/>
              </a:rPr>
              <a:t>MLOps</a:t>
            </a:r>
            <a:r>
              <a:rPr lang="pt-BR" sz="2400" dirty="0">
                <a:solidFill>
                  <a:schemeClr val="bg1"/>
                </a:solidFill>
                <a:latin typeface="DM Sans"/>
              </a:rPr>
              <a:t> em diferentes setores como Telecom, Varejo, Financeiro, Automotivo e Indústria 4.0. Atualmente, é Head de Dados na Maxxi, responsável pelas frentes de Engenharia de Dados, Ciência de Dados, </a:t>
            </a:r>
            <a:r>
              <a:rPr lang="pt-BR" sz="2400" dirty="0" err="1">
                <a:solidFill>
                  <a:schemeClr val="bg1"/>
                </a:solidFill>
                <a:latin typeface="DM Sans"/>
              </a:rPr>
              <a:t>Analytics</a:t>
            </a:r>
            <a:r>
              <a:rPr lang="pt-BR" sz="2400" dirty="0">
                <a:solidFill>
                  <a:schemeClr val="bg1"/>
                </a:solidFill>
                <a:latin typeface="DM Sans"/>
              </a:rPr>
              <a:t> e IA.</a:t>
            </a:r>
          </a:p>
        </p:txBody>
      </p:sp>
      <p:sp>
        <p:nvSpPr>
          <p:cNvPr id="4" name="TextBox 5">
            <a:extLst>
              <a:ext uri="{FF2B5EF4-FFF2-40B4-BE49-F238E27FC236}">
                <a16:creationId xmlns:a16="http://schemas.microsoft.com/office/drawing/2014/main" id="{01BC0F21-CB1F-CA94-7FBF-8BF858E072D2}"/>
              </a:ext>
            </a:extLst>
          </p:cNvPr>
          <p:cNvSpPr txBox="1"/>
          <p:nvPr/>
        </p:nvSpPr>
        <p:spPr>
          <a:xfrm>
            <a:off x="460942" y="1277479"/>
            <a:ext cx="10778397" cy="5308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39"/>
              </a:lnSpc>
            </a:pPr>
            <a:r>
              <a:rPr lang="en-US" sz="3200" dirty="0">
                <a:solidFill>
                  <a:srgbClr val="C3FA75"/>
                </a:solidFill>
                <a:latin typeface="DM Sans 1"/>
                <a:ea typeface="DM Sans 1"/>
                <a:cs typeface="DM Sans 1"/>
                <a:sym typeface="DM Sans 1"/>
              </a:rPr>
              <a:t>CAROLINA ZAMBELLI KAMADA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47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/>
          <p:cNvSpPr txBox="1"/>
          <p:nvPr/>
        </p:nvSpPr>
        <p:spPr>
          <a:xfrm>
            <a:off x="460592" y="297383"/>
            <a:ext cx="17350987" cy="6851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599"/>
              </a:lnSpc>
            </a:pPr>
            <a:r>
              <a:rPr lang="en-US" sz="3999" b="1" dirty="0" err="1">
                <a:solidFill>
                  <a:srgbClr val="084734"/>
                </a:solidFill>
                <a:latin typeface="DM Sans 1 Light" panose="020B0604020202020204" charset="0"/>
                <a:sym typeface="DM Sans 1 Medium"/>
              </a:rPr>
              <a:t>Conteúdo</a:t>
            </a:r>
            <a:r>
              <a:rPr lang="en-US" sz="3999" b="1" dirty="0">
                <a:solidFill>
                  <a:srgbClr val="084734"/>
                </a:solidFill>
                <a:latin typeface="DM Sans 1 Light" panose="020B0604020202020204" charset="0"/>
                <a:sym typeface="DM Sans 1 Medium"/>
              </a:rPr>
              <a:t> da Aula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7907000" y="9762665"/>
            <a:ext cx="152397" cy="42819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 dirty="0">
                <a:solidFill>
                  <a:srgbClr val="C3FA75"/>
                </a:solidFill>
                <a:latin typeface="DM Sans 1"/>
                <a:ea typeface="DM Sans 1"/>
                <a:cs typeface="DM Sans 1"/>
                <a:sym typeface="DM Sans 1"/>
              </a:rPr>
              <a:t>3</a:t>
            </a:r>
          </a:p>
        </p:txBody>
      </p:sp>
      <p:sp>
        <p:nvSpPr>
          <p:cNvPr id="10" name="Espaço Reservado para Rodapé 9">
            <a:extLst>
              <a:ext uri="{FF2B5EF4-FFF2-40B4-BE49-F238E27FC236}">
                <a16:creationId xmlns:a16="http://schemas.microsoft.com/office/drawing/2014/main" id="{BE38ED6C-6946-4059-A50E-C512643AAC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FIA LABDATA . Copyright all rights reserved.</a:t>
            </a:r>
            <a:endParaRPr lang="pt-BR" dirty="0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7579CDC3-DFC7-438B-A9AC-D9B60F1AD44D}"/>
              </a:ext>
            </a:extLst>
          </p:cNvPr>
          <p:cNvSpPr/>
          <p:nvPr/>
        </p:nvSpPr>
        <p:spPr>
          <a:xfrm>
            <a:off x="460592" y="1792430"/>
            <a:ext cx="11726128" cy="40318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Clr>
                <a:srgbClr val="FFFFFF"/>
              </a:buClr>
              <a:buSzPct val="100000"/>
            </a:pPr>
            <a:endParaRPr lang="pt-BR" sz="3200" dirty="0">
              <a:solidFill>
                <a:srgbClr val="FFFFFF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514350" indent="-514350">
              <a:buClr>
                <a:srgbClr val="FFFFFF"/>
              </a:buClr>
              <a:buSzPct val="100000"/>
              <a:buFont typeface="+mj-lt"/>
              <a:buAutoNum type="arabicPeriod"/>
            </a:pPr>
            <a:r>
              <a:rPr lang="pt-BR" sz="3200" dirty="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"/>
              </a:rPr>
              <a:t>Introdução</a:t>
            </a:r>
          </a:p>
          <a:p>
            <a:pPr marL="514350" indent="-514350">
              <a:buClr>
                <a:srgbClr val="FFFFFF"/>
              </a:buClr>
              <a:buSzPct val="100000"/>
              <a:buFont typeface="+mj-lt"/>
              <a:buAutoNum type="arabicPeriod"/>
            </a:pPr>
            <a:endParaRPr lang="pt-BR" sz="3200" dirty="0">
              <a:solidFill>
                <a:srgbClr val="FFFFFF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Open Sans"/>
            </a:endParaRPr>
          </a:p>
          <a:p>
            <a:pPr marL="514350" indent="-514350">
              <a:buClr>
                <a:srgbClr val="FFFFFF"/>
              </a:buClr>
              <a:buSzPct val="100000"/>
              <a:buFont typeface="+mj-lt"/>
              <a:buAutoNum type="arabicPeriod"/>
            </a:pPr>
            <a:r>
              <a:rPr lang="pt-BR" sz="3200" dirty="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"/>
              </a:rPr>
              <a:t>Arquitetura Kafka</a:t>
            </a:r>
          </a:p>
          <a:p>
            <a:pPr marL="857250" lvl="1" indent="-514350">
              <a:buSzPct val="100000"/>
              <a:buFont typeface="+mj-lt"/>
              <a:buAutoNum type="arabicPeriod"/>
            </a:pPr>
            <a:endParaRPr lang="pt-BR" sz="3200" dirty="0">
              <a:solidFill>
                <a:srgbClr val="FFFFFF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Open Sans"/>
            </a:endParaRPr>
          </a:p>
          <a:p>
            <a:pPr marL="514350" indent="-514350">
              <a:buClr>
                <a:srgbClr val="FFFFFF"/>
              </a:buClr>
              <a:buSzPct val="100000"/>
              <a:buFont typeface="+mj-lt"/>
              <a:buAutoNum type="arabicPeriod"/>
            </a:pPr>
            <a:r>
              <a:rPr lang="pt-BR" sz="3200" dirty="0" err="1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"/>
              </a:rPr>
              <a:t>HandsOn</a:t>
            </a:r>
            <a:endParaRPr lang="pt-BR" sz="3200" dirty="0">
              <a:solidFill>
                <a:srgbClr val="FFFFFF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Open Sans"/>
            </a:endParaRPr>
          </a:p>
          <a:p>
            <a:pPr marL="857250" lvl="1" indent="-514350">
              <a:buClr>
                <a:srgbClr val="FFFFFF"/>
              </a:buClr>
              <a:buSzPct val="100000"/>
              <a:buFont typeface="+mj-lt"/>
              <a:buAutoNum type="arabicPeriod"/>
            </a:pPr>
            <a:endParaRPr lang="pt-BR" sz="3200" dirty="0">
              <a:solidFill>
                <a:srgbClr val="FFFFFF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Open Sans"/>
            </a:endParaRPr>
          </a:p>
          <a:p>
            <a:pPr marL="514350" indent="-514350">
              <a:buClr>
                <a:srgbClr val="FFFFFF"/>
              </a:buClr>
              <a:buSzPct val="100000"/>
              <a:buFont typeface="+mj-lt"/>
              <a:buAutoNum type="arabicPeriod"/>
            </a:pPr>
            <a:r>
              <a:rPr lang="pt-BR" sz="3200" dirty="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"/>
              </a:rPr>
              <a:t>Referências Bibliográficas</a:t>
            </a:r>
            <a:endParaRPr lang="pt-BR" sz="3200" dirty="0">
              <a:solidFill>
                <a:srgbClr val="FFFFFF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801966" y="0"/>
            <a:ext cx="10616660" cy="10287000"/>
            <a:chOff x="0" y="0"/>
            <a:chExt cx="14155547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4155547" cy="13716000"/>
            </a:xfrm>
            <a:custGeom>
              <a:avLst/>
              <a:gdLst/>
              <a:ahLst/>
              <a:cxnLst/>
              <a:rect l="l" t="t" r="r" b="b"/>
              <a:pathLst>
                <a:path w="14155547" h="13716000">
                  <a:moveTo>
                    <a:pt x="0" y="0"/>
                  </a:moveTo>
                  <a:lnTo>
                    <a:pt x="14155547" y="0"/>
                  </a:lnTo>
                  <a:lnTo>
                    <a:pt x="14155547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C4735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7801966" cy="10287000"/>
            <a:chOff x="0" y="0"/>
            <a:chExt cx="10402621" cy="13716000"/>
          </a:xfrm>
        </p:grpSpPr>
        <p:sp>
          <p:nvSpPr>
            <p:cNvPr id="5" name="Freeform 5" descr="Gráfico, Histograma  O conteúdo gerado por IA pode estar incorreto."/>
            <p:cNvSpPr/>
            <p:nvPr/>
          </p:nvSpPr>
          <p:spPr>
            <a:xfrm>
              <a:off x="0" y="0"/>
              <a:ext cx="10402570" cy="13716000"/>
            </a:xfrm>
            <a:custGeom>
              <a:avLst/>
              <a:gdLst/>
              <a:ahLst/>
              <a:cxnLst/>
              <a:rect l="l" t="t" r="r" b="b"/>
              <a:pathLst>
                <a:path w="10402570" h="13716000">
                  <a:moveTo>
                    <a:pt x="0" y="0"/>
                  </a:moveTo>
                  <a:lnTo>
                    <a:pt x="10402570" y="0"/>
                  </a:lnTo>
                  <a:lnTo>
                    <a:pt x="1040257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7844478" y="9781271"/>
            <a:ext cx="193964" cy="428194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 dirty="0">
                <a:solidFill>
                  <a:srgbClr val="C3FA75"/>
                </a:solidFill>
                <a:latin typeface="DM Sans 1"/>
                <a:ea typeface="DM Sans 1"/>
                <a:cs typeface="DM Sans 1"/>
                <a:sym typeface="DM Sans 1"/>
              </a:rPr>
              <a:t>4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369903" y="3320634"/>
            <a:ext cx="7424690" cy="11989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799"/>
              </a:lnSpc>
              <a:spcBef>
                <a:spcPct val="0"/>
              </a:spcBef>
            </a:pPr>
            <a:r>
              <a:rPr lang="en-US" sz="6999" dirty="0" err="1">
                <a:solidFill>
                  <a:srgbClr val="C3FA75"/>
                </a:solidFill>
                <a:latin typeface="DM Sans 1 Light"/>
                <a:ea typeface="DM Sans 1 Light"/>
                <a:cs typeface="DM Sans 1 Light"/>
                <a:sym typeface="DM Sans 1 Light"/>
              </a:rPr>
              <a:t>Introdução</a:t>
            </a:r>
            <a:endParaRPr lang="en-US" sz="6999" dirty="0">
              <a:solidFill>
                <a:srgbClr val="C3FA75"/>
              </a:solidFill>
              <a:latin typeface="DM Sans 1 Light"/>
              <a:ea typeface="DM Sans 1 Light"/>
              <a:cs typeface="DM Sans 1 Light"/>
              <a:sym typeface="DM Sans 1 Ligh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40375F-9595-2EA5-8DF3-1934AC0249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>
            <a:extLst>
              <a:ext uri="{FF2B5EF4-FFF2-40B4-BE49-F238E27FC236}">
                <a16:creationId xmlns:a16="http://schemas.microsoft.com/office/drawing/2014/main" id="{75FAA307-8B4E-9E09-B7DD-AD04B7832F51}"/>
              </a:ext>
            </a:extLst>
          </p:cNvPr>
          <p:cNvSpPr txBox="1"/>
          <p:nvPr/>
        </p:nvSpPr>
        <p:spPr>
          <a:xfrm>
            <a:off x="468506" y="495300"/>
            <a:ext cx="17350987" cy="307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pt-BR" sz="2000" b="1" dirty="0">
                <a:solidFill>
                  <a:srgbClr val="084734"/>
                </a:solidFill>
                <a:latin typeface="DM Sans"/>
              </a:rPr>
              <a:t>KAFKA | 2.  INTRODUÇÃO | ORIGEM E MOTIVAÇÃO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43B15D04-DDAE-9809-8E55-82E843142B36}"/>
              </a:ext>
            </a:extLst>
          </p:cNvPr>
          <p:cNvSpPr txBox="1"/>
          <p:nvPr/>
        </p:nvSpPr>
        <p:spPr>
          <a:xfrm>
            <a:off x="17872078" y="9762665"/>
            <a:ext cx="195567" cy="428194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 dirty="0">
                <a:solidFill>
                  <a:srgbClr val="C3FA75"/>
                </a:solidFill>
                <a:latin typeface="DM Sans 1"/>
                <a:ea typeface="DM Sans 1"/>
                <a:cs typeface="DM Sans 1"/>
                <a:sym typeface="DM Sans 1"/>
              </a:rPr>
              <a:t>5</a:t>
            </a:r>
          </a:p>
        </p:txBody>
      </p:sp>
      <p:sp>
        <p:nvSpPr>
          <p:cNvPr id="10" name="Espaço Reservado para Rodapé 9">
            <a:extLst>
              <a:ext uri="{FF2B5EF4-FFF2-40B4-BE49-F238E27FC236}">
                <a16:creationId xmlns:a16="http://schemas.microsoft.com/office/drawing/2014/main" id="{AEA16E72-17C9-3A24-F884-8BE5503E4C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14600" y="9739311"/>
            <a:ext cx="15796727" cy="536025"/>
          </a:xfrm>
        </p:spPr>
        <p:txBody>
          <a:bodyPr/>
          <a:lstStyle/>
          <a:p>
            <a:r>
              <a:rPr lang="en-US" dirty="0"/>
              <a:t>FIA LABDATA . Copyright all rights reserved.</a:t>
            </a:r>
            <a:endParaRPr lang="pt-BR" dirty="0"/>
          </a:p>
        </p:txBody>
      </p:sp>
      <p:sp>
        <p:nvSpPr>
          <p:cNvPr id="11" name="object 3">
            <a:extLst>
              <a:ext uri="{FF2B5EF4-FFF2-40B4-BE49-F238E27FC236}">
                <a16:creationId xmlns:a16="http://schemas.microsoft.com/office/drawing/2014/main" id="{4FBEEFC6-4645-BBE2-5C2B-0A057EEC78E9}"/>
              </a:ext>
            </a:extLst>
          </p:cNvPr>
          <p:cNvSpPr txBox="1">
            <a:spLocks/>
          </p:cNvSpPr>
          <p:nvPr/>
        </p:nvSpPr>
        <p:spPr>
          <a:xfrm>
            <a:off x="1484828" y="2169850"/>
            <a:ext cx="7529172" cy="320876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>
            <a:lvl1pPr marL="0">
              <a:defRPr>
                <a:latin typeface="+mn-lt"/>
                <a:ea typeface="+mn-ea"/>
                <a:cs typeface="+mn-c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marL="12700" marR="182880" indent="39370" algn="just">
              <a:lnSpc>
                <a:spcPct val="150000"/>
              </a:lnSpc>
              <a:spcBef>
                <a:spcPts val="105"/>
              </a:spcBef>
            </a:pPr>
            <a:r>
              <a:rPr lang="pt-BR" sz="2000" dirty="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É</a:t>
            </a:r>
            <a:r>
              <a:rPr lang="pt-BR" sz="2000" spc="-20" dirty="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pt-BR" sz="2000" dirty="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um</a:t>
            </a:r>
            <a:r>
              <a:rPr lang="pt-BR" sz="2000" spc="-35" dirty="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pt-BR" sz="2000" dirty="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sistema</a:t>
            </a:r>
            <a:r>
              <a:rPr lang="pt-BR" sz="2000" spc="-35" dirty="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pt-BR" sz="2000" dirty="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distribuído</a:t>
            </a:r>
            <a:r>
              <a:rPr lang="pt-BR" sz="2000" spc="-40" dirty="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pt-BR" sz="2000" dirty="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escalável</a:t>
            </a:r>
            <a:r>
              <a:rPr lang="pt-BR" sz="2000" spc="-55" dirty="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pt-BR" sz="2000" dirty="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</a:t>
            </a:r>
            <a:r>
              <a:rPr lang="pt-BR" sz="2000" spc="-15" dirty="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pt-BR" sz="2000" dirty="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durável</a:t>
            </a:r>
            <a:r>
              <a:rPr lang="pt-BR" sz="2000" spc="-55" dirty="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pt-BR" sz="2000" dirty="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que</a:t>
            </a:r>
            <a:r>
              <a:rPr lang="pt-BR" sz="2000" spc="-40" dirty="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pt-BR" sz="2000" dirty="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recebe</a:t>
            </a:r>
            <a:r>
              <a:rPr lang="pt-BR" sz="2000" spc="-35" dirty="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pt-BR" sz="2000" spc="-50" dirty="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 </a:t>
            </a:r>
            <a:r>
              <a:rPr lang="pt-BR" sz="2000" dirty="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disponibiliza</a:t>
            </a:r>
            <a:r>
              <a:rPr lang="pt-BR" sz="2000" spc="-40" dirty="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pt-BR" sz="2000" dirty="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mensagens</a:t>
            </a:r>
            <a:r>
              <a:rPr lang="pt-BR" sz="2000" spc="-90" dirty="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pt-BR" sz="2000" dirty="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para</a:t>
            </a:r>
            <a:r>
              <a:rPr lang="pt-BR" sz="2000" spc="-50" dirty="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pt-BR" sz="2000" dirty="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múltiplos</a:t>
            </a:r>
            <a:r>
              <a:rPr lang="pt-BR" sz="2000" spc="-30" dirty="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pt-BR" sz="2000" dirty="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produtores</a:t>
            </a:r>
            <a:r>
              <a:rPr lang="pt-BR" sz="2000" spc="-90" dirty="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pt-BR" sz="2000" spc="-50" dirty="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 </a:t>
            </a:r>
            <a:r>
              <a:rPr lang="pt-BR" sz="2000" spc="-10" dirty="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consumidores</a:t>
            </a:r>
            <a:r>
              <a:rPr lang="pt-BR" sz="2000" spc="-45" dirty="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pt-BR" sz="2000" dirty="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em tempo real</a:t>
            </a:r>
            <a:r>
              <a:rPr lang="pt-BR" sz="2000" spc="5" dirty="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pt-BR" sz="2000" dirty="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(real-</a:t>
            </a:r>
            <a:r>
              <a:rPr lang="pt-BR" sz="2000" spc="-10" dirty="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time).</a:t>
            </a:r>
          </a:p>
          <a:p>
            <a:pPr marL="12700" marR="182880" indent="39370" algn="just">
              <a:lnSpc>
                <a:spcPct val="150000"/>
              </a:lnSpc>
              <a:spcBef>
                <a:spcPts val="105"/>
              </a:spcBef>
            </a:pPr>
            <a:endParaRPr lang="pt-BR" sz="2000" spc="-10" dirty="0">
              <a:solidFill>
                <a:srgbClr val="FFFFFF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12700" marR="5080" algn="just">
              <a:lnSpc>
                <a:spcPct val="150000"/>
              </a:lnSpc>
            </a:pPr>
            <a:r>
              <a:rPr lang="pt-BR" sz="2000" dirty="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O</a:t>
            </a:r>
            <a:r>
              <a:rPr lang="pt-BR" sz="2000" spc="-5" dirty="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pt-BR" sz="2000" dirty="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Linkedin</a:t>
            </a:r>
            <a:r>
              <a:rPr lang="pt-BR" sz="2000" spc="-20" dirty="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pt-BR" sz="2000" dirty="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iniciou o</a:t>
            </a:r>
            <a:r>
              <a:rPr lang="pt-BR" sz="2000" spc="5" dirty="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pt-BR" sz="2000" dirty="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seu</a:t>
            </a:r>
            <a:r>
              <a:rPr lang="pt-BR" sz="2000" spc="-25" dirty="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pt-BR" sz="2000" spc="-10" dirty="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desenvolvimento</a:t>
            </a:r>
            <a:r>
              <a:rPr lang="pt-BR" sz="2000" spc="-75" dirty="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pt-BR" sz="2000" dirty="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em</a:t>
            </a:r>
            <a:r>
              <a:rPr lang="pt-BR" sz="2000" spc="-15" dirty="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pt-BR" sz="2000" dirty="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2009.</a:t>
            </a:r>
            <a:r>
              <a:rPr lang="pt-BR" sz="2000" spc="-55" dirty="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pt-BR" sz="2000" dirty="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Em</a:t>
            </a:r>
            <a:r>
              <a:rPr lang="pt-BR" sz="2000" spc="10" dirty="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pt-BR" sz="2000" spc="-10" dirty="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2012, </a:t>
            </a:r>
            <a:r>
              <a:rPr lang="pt-BR" sz="2000" dirty="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se</a:t>
            </a:r>
            <a:r>
              <a:rPr lang="pt-BR" sz="2000" spc="-10" dirty="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pt-BR" sz="2000" dirty="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tornou</a:t>
            </a:r>
            <a:r>
              <a:rPr lang="pt-BR" sz="2000" spc="-55" dirty="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pt-BR" sz="2000" dirty="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o</a:t>
            </a:r>
            <a:r>
              <a:rPr lang="pt-BR" sz="2000" spc="-10" dirty="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pt-BR" sz="2000" dirty="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projeto</a:t>
            </a:r>
            <a:r>
              <a:rPr lang="pt-BR" sz="2000" spc="-30" dirty="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pt-BR" sz="2000" dirty="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Apache</a:t>
            </a:r>
            <a:r>
              <a:rPr lang="pt-BR" sz="2000" spc="-60" dirty="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pt-BR" sz="2000" dirty="0" err="1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Incubator</a:t>
            </a:r>
            <a:r>
              <a:rPr lang="pt-BR" sz="2000" dirty="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</a:t>
            </a:r>
            <a:r>
              <a:rPr lang="pt-BR" sz="2000" spc="-60" dirty="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pt-BR" sz="2000" dirty="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Em</a:t>
            </a:r>
            <a:r>
              <a:rPr lang="pt-BR" sz="2000" spc="-25" dirty="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pt-BR" sz="2000" dirty="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2014</a:t>
            </a:r>
            <a:r>
              <a:rPr lang="pt-BR" sz="2000" spc="-60" dirty="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pt-BR" sz="2000" dirty="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Linkedin</a:t>
            </a:r>
            <a:r>
              <a:rPr lang="pt-BR" sz="2000" spc="-30" dirty="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pt-BR" sz="2000" spc="-10" dirty="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criou </a:t>
            </a:r>
            <a:r>
              <a:rPr lang="pt-BR" sz="2000" dirty="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um</a:t>
            </a:r>
            <a:r>
              <a:rPr lang="pt-BR" sz="2000" spc="-20" dirty="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pt-BR" sz="2000" dirty="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nova</a:t>
            </a:r>
            <a:r>
              <a:rPr lang="pt-BR" sz="2000" spc="-25" dirty="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pt-BR" sz="2000" dirty="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empresa</a:t>
            </a:r>
            <a:r>
              <a:rPr lang="pt-BR" sz="2000" spc="-25" dirty="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pt-BR" sz="2000" dirty="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chamada</a:t>
            </a:r>
            <a:r>
              <a:rPr lang="pt-BR" sz="2000" spc="-50" dirty="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pt-BR" sz="2000" dirty="0" err="1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Confluent</a:t>
            </a:r>
            <a:r>
              <a:rPr lang="pt-BR" sz="2000" spc="-80" dirty="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pt-BR" sz="2000" dirty="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para</a:t>
            </a:r>
            <a:r>
              <a:rPr lang="pt-BR" sz="2000" spc="-25" dirty="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pt-BR" sz="2000" dirty="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alavancar</a:t>
            </a:r>
            <a:r>
              <a:rPr lang="pt-BR" sz="2000" spc="-65" dirty="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pt-BR" sz="2000" spc="-50" dirty="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o </a:t>
            </a:r>
            <a:r>
              <a:rPr lang="pt-BR" sz="2000" dirty="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projeto.</a:t>
            </a:r>
            <a:r>
              <a:rPr lang="pt-BR" sz="2000" spc="-40" dirty="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endParaRPr lang="pt-BR" sz="2000" spc="-10" dirty="0">
              <a:solidFill>
                <a:srgbClr val="FFFFFF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001" name="TextBox 1001"/>
          <p:cNvSpPr txBox="1"/>
          <p:nvPr/>
        </p:nvSpPr>
        <p:spPr>
          <a:xfrm>
            <a:off x="4479200" y="6255467"/>
            <a:ext cx="8850729" cy="4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pt-BR" sz="1300" b="1" dirty="0">
                <a:solidFill>
                  <a:srgbClr val="C3FA75"/>
                </a:solidFill>
                <a:latin typeface="Open Sans"/>
                <a:cs typeface="Open Sans"/>
              </a:rPr>
              <a:t>Empresas que usam Kafka em produção</a:t>
            </a:r>
          </a:p>
        </p:txBody>
      </p:sp>
      <p:sp>
        <p:nvSpPr>
          <p:cNvPr id="1002" name="Badge0 1002"/>
          <p:cNvSpPr/>
          <p:nvPr/>
        </p:nvSpPr>
        <p:spPr>
          <a:xfrm>
            <a:off x="4479200" y="6805467"/>
            <a:ext cx="2050000" cy="620000"/>
          </a:xfrm>
          <a:prstGeom prst="roundRect">
            <a:avLst>
              <a:gd name="adj" fmla="val 15"/>
            </a:avLst>
          </a:prstGeom>
          <a:solidFill>
            <a:srgbClr val="0E5B41"/>
          </a:solidFill>
          <a:ln w="6350">
            <a:solidFill>
              <a:srgbClr val="C3FA75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1003" name="TextBox 1003"/>
          <p:cNvSpPr txBox="1"/>
          <p:nvPr/>
        </p:nvSpPr>
        <p:spPr>
          <a:xfrm>
            <a:off x="4479200" y="6805467"/>
            <a:ext cx="2050000" cy="620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pt-BR" sz="1200" b="1" dirty="0">
                <a:solidFill>
                  <a:srgbClr val="FFFFFF"/>
                </a:solidFill>
                <a:latin typeface="Open Sans"/>
                <a:cs typeface="Open Sans"/>
              </a:rPr>
              <a:t>LinkedIn</a:t>
            </a:r>
          </a:p>
        </p:txBody>
      </p:sp>
      <p:sp>
        <p:nvSpPr>
          <p:cNvPr id="1004" name="Badge1 1004"/>
          <p:cNvSpPr/>
          <p:nvPr/>
        </p:nvSpPr>
        <p:spPr>
          <a:xfrm>
            <a:off x="6659200" y="6805467"/>
            <a:ext cx="2050000" cy="620000"/>
          </a:xfrm>
          <a:prstGeom prst="roundRect">
            <a:avLst>
              <a:gd name="adj" fmla="val 15"/>
            </a:avLst>
          </a:prstGeom>
          <a:solidFill>
            <a:srgbClr val="0E5B41"/>
          </a:solidFill>
          <a:ln w="6350">
            <a:solidFill>
              <a:srgbClr val="C3FA75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1005" name="TextBox 1005"/>
          <p:cNvSpPr txBox="1"/>
          <p:nvPr/>
        </p:nvSpPr>
        <p:spPr>
          <a:xfrm>
            <a:off x="6659200" y="6805467"/>
            <a:ext cx="2050000" cy="620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pt-BR" sz="1200" b="1" dirty="0">
                <a:solidFill>
                  <a:srgbClr val="FFFFFF"/>
                </a:solidFill>
                <a:latin typeface="Open Sans"/>
                <a:cs typeface="Open Sans"/>
              </a:rPr>
              <a:t>Netflix</a:t>
            </a:r>
          </a:p>
        </p:txBody>
      </p:sp>
      <p:sp>
        <p:nvSpPr>
          <p:cNvPr id="1006" name="Badge2 1006"/>
          <p:cNvSpPr/>
          <p:nvPr/>
        </p:nvSpPr>
        <p:spPr>
          <a:xfrm>
            <a:off x="8839200" y="6805467"/>
            <a:ext cx="2050000" cy="620000"/>
          </a:xfrm>
          <a:prstGeom prst="roundRect">
            <a:avLst>
              <a:gd name="adj" fmla="val 15"/>
            </a:avLst>
          </a:prstGeom>
          <a:solidFill>
            <a:srgbClr val="0E5B41"/>
          </a:solidFill>
          <a:ln w="6350">
            <a:solidFill>
              <a:srgbClr val="C3FA75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1007" name="TextBox 1007"/>
          <p:cNvSpPr txBox="1"/>
          <p:nvPr/>
        </p:nvSpPr>
        <p:spPr>
          <a:xfrm>
            <a:off x="8839200" y="6805467"/>
            <a:ext cx="2050000" cy="620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pt-BR" sz="1200" b="1" dirty="0">
                <a:solidFill>
                  <a:srgbClr val="FFFFFF"/>
                </a:solidFill>
                <a:latin typeface="Open Sans"/>
                <a:cs typeface="Open Sans"/>
              </a:rPr>
              <a:t>Uber</a:t>
            </a:r>
          </a:p>
        </p:txBody>
      </p:sp>
      <p:sp>
        <p:nvSpPr>
          <p:cNvPr id="1008" name="Badge3 1008"/>
          <p:cNvSpPr/>
          <p:nvPr/>
        </p:nvSpPr>
        <p:spPr>
          <a:xfrm>
            <a:off x="11019200" y="6805467"/>
            <a:ext cx="2050000" cy="620000"/>
          </a:xfrm>
          <a:prstGeom prst="roundRect">
            <a:avLst>
              <a:gd name="adj" fmla="val 15"/>
            </a:avLst>
          </a:prstGeom>
          <a:solidFill>
            <a:srgbClr val="0E5B41"/>
          </a:solidFill>
          <a:ln w="6350">
            <a:solidFill>
              <a:srgbClr val="C3FA75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1009" name="TextBox 1009"/>
          <p:cNvSpPr txBox="1"/>
          <p:nvPr/>
        </p:nvSpPr>
        <p:spPr>
          <a:xfrm>
            <a:off x="11019200" y="6805467"/>
            <a:ext cx="2050000" cy="620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pt-BR" sz="1200" b="1" dirty="0">
                <a:solidFill>
                  <a:srgbClr val="FFFFFF"/>
                </a:solidFill>
                <a:latin typeface="Open Sans"/>
                <a:cs typeface="Open Sans"/>
              </a:rPr>
              <a:t>Airbnb</a:t>
            </a:r>
          </a:p>
        </p:txBody>
      </p:sp>
      <p:sp>
        <p:nvSpPr>
          <p:cNvPr id="1010" name="Badge4 1010"/>
          <p:cNvSpPr/>
          <p:nvPr/>
        </p:nvSpPr>
        <p:spPr>
          <a:xfrm>
            <a:off x="4479200" y="7585467"/>
            <a:ext cx="2050000" cy="620000"/>
          </a:xfrm>
          <a:prstGeom prst="roundRect">
            <a:avLst>
              <a:gd name="adj" fmla="val 15"/>
            </a:avLst>
          </a:prstGeom>
          <a:solidFill>
            <a:srgbClr val="0E5B41"/>
          </a:solidFill>
          <a:ln w="6350">
            <a:solidFill>
              <a:srgbClr val="C3FA75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1011" name="TextBox 1011"/>
          <p:cNvSpPr txBox="1"/>
          <p:nvPr/>
        </p:nvSpPr>
        <p:spPr>
          <a:xfrm>
            <a:off x="4479200" y="7585467"/>
            <a:ext cx="2050000" cy="620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pt-BR" sz="1200" b="1" dirty="0">
                <a:solidFill>
                  <a:srgbClr val="FFFFFF"/>
                </a:solidFill>
                <a:latin typeface="Open Sans"/>
                <a:cs typeface="Open Sans"/>
              </a:rPr>
              <a:t>Spotify</a:t>
            </a:r>
          </a:p>
        </p:txBody>
      </p:sp>
      <p:sp>
        <p:nvSpPr>
          <p:cNvPr id="1012" name="Badge5 1012"/>
          <p:cNvSpPr/>
          <p:nvPr/>
        </p:nvSpPr>
        <p:spPr>
          <a:xfrm>
            <a:off x="6659200" y="7585467"/>
            <a:ext cx="2050000" cy="620000"/>
          </a:xfrm>
          <a:prstGeom prst="roundRect">
            <a:avLst>
              <a:gd name="adj" fmla="val 15"/>
            </a:avLst>
          </a:prstGeom>
          <a:solidFill>
            <a:srgbClr val="0E5B41"/>
          </a:solidFill>
          <a:ln w="6350">
            <a:solidFill>
              <a:srgbClr val="C3FA75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1013" name="TextBox 1013"/>
          <p:cNvSpPr txBox="1"/>
          <p:nvPr/>
        </p:nvSpPr>
        <p:spPr>
          <a:xfrm>
            <a:off x="6659200" y="7585467"/>
            <a:ext cx="2050000" cy="620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pt-BR" sz="1200" b="1" dirty="0">
                <a:solidFill>
                  <a:srgbClr val="FFFFFF"/>
                </a:solidFill>
                <a:latin typeface="Open Sans"/>
                <a:cs typeface="Open Sans"/>
              </a:rPr>
              <a:t>Microsoft</a:t>
            </a:r>
          </a:p>
        </p:txBody>
      </p:sp>
      <p:sp>
        <p:nvSpPr>
          <p:cNvPr id="1014" name="Badge6 1014"/>
          <p:cNvSpPr/>
          <p:nvPr/>
        </p:nvSpPr>
        <p:spPr>
          <a:xfrm>
            <a:off x="8839200" y="7585467"/>
            <a:ext cx="2050000" cy="620000"/>
          </a:xfrm>
          <a:prstGeom prst="roundRect">
            <a:avLst>
              <a:gd name="adj" fmla="val 15"/>
            </a:avLst>
          </a:prstGeom>
          <a:solidFill>
            <a:srgbClr val="0E5B41"/>
          </a:solidFill>
          <a:ln w="6350">
            <a:solidFill>
              <a:srgbClr val="C3FA75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1015" name="TextBox 1015"/>
          <p:cNvSpPr txBox="1"/>
          <p:nvPr/>
        </p:nvSpPr>
        <p:spPr>
          <a:xfrm>
            <a:off x="8839200" y="7585467"/>
            <a:ext cx="2050000" cy="620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pt-BR" sz="1200" b="1" dirty="0">
                <a:solidFill>
                  <a:srgbClr val="FFFFFF"/>
                </a:solidFill>
                <a:latin typeface="Open Sans"/>
                <a:cs typeface="Open Sans"/>
              </a:rPr>
              <a:t>The New York Times</a:t>
            </a:r>
          </a:p>
        </p:txBody>
      </p:sp>
      <p:sp>
        <p:nvSpPr>
          <p:cNvPr id="1016" name="Badge7 1016"/>
          <p:cNvSpPr/>
          <p:nvPr/>
        </p:nvSpPr>
        <p:spPr>
          <a:xfrm>
            <a:off x="11019200" y="7585467"/>
            <a:ext cx="2050000" cy="620000"/>
          </a:xfrm>
          <a:prstGeom prst="roundRect">
            <a:avLst>
              <a:gd name="adj" fmla="val 15"/>
            </a:avLst>
          </a:prstGeom>
          <a:solidFill>
            <a:srgbClr val="0E5B41"/>
          </a:solidFill>
          <a:ln w="6350">
            <a:solidFill>
              <a:srgbClr val="C3FA75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1017" name="TextBox 1017"/>
          <p:cNvSpPr txBox="1"/>
          <p:nvPr/>
        </p:nvSpPr>
        <p:spPr>
          <a:xfrm>
            <a:off x="11019200" y="7585467"/>
            <a:ext cx="2050000" cy="620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pt-BR" sz="1200" b="1" dirty="0">
                <a:solidFill>
                  <a:srgbClr val="FFFFFF"/>
                </a:solidFill>
                <a:latin typeface="Open Sans"/>
                <a:cs typeface="Open Sans"/>
              </a:rPr>
              <a:t>Coursera</a:t>
            </a:r>
          </a:p>
        </p:txBody>
      </p:sp>
      <p:sp>
        <p:nvSpPr>
          <p:cNvPr id="14" name="object 3">
            <a:extLst>
              <a:ext uri="{FF2B5EF4-FFF2-40B4-BE49-F238E27FC236}">
                <a16:creationId xmlns:a16="http://schemas.microsoft.com/office/drawing/2014/main" id="{409907A3-DF15-22AB-8A50-025688AD18E7}"/>
              </a:ext>
            </a:extLst>
          </p:cNvPr>
          <p:cNvSpPr txBox="1">
            <a:spLocks/>
          </p:cNvSpPr>
          <p:nvPr/>
        </p:nvSpPr>
        <p:spPr>
          <a:xfrm>
            <a:off x="9677400" y="2391533"/>
            <a:ext cx="6477000" cy="27342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>
            <a:lvl1pPr marL="0">
              <a:defRPr>
                <a:latin typeface="+mn-lt"/>
                <a:ea typeface="+mn-ea"/>
                <a:cs typeface="+mn-c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marL="12700" marR="307340" algn="just">
              <a:lnSpc>
                <a:spcPct val="150000"/>
              </a:lnSpc>
            </a:pPr>
            <a:r>
              <a:rPr lang="pt-BR" sz="2000" dirty="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O</a:t>
            </a:r>
            <a:r>
              <a:rPr lang="pt-BR" sz="2000" spc="-15" dirty="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pt-BR" sz="2000" dirty="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objetivo</a:t>
            </a:r>
            <a:r>
              <a:rPr lang="pt-BR" sz="2000" spc="-30" dirty="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pt-BR" sz="2000" dirty="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do</a:t>
            </a:r>
            <a:r>
              <a:rPr lang="pt-BR" sz="2000" spc="-30" dirty="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pt-BR" sz="2000" dirty="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Kafka</a:t>
            </a:r>
            <a:r>
              <a:rPr lang="pt-BR" sz="2000" spc="-55" dirty="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pt-BR" sz="2000" dirty="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é</a:t>
            </a:r>
            <a:r>
              <a:rPr lang="pt-BR" sz="2000" spc="-10" dirty="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pt-BR" sz="2000" dirty="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ser</a:t>
            </a:r>
            <a:r>
              <a:rPr lang="pt-BR" sz="2000" spc="-25" dirty="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pt-BR" sz="2000" dirty="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um</a:t>
            </a:r>
            <a:r>
              <a:rPr lang="pt-BR" sz="2000" spc="-25" dirty="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pt-BR" sz="2000" dirty="0" err="1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message</a:t>
            </a:r>
            <a:r>
              <a:rPr lang="pt-BR" sz="2000" spc="-30" dirty="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pt-BR" sz="2000" dirty="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broker</a:t>
            </a:r>
            <a:r>
              <a:rPr lang="pt-BR" sz="2000" spc="-45" dirty="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pt-BR" sz="2000" dirty="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com</a:t>
            </a:r>
            <a:r>
              <a:rPr lang="pt-BR" sz="2000" spc="-30" dirty="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pt-BR" sz="2000" spc="-20" dirty="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alto </a:t>
            </a:r>
            <a:r>
              <a:rPr lang="pt-BR" sz="2000" dirty="0" err="1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throughput</a:t>
            </a:r>
            <a:r>
              <a:rPr lang="pt-BR" sz="2000" dirty="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</a:t>
            </a:r>
            <a:r>
              <a:rPr lang="pt-BR" sz="2000" spc="-85" dirty="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pt-BR" sz="2000" dirty="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confiável</a:t>
            </a:r>
            <a:r>
              <a:rPr lang="pt-BR" sz="2000" spc="-75" dirty="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pt-BR" sz="2000" dirty="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</a:t>
            </a:r>
            <a:r>
              <a:rPr lang="pt-BR" sz="2000" spc="-10" dirty="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pt-BR" sz="2000" dirty="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com</a:t>
            </a:r>
            <a:r>
              <a:rPr lang="pt-BR" sz="2000" spc="-50" dirty="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pt-BR" sz="2000" dirty="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baixa</a:t>
            </a:r>
            <a:r>
              <a:rPr lang="pt-BR" sz="2000" spc="-10" dirty="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pt-BR" sz="2000" dirty="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latência</a:t>
            </a:r>
            <a:r>
              <a:rPr lang="pt-BR" sz="2000" spc="-30" dirty="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pt-BR" sz="2000" dirty="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para</a:t>
            </a:r>
            <a:r>
              <a:rPr lang="pt-BR" sz="2000" spc="-35" dirty="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pt-BR" sz="2000" dirty="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lidar</a:t>
            </a:r>
            <a:r>
              <a:rPr lang="pt-BR" sz="2000" spc="-30" dirty="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pt-BR" sz="2000" spc="-25" dirty="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com </a:t>
            </a:r>
            <a:r>
              <a:rPr lang="pt-BR" sz="2000" dirty="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consumo</a:t>
            </a:r>
            <a:r>
              <a:rPr lang="pt-BR" sz="2000" spc="-55" dirty="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pt-BR" sz="2000" dirty="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de</a:t>
            </a:r>
            <a:r>
              <a:rPr lang="pt-BR" sz="2000" spc="-5" dirty="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pt-BR" sz="2000" dirty="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dados</a:t>
            </a:r>
            <a:r>
              <a:rPr lang="pt-BR" sz="2000" spc="-65" dirty="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pt-BR" sz="2000" dirty="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em</a:t>
            </a:r>
            <a:r>
              <a:rPr lang="pt-BR" sz="2000" spc="5" dirty="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pt-BR" sz="2000" dirty="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real</a:t>
            </a:r>
            <a:r>
              <a:rPr lang="pt-BR" sz="2000" spc="-15" dirty="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pt-BR" sz="2000" spc="-20" dirty="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time. </a:t>
            </a:r>
          </a:p>
          <a:p>
            <a:pPr marL="12700" marR="307340" algn="just">
              <a:lnSpc>
                <a:spcPct val="150000"/>
              </a:lnSpc>
            </a:pPr>
            <a:endParaRPr lang="pt-BR" sz="2000" spc="-20" dirty="0">
              <a:solidFill>
                <a:srgbClr val="FFFFFF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12700" marR="307340" algn="just">
              <a:lnSpc>
                <a:spcPct val="150000"/>
              </a:lnSpc>
            </a:pPr>
            <a:r>
              <a:rPr lang="pt-BR" sz="2000" spc="-20" dirty="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Um cluster Kafka de configuração padrão suporta 2.000.000 msg/ </a:t>
            </a:r>
            <a:r>
              <a:rPr lang="pt-BR" sz="2000" spc="-20" dirty="0" err="1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seg</a:t>
            </a:r>
            <a:endParaRPr lang="pt-BR" sz="2000" spc="-20" dirty="0">
              <a:solidFill>
                <a:srgbClr val="FFFFFF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01940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7EE9F0-890E-8151-E721-827FB178C1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>
            <a:extLst>
              <a:ext uri="{FF2B5EF4-FFF2-40B4-BE49-F238E27FC236}">
                <a16:creationId xmlns:a16="http://schemas.microsoft.com/office/drawing/2014/main" id="{BBB1F523-3A5E-DF42-1E74-5816E9135E02}"/>
              </a:ext>
            </a:extLst>
          </p:cNvPr>
          <p:cNvSpPr txBox="1"/>
          <p:nvPr/>
        </p:nvSpPr>
        <p:spPr>
          <a:xfrm>
            <a:off x="468506" y="495300"/>
            <a:ext cx="17350987" cy="307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pt-BR" sz="2000" b="1" dirty="0">
                <a:solidFill>
                  <a:srgbClr val="084734"/>
                </a:solidFill>
                <a:latin typeface="DM Sans"/>
              </a:rPr>
              <a:t>KAFKA | 2.  INTRODUÇÃO | TIMELINE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4A008E2C-5B02-9A5F-9F80-4DAE25E4B772}"/>
              </a:ext>
            </a:extLst>
          </p:cNvPr>
          <p:cNvSpPr txBox="1"/>
          <p:nvPr/>
        </p:nvSpPr>
        <p:spPr>
          <a:xfrm>
            <a:off x="17868872" y="9762665"/>
            <a:ext cx="201979" cy="428194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 dirty="0">
                <a:solidFill>
                  <a:srgbClr val="C3FA75"/>
                </a:solidFill>
                <a:latin typeface="DM Sans 1"/>
                <a:ea typeface="DM Sans 1"/>
                <a:cs typeface="DM Sans 1"/>
                <a:sym typeface="DM Sans 1"/>
              </a:rPr>
              <a:t>6</a:t>
            </a:r>
          </a:p>
        </p:txBody>
      </p:sp>
      <p:sp>
        <p:nvSpPr>
          <p:cNvPr id="10" name="Espaço Reservado para Rodapé 9">
            <a:extLst>
              <a:ext uri="{FF2B5EF4-FFF2-40B4-BE49-F238E27FC236}">
                <a16:creationId xmlns:a16="http://schemas.microsoft.com/office/drawing/2014/main" id="{7328456F-789E-2849-10A4-60CEBDF742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14600" y="9739311"/>
            <a:ext cx="15796727" cy="536025"/>
          </a:xfrm>
        </p:spPr>
        <p:txBody>
          <a:bodyPr/>
          <a:lstStyle/>
          <a:p>
            <a:r>
              <a:rPr lang="en-US" dirty="0"/>
              <a:t>FIA LABDATA . Copyright all rights reserved.</a:t>
            </a:r>
            <a:endParaRPr lang="pt-BR" dirty="0"/>
          </a:p>
        </p:txBody>
      </p:sp>
      <p:cxnSp>
        <p:nvCxnSpPr>
          <p:cNvPr id="1002" name="Line 1002"/>
          <p:cNvCxnSpPr/>
          <p:nvPr/>
        </p:nvCxnSpPr>
        <p:spPr>
          <a:xfrm>
            <a:off x="1498600" y="5141961"/>
            <a:ext cx="14700000" cy="0"/>
          </a:xfrm>
          <a:prstGeom prst="line">
            <a:avLst/>
          </a:prstGeom>
          <a:ln w="25400">
            <a:solidFill>
              <a:srgbClr val="C3FA75"/>
            </a:solidFill>
          </a:ln>
        </p:spPr>
      </p:cxnSp>
      <p:sp>
        <p:nvSpPr>
          <p:cNvPr id="1003" name="Node0 1003"/>
          <p:cNvSpPr/>
          <p:nvPr/>
        </p:nvSpPr>
        <p:spPr>
          <a:xfrm>
            <a:off x="1368600" y="5011961"/>
            <a:ext cx="260000" cy="260000"/>
          </a:xfrm>
          <a:prstGeom prst="ellipse">
            <a:avLst/>
          </a:prstGeom>
          <a:solidFill>
            <a:srgbClr val="C3FA75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004" name="TextBox 1004"/>
          <p:cNvSpPr txBox="1"/>
          <p:nvPr/>
        </p:nvSpPr>
        <p:spPr>
          <a:xfrm>
            <a:off x="1033600" y="3791961"/>
            <a:ext cx="3100000" cy="5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pt-BR" sz="2200" b="1" dirty="0">
                <a:solidFill>
                  <a:srgbClr val="C3FA75"/>
                </a:solidFill>
                <a:latin typeface="Open Sans"/>
                <a:cs typeface="Open Sans"/>
              </a:rPr>
              <a:t>2009</a:t>
            </a:r>
          </a:p>
        </p:txBody>
      </p:sp>
      <p:sp>
        <p:nvSpPr>
          <p:cNvPr id="1005" name="TextBox 1005"/>
          <p:cNvSpPr txBox="1"/>
          <p:nvPr/>
        </p:nvSpPr>
        <p:spPr>
          <a:xfrm>
            <a:off x="1033600" y="5641961"/>
            <a:ext cx="3100000" cy="16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pt-BR" b="0" dirty="0">
                <a:solidFill>
                  <a:srgbClr val="FFFFFF"/>
                </a:solidFill>
                <a:latin typeface="Open Sans"/>
                <a:cs typeface="Open Sans"/>
              </a:rPr>
              <a:t>LinkedIn inicia o desenvolvimento interno do Kafka</a:t>
            </a:r>
          </a:p>
        </p:txBody>
      </p:sp>
      <p:sp>
        <p:nvSpPr>
          <p:cNvPr id="1006" name="Node1 1006"/>
          <p:cNvSpPr/>
          <p:nvPr/>
        </p:nvSpPr>
        <p:spPr>
          <a:xfrm>
            <a:off x="5043600" y="5011961"/>
            <a:ext cx="260000" cy="260000"/>
          </a:xfrm>
          <a:prstGeom prst="ellipse">
            <a:avLst/>
          </a:prstGeom>
          <a:solidFill>
            <a:srgbClr val="C3FA75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007" name="TextBox 1007"/>
          <p:cNvSpPr txBox="1"/>
          <p:nvPr/>
        </p:nvSpPr>
        <p:spPr>
          <a:xfrm>
            <a:off x="3623600" y="5641961"/>
            <a:ext cx="3100000" cy="5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lang="pt-BR" sz="2200" b="1" dirty="0">
                <a:solidFill>
                  <a:srgbClr val="C3FA75"/>
                </a:solidFill>
                <a:latin typeface="Open Sans"/>
                <a:cs typeface="Open Sans"/>
              </a:rPr>
              <a:t>2011</a:t>
            </a:r>
          </a:p>
        </p:txBody>
      </p:sp>
      <p:sp>
        <p:nvSpPr>
          <p:cNvPr id="1008" name="TextBox 1008"/>
          <p:cNvSpPr txBox="1"/>
          <p:nvPr/>
        </p:nvSpPr>
        <p:spPr>
          <a:xfrm>
            <a:off x="3623600" y="3291961"/>
            <a:ext cx="3100000" cy="16000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ctr"/>
            <a:r>
              <a:rPr lang="pt-BR" b="0" dirty="0">
                <a:solidFill>
                  <a:srgbClr val="FFFFFF"/>
                </a:solidFill>
                <a:latin typeface="Open Sans"/>
                <a:cs typeface="Open Sans"/>
              </a:rPr>
              <a:t>Projeto é aberto como código-fonte livre (open source)</a:t>
            </a:r>
          </a:p>
        </p:txBody>
      </p:sp>
      <p:sp>
        <p:nvSpPr>
          <p:cNvPr id="1009" name="Node2 1009"/>
          <p:cNvSpPr/>
          <p:nvPr/>
        </p:nvSpPr>
        <p:spPr>
          <a:xfrm>
            <a:off x="8718600" y="5011961"/>
            <a:ext cx="260000" cy="260000"/>
          </a:xfrm>
          <a:prstGeom prst="ellipse">
            <a:avLst/>
          </a:prstGeom>
          <a:solidFill>
            <a:srgbClr val="C3FA75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010" name="TextBox 1010"/>
          <p:cNvSpPr txBox="1"/>
          <p:nvPr/>
        </p:nvSpPr>
        <p:spPr>
          <a:xfrm>
            <a:off x="7298600" y="3791961"/>
            <a:ext cx="3100000" cy="5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lang="pt-BR" sz="2200" b="1" dirty="0">
                <a:solidFill>
                  <a:srgbClr val="C3FA75"/>
                </a:solidFill>
                <a:latin typeface="Open Sans"/>
                <a:cs typeface="Open Sans"/>
              </a:rPr>
              <a:t>2012</a:t>
            </a:r>
          </a:p>
        </p:txBody>
      </p:sp>
      <p:sp>
        <p:nvSpPr>
          <p:cNvPr id="1011" name="TextBox 1011"/>
          <p:cNvSpPr txBox="1"/>
          <p:nvPr/>
        </p:nvSpPr>
        <p:spPr>
          <a:xfrm>
            <a:off x="7298600" y="5641961"/>
            <a:ext cx="3100000" cy="16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lang="pt-BR" b="0" dirty="0">
                <a:solidFill>
                  <a:srgbClr val="FFFFFF"/>
                </a:solidFill>
                <a:latin typeface="Open Sans"/>
                <a:cs typeface="Open Sans"/>
              </a:rPr>
              <a:t>Kafka se torna projeto Apache Incubator</a:t>
            </a:r>
          </a:p>
        </p:txBody>
      </p:sp>
      <p:sp>
        <p:nvSpPr>
          <p:cNvPr id="1012" name="Node3 1012"/>
          <p:cNvSpPr/>
          <p:nvPr/>
        </p:nvSpPr>
        <p:spPr>
          <a:xfrm>
            <a:off x="12393600" y="5011961"/>
            <a:ext cx="260000" cy="260000"/>
          </a:xfrm>
          <a:prstGeom prst="ellipse">
            <a:avLst/>
          </a:prstGeom>
          <a:solidFill>
            <a:srgbClr val="C3FA75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013" name="TextBox 1013"/>
          <p:cNvSpPr txBox="1"/>
          <p:nvPr/>
        </p:nvSpPr>
        <p:spPr>
          <a:xfrm>
            <a:off x="10973600" y="5641961"/>
            <a:ext cx="3100000" cy="5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lang="pt-BR" sz="2200" b="1" dirty="0">
                <a:solidFill>
                  <a:srgbClr val="C3FA75"/>
                </a:solidFill>
                <a:latin typeface="Open Sans"/>
                <a:cs typeface="Open Sans"/>
              </a:rPr>
              <a:t>2014</a:t>
            </a:r>
          </a:p>
        </p:txBody>
      </p:sp>
      <p:sp>
        <p:nvSpPr>
          <p:cNvPr id="1014" name="TextBox 1014"/>
          <p:cNvSpPr txBox="1"/>
          <p:nvPr/>
        </p:nvSpPr>
        <p:spPr>
          <a:xfrm>
            <a:off x="10973600" y="3291961"/>
            <a:ext cx="3100000" cy="16000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ctr"/>
            <a:r>
              <a:rPr lang="pt-BR" b="0" dirty="0">
                <a:solidFill>
                  <a:srgbClr val="FFFFFF"/>
                </a:solidFill>
                <a:latin typeface="Open Sans"/>
                <a:cs typeface="Open Sans"/>
              </a:rPr>
              <a:t>LinkedIn cria a Confluent para liderar a evolução do projeto</a:t>
            </a:r>
          </a:p>
        </p:txBody>
      </p:sp>
      <p:sp>
        <p:nvSpPr>
          <p:cNvPr id="1015" name="Node4 1015"/>
          <p:cNvSpPr/>
          <p:nvPr/>
        </p:nvSpPr>
        <p:spPr>
          <a:xfrm>
            <a:off x="16068600" y="5011961"/>
            <a:ext cx="260000" cy="260000"/>
          </a:xfrm>
          <a:prstGeom prst="ellipse">
            <a:avLst/>
          </a:prstGeom>
          <a:solidFill>
            <a:srgbClr val="C3FA75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016" name="TextBox 1016"/>
          <p:cNvSpPr txBox="1"/>
          <p:nvPr/>
        </p:nvSpPr>
        <p:spPr>
          <a:xfrm>
            <a:off x="13563600" y="3791961"/>
            <a:ext cx="3100000" cy="5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pt-BR" sz="2200" b="1" dirty="0">
                <a:solidFill>
                  <a:srgbClr val="C3FA75"/>
                </a:solidFill>
                <a:latin typeface="Open Sans"/>
                <a:cs typeface="Open Sans"/>
              </a:rPr>
              <a:t>Hoje</a:t>
            </a:r>
          </a:p>
        </p:txBody>
      </p:sp>
      <p:sp>
        <p:nvSpPr>
          <p:cNvPr id="1017" name="TextBox 1017"/>
          <p:cNvSpPr txBox="1"/>
          <p:nvPr/>
        </p:nvSpPr>
        <p:spPr>
          <a:xfrm>
            <a:off x="13563600" y="5641961"/>
            <a:ext cx="3100000" cy="16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pt-BR" b="0" dirty="0">
                <a:solidFill>
                  <a:srgbClr val="FFFFFF"/>
                </a:solidFill>
                <a:latin typeface="Open Sans"/>
                <a:cs typeface="Open Sans"/>
              </a:rPr>
              <a:t>Padrão de mercado: usado por 80%+ das empresas Fortune 100</a:t>
            </a:r>
          </a:p>
        </p:txBody>
      </p:sp>
    </p:spTree>
    <p:extLst>
      <p:ext uri="{BB962C8B-B14F-4D97-AF65-F5344CB8AC3E}">
        <p14:creationId xmlns:p14="http://schemas.microsoft.com/office/powerpoint/2010/main" val="38119452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7EE9F0-890E-8151-E721-827FB178C1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>
            <a:extLst>
              <a:ext uri="{FF2B5EF4-FFF2-40B4-BE49-F238E27FC236}">
                <a16:creationId xmlns:a16="http://schemas.microsoft.com/office/drawing/2014/main" id="{BBB1F523-3A5E-DF42-1E74-5816E9135E02}"/>
              </a:ext>
            </a:extLst>
          </p:cNvPr>
          <p:cNvSpPr txBox="1"/>
          <p:nvPr/>
        </p:nvSpPr>
        <p:spPr>
          <a:xfrm>
            <a:off x="468506" y="495300"/>
            <a:ext cx="17350987" cy="307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pt-BR" sz="2000" b="1" dirty="0">
                <a:solidFill>
                  <a:srgbClr val="084734"/>
                </a:solidFill>
                <a:latin typeface="DM Sans"/>
              </a:rPr>
              <a:t>KAFKA | 2.  INTRODUÇÃO | SOLUÇÕES CLOUD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4A008E2C-5B02-9A5F-9F80-4DAE25E4B772}"/>
              </a:ext>
            </a:extLst>
          </p:cNvPr>
          <p:cNvSpPr txBox="1"/>
          <p:nvPr/>
        </p:nvSpPr>
        <p:spPr>
          <a:xfrm>
            <a:off x="17884100" y="9762665"/>
            <a:ext cx="171522" cy="428194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 dirty="0">
                <a:solidFill>
                  <a:srgbClr val="C3FA75"/>
                </a:solidFill>
                <a:latin typeface="DM Sans 1"/>
                <a:ea typeface="DM Sans 1"/>
                <a:cs typeface="DM Sans 1"/>
                <a:sym typeface="DM Sans 1"/>
              </a:rPr>
              <a:t>7</a:t>
            </a:r>
          </a:p>
        </p:txBody>
      </p:sp>
      <p:sp>
        <p:nvSpPr>
          <p:cNvPr id="10" name="Espaço Reservado para Rodapé 9">
            <a:extLst>
              <a:ext uri="{FF2B5EF4-FFF2-40B4-BE49-F238E27FC236}">
                <a16:creationId xmlns:a16="http://schemas.microsoft.com/office/drawing/2014/main" id="{7328456F-789E-2849-10A4-60CEBDF742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14600" y="9739311"/>
            <a:ext cx="15796727" cy="536025"/>
          </a:xfrm>
        </p:spPr>
        <p:txBody>
          <a:bodyPr/>
          <a:lstStyle/>
          <a:p>
            <a:r>
              <a:rPr lang="en-US" dirty="0"/>
              <a:t>FIA LABDATA . Copyright all rights reserved.</a:t>
            </a:r>
            <a:endParaRPr lang="pt-BR" dirty="0"/>
          </a:p>
        </p:txBody>
      </p:sp>
      <p:sp>
        <p:nvSpPr>
          <p:cNvPr id="1001" name="TextBox 1001"/>
          <p:cNvSpPr txBox="1"/>
          <p:nvPr/>
        </p:nvSpPr>
        <p:spPr>
          <a:xfrm>
            <a:off x="468506" y="2171700"/>
            <a:ext cx="16800000" cy="5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pt-BR" sz="1500" b="0" dirty="0">
                <a:solidFill>
                  <a:srgbClr val="FFFFFF"/>
                </a:solidFill>
                <a:latin typeface="Open Sans"/>
                <a:cs typeface="Open Sans"/>
              </a:rPr>
              <a:t>Alternativas gerenciadas evitam a operação manual de brokers e Zookeeper/KRaft</a:t>
            </a:r>
          </a:p>
        </p:txBody>
      </p:sp>
      <p:sp>
        <p:nvSpPr>
          <p:cNvPr id="1002" name="CloudCard0 1002"/>
          <p:cNvSpPr/>
          <p:nvPr/>
        </p:nvSpPr>
        <p:spPr>
          <a:xfrm>
            <a:off x="468506" y="2871700"/>
            <a:ext cx="5500000" cy="3500000"/>
          </a:xfrm>
          <a:prstGeom prst="roundRect">
            <a:avLst>
              <a:gd name="adj" fmla="val 6"/>
            </a:avLst>
          </a:prstGeom>
          <a:solidFill>
            <a:srgbClr val="0E5B41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005" name="TextBox 1005"/>
          <p:cNvSpPr txBox="1"/>
          <p:nvPr/>
        </p:nvSpPr>
        <p:spPr>
          <a:xfrm>
            <a:off x="818506" y="4071700"/>
            <a:ext cx="4800000" cy="6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pt-BR" sz="2000" b="1" dirty="0">
                <a:solidFill>
                  <a:srgbClr val="C3FA75"/>
                </a:solidFill>
                <a:latin typeface="Open Sans"/>
                <a:cs typeface="Open Sans"/>
              </a:rPr>
              <a:t>Confluent Cloud</a:t>
            </a:r>
          </a:p>
        </p:txBody>
      </p:sp>
      <p:sp>
        <p:nvSpPr>
          <p:cNvPr id="1006" name="TextBox 1006"/>
          <p:cNvSpPr txBox="1"/>
          <p:nvPr/>
        </p:nvSpPr>
        <p:spPr>
          <a:xfrm>
            <a:off x="818506" y="4721700"/>
            <a:ext cx="4800000" cy="15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pt-BR" b="0" dirty="0">
                <a:solidFill>
                  <a:srgbClr val="FFFFFF"/>
                </a:solidFill>
                <a:latin typeface="Open Sans"/>
                <a:cs typeface="Open Sans"/>
              </a:rPr>
              <a:t>Serviço 100% gerenciado criado pelos fundadores do Kafka. Oferece conectores prontos, Schema Registry e ksqlDB.</a:t>
            </a:r>
          </a:p>
        </p:txBody>
      </p:sp>
      <p:sp>
        <p:nvSpPr>
          <p:cNvPr id="1007" name="CloudCard1 1007"/>
          <p:cNvSpPr/>
          <p:nvPr/>
        </p:nvSpPr>
        <p:spPr>
          <a:xfrm>
            <a:off x="6168506" y="2871700"/>
            <a:ext cx="5500000" cy="3500000"/>
          </a:xfrm>
          <a:prstGeom prst="roundRect">
            <a:avLst>
              <a:gd name="adj" fmla="val 6"/>
            </a:avLst>
          </a:prstGeom>
          <a:solidFill>
            <a:srgbClr val="0E5B41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010" name="TextBox 1010"/>
          <p:cNvSpPr txBox="1"/>
          <p:nvPr/>
        </p:nvSpPr>
        <p:spPr>
          <a:xfrm>
            <a:off x="6518506" y="4071700"/>
            <a:ext cx="4800000" cy="6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pt-BR" sz="2000" b="1" dirty="0">
                <a:solidFill>
                  <a:srgbClr val="C3FA75"/>
                </a:solidFill>
                <a:latin typeface="Open Sans"/>
                <a:cs typeface="Open Sans"/>
              </a:rPr>
              <a:t>Amazon MSK</a:t>
            </a:r>
          </a:p>
        </p:txBody>
      </p:sp>
      <p:sp>
        <p:nvSpPr>
          <p:cNvPr id="1011" name="TextBox 1011"/>
          <p:cNvSpPr txBox="1"/>
          <p:nvPr/>
        </p:nvSpPr>
        <p:spPr>
          <a:xfrm>
            <a:off x="6518506" y="4721700"/>
            <a:ext cx="4800000" cy="15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pt-BR" b="0" dirty="0">
                <a:solidFill>
                  <a:srgbClr val="FFFFFF"/>
                </a:solidFill>
                <a:latin typeface="Open Sans"/>
                <a:cs typeface="Open Sans"/>
              </a:rPr>
              <a:t>Managed Streaming for Apache Kafka. Integra nativamente com o ecossistema AWS (IAM, VPC, CloudWatch).</a:t>
            </a:r>
          </a:p>
        </p:txBody>
      </p:sp>
      <p:sp>
        <p:nvSpPr>
          <p:cNvPr id="1012" name="CloudCard2 1012"/>
          <p:cNvSpPr/>
          <p:nvPr/>
        </p:nvSpPr>
        <p:spPr>
          <a:xfrm>
            <a:off x="11868506" y="2871700"/>
            <a:ext cx="5500000" cy="3500000"/>
          </a:xfrm>
          <a:prstGeom prst="roundRect">
            <a:avLst>
              <a:gd name="adj" fmla="val 6"/>
            </a:avLst>
          </a:prstGeom>
          <a:solidFill>
            <a:srgbClr val="0E5B41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015" name="TextBox 1015"/>
          <p:cNvSpPr txBox="1"/>
          <p:nvPr/>
        </p:nvSpPr>
        <p:spPr>
          <a:xfrm>
            <a:off x="12218506" y="4071700"/>
            <a:ext cx="4800000" cy="6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pt-BR" sz="2000" b="1" dirty="0">
                <a:solidFill>
                  <a:srgbClr val="C3FA75"/>
                </a:solidFill>
                <a:latin typeface="Open Sans"/>
                <a:cs typeface="Open Sans"/>
              </a:rPr>
              <a:t>Azure Event Hubs</a:t>
            </a:r>
          </a:p>
        </p:txBody>
      </p:sp>
      <p:sp>
        <p:nvSpPr>
          <p:cNvPr id="1016" name="TextBox 1016"/>
          <p:cNvSpPr txBox="1"/>
          <p:nvPr/>
        </p:nvSpPr>
        <p:spPr>
          <a:xfrm>
            <a:off x="12218506" y="4721700"/>
            <a:ext cx="4800000" cy="15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pt-BR" b="0" dirty="0">
                <a:solidFill>
                  <a:srgbClr val="FFFFFF"/>
                </a:solidFill>
                <a:latin typeface="Open Sans"/>
                <a:cs typeface="Open Sans"/>
              </a:rPr>
              <a:t>Serviço da Microsoft com endpoint compatível com o protocolo Kafka, permitindo migração de clientes existentes.</a:t>
            </a:r>
          </a:p>
        </p:txBody>
      </p:sp>
      <p:sp>
        <p:nvSpPr>
          <p:cNvPr id="1017" name="CloudNote 1017"/>
          <p:cNvSpPr/>
          <p:nvPr/>
        </p:nvSpPr>
        <p:spPr>
          <a:xfrm>
            <a:off x="468506" y="6721700"/>
            <a:ext cx="16850000" cy="1250000"/>
          </a:xfrm>
          <a:prstGeom prst="roundRect">
            <a:avLst>
              <a:gd name="adj" fmla="val 6"/>
            </a:avLst>
          </a:prstGeom>
          <a:solidFill>
            <a:srgbClr val="142D59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018" name="TextBox 1018"/>
          <p:cNvSpPr txBox="1"/>
          <p:nvPr/>
        </p:nvSpPr>
        <p:spPr>
          <a:xfrm>
            <a:off x="750000" y="6901700"/>
            <a:ext cx="16300000" cy="9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pt-BR" sz="1350" b="0" dirty="0">
                <a:solidFill>
                  <a:srgbClr val="FFFFFF"/>
                </a:solidFill>
                <a:latin typeface="Open Sans"/>
                <a:cs typeface="Open Sans"/>
              </a:rPr>
              <a:t>Boa prática: usar serviços gerenciados em produção reduz o custo operacional do cluster, especialmente na alta disponibilidade e no upgrade de versões.</a:t>
            </a:r>
          </a:p>
        </p:txBody>
      </p:sp>
      <p:pic>
        <p:nvPicPr>
          <p:cNvPr id="2" name="Imagem 1" descr="Announcing Confluent Cloud: Apache Kafka as a Service | Confluent">
            <a:extLst>
              <a:ext uri="{FF2B5EF4-FFF2-40B4-BE49-F238E27FC236}">
                <a16:creationId xmlns:a16="http://schemas.microsoft.com/office/drawing/2014/main" id="{21F4B5D5-5FDF-5D6E-68B1-A7BA92119FB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31661"/>
          <a:stretch>
            <a:fillRect/>
          </a:stretch>
        </p:blipFill>
        <p:spPr>
          <a:xfrm>
            <a:off x="609600" y="3021700"/>
            <a:ext cx="1646553" cy="854234"/>
          </a:xfrm>
          <a:prstGeom prst="rect">
            <a:avLst/>
          </a:prstGeom>
        </p:spPr>
      </p:pic>
      <p:pic>
        <p:nvPicPr>
          <p:cNvPr id="4" name="Imagem 3" descr="Aws Msk icon - Free Download PNG &amp; SVG | Streamline">
            <a:extLst>
              <a:ext uri="{FF2B5EF4-FFF2-40B4-BE49-F238E27FC236}">
                <a16:creationId xmlns:a16="http://schemas.microsoft.com/office/drawing/2014/main" id="{06AD3483-A923-6119-4DBE-696483438F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8506" y="3088253"/>
            <a:ext cx="766894" cy="766894"/>
          </a:xfrm>
          <a:prstGeom prst="rect">
            <a:avLst/>
          </a:prstGeom>
        </p:spPr>
      </p:pic>
      <p:pic>
        <p:nvPicPr>
          <p:cNvPr id="6" name="Gráfico 5" descr="Azure Event Hub Vector Logo SVG - Free Download | Worldvectorlogo">
            <a:extLst>
              <a:ext uri="{FF2B5EF4-FFF2-40B4-BE49-F238E27FC236}">
                <a16:creationId xmlns:a16="http://schemas.microsoft.com/office/drawing/2014/main" id="{2C4CA285-39AA-199E-43F4-0C7DA55C9F6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218506" y="3088253"/>
            <a:ext cx="731251" cy="749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19452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7EE9F0-890E-8151-E721-827FB178C1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>
            <a:extLst>
              <a:ext uri="{FF2B5EF4-FFF2-40B4-BE49-F238E27FC236}">
                <a16:creationId xmlns:a16="http://schemas.microsoft.com/office/drawing/2014/main" id="{BBB1F523-3A5E-DF42-1E74-5816E9135E02}"/>
              </a:ext>
            </a:extLst>
          </p:cNvPr>
          <p:cNvSpPr txBox="1"/>
          <p:nvPr/>
        </p:nvSpPr>
        <p:spPr>
          <a:xfrm>
            <a:off x="468506" y="495300"/>
            <a:ext cx="17350987" cy="307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pt-BR" sz="2000" b="1" dirty="0">
                <a:solidFill>
                  <a:srgbClr val="084734"/>
                </a:solidFill>
                <a:latin typeface="DM Sans"/>
              </a:rPr>
              <a:t>KAFKA | 2.  INTRODUÇÃO | CASOS DE USO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4A008E2C-5B02-9A5F-9F80-4DAE25E4B772}"/>
              </a:ext>
            </a:extLst>
          </p:cNvPr>
          <p:cNvSpPr txBox="1"/>
          <p:nvPr/>
        </p:nvSpPr>
        <p:spPr>
          <a:xfrm>
            <a:off x="17872078" y="9762665"/>
            <a:ext cx="195567" cy="428194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 dirty="0">
                <a:solidFill>
                  <a:srgbClr val="C3FA75"/>
                </a:solidFill>
                <a:latin typeface="DM Sans 1"/>
                <a:ea typeface="DM Sans 1"/>
                <a:cs typeface="DM Sans 1"/>
                <a:sym typeface="DM Sans 1"/>
              </a:rPr>
              <a:t>8</a:t>
            </a:r>
          </a:p>
        </p:txBody>
      </p:sp>
      <p:sp>
        <p:nvSpPr>
          <p:cNvPr id="10" name="Espaço Reservado para Rodapé 9">
            <a:extLst>
              <a:ext uri="{FF2B5EF4-FFF2-40B4-BE49-F238E27FC236}">
                <a16:creationId xmlns:a16="http://schemas.microsoft.com/office/drawing/2014/main" id="{7328456F-789E-2849-10A4-60CEBDF742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14600" y="9739311"/>
            <a:ext cx="15796727" cy="536025"/>
          </a:xfrm>
        </p:spPr>
        <p:txBody>
          <a:bodyPr/>
          <a:lstStyle/>
          <a:p>
            <a:r>
              <a:rPr lang="en-US" dirty="0"/>
              <a:t>FIA LABDATA . Copyright all rights reserved.</a:t>
            </a:r>
            <a:endParaRPr lang="pt-BR" dirty="0"/>
          </a:p>
        </p:txBody>
      </p:sp>
      <p:sp>
        <p:nvSpPr>
          <p:cNvPr id="1001" name="TextBox 1001"/>
          <p:cNvSpPr txBox="1"/>
          <p:nvPr/>
        </p:nvSpPr>
        <p:spPr>
          <a:xfrm>
            <a:off x="468506" y="1050000"/>
            <a:ext cx="16800000" cy="5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pt-BR" sz="1500" b="0" dirty="0">
                <a:solidFill>
                  <a:srgbClr val="FFFFFF"/>
                </a:solidFill>
                <a:latin typeface="Open Sans"/>
                <a:cs typeface="Open Sans"/>
              </a:rPr>
              <a:t>Onde o Kafka aparece no dia a dia das empresas</a:t>
            </a:r>
          </a:p>
        </p:txBody>
      </p:sp>
      <p:sp>
        <p:nvSpPr>
          <p:cNvPr id="1002" name="UseCase0 1002"/>
          <p:cNvSpPr/>
          <p:nvPr/>
        </p:nvSpPr>
        <p:spPr>
          <a:xfrm>
            <a:off x="499800" y="3048500"/>
            <a:ext cx="5550000" cy="1900000"/>
          </a:xfrm>
          <a:prstGeom prst="roundRect">
            <a:avLst>
              <a:gd name="adj" fmla="val 6"/>
            </a:avLst>
          </a:prstGeom>
          <a:solidFill>
            <a:srgbClr val="0E5B41"/>
          </a:solidFill>
          <a:ln>
            <a:noFill/>
          </a:ln>
        </p:spPr>
        <p:txBody>
          <a:bodyPr/>
          <a:lstStyle/>
          <a:p>
            <a:endParaRPr lang="pt-BR" sz="2000"/>
          </a:p>
        </p:txBody>
      </p:sp>
      <p:sp>
        <p:nvSpPr>
          <p:cNvPr id="1003" name="UseIcon0 1003"/>
          <p:cNvSpPr/>
          <p:nvPr/>
        </p:nvSpPr>
        <p:spPr>
          <a:xfrm>
            <a:off x="749800" y="3268500"/>
            <a:ext cx="500000" cy="500000"/>
          </a:xfrm>
          <a:prstGeom prst="ellipse">
            <a:avLst/>
          </a:prstGeom>
          <a:solidFill>
            <a:srgbClr val="C3FA75"/>
          </a:solidFill>
          <a:ln>
            <a:noFill/>
          </a:ln>
        </p:spPr>
        <p:txBody>
          <a:bodyPr/>
          <a:lstStyle/>
          <a:p>
            <a:endParaRPr lang="pt-BR" sz="2000"/>
          </a:p>
        </p:txBody>
      </p:sp>
      <p:sp>
        <p:nvSpPr>
          <p:cNvPr id="1004" name="TextBox 1004"/>
          <p:cNvSpPr txBox="1"/>
          <p:nvPr/>
        </p:nvSpPr>
        <p:spPr>
          <a:xfrm>
            <a:off x="749800" y="3268500"/>
            <a:ext cx="500000" cy="500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pt-BR" sz="2000" b="1" dirty="0">
                <a:solidFill>
                  <a:srgbClr val="084734"/>
                </a:solidFill>
                <a:latin typeface="Open Sans"/>
                <a:cs typeface="Open Sans"/>
              </a:rPr>
              <a:t>1</a:t>
            </a:r>
          </a:p>
        </p:txBody>
      </p:sp>
      <p:sp>
        <p:nvSpPr>
          <p:cNvPr id="1005" name="TextBox 1005"/>
          <p:cNvSpPr txBox="1"/>
          <p:nvPr/>
        </p:nvSpPr>
        <p:spPr>
          <a:xfrm>
            <a:off x="1399800" y="3268500"/>
            <a:ext cx="4500000" cy="55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pt-BR" b="1" dirty="0">
                <a:solidFill>
                  <a:srgbClr val="C3FA75"/>
                </a:solidFill>
                <a:latin typeface="Open Sans"/>
                <a:cs typeface="Open Sans"/>
              </a:rPr>
              <a:t>Processamento em Tempo Real</a:t>
            </a:r>
          </a:p>
        </p:txBody>
      </p:sp>
      <p:sp>
        <p:nvSpPr>
          <p:cNvPr id="1006" name="TextBox 1006"/>
          <p:cNvSpPr txBox="1"/>
          <p:nvPr/>
        </p:nvSpPr>
        <p:spPr>
          <a:xfrm>
            <a:off x="749800" y="3898500"/>
            <a:ext cx="5100000" cy="95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pt-BR" sz="1600" b="0" dirty="0">
                <a:solidFill>
                  <a:srgbClr val="FFFFFF"/>
                </a:solidFill>
                <a:latin typeface="Open Sans"/>
                <a:cs typeface="Open Sans"/>
              </a:rPr>
              <a:t>Análise de cliques, fraude e métricas de negócio no instante em que os eventos acontecem.</a:t>
            </a:r>
          </a:p>
        </p:txBody>
      </p:sp>
      <p:sp>
        <p:nvSpPr>
          <p:cNvPr id="1007" name="UseCase1 1007"/>
          <p:cNvSpPr/>
          <p:nvPr/>
        </p:nvSpPr>
        <p:spPr>
          <a:xfrm>
            <a:off x="6199800" y="3048500"/>
            <a:ext cx="5550000" cy="1900000"/>
          </a:xfrm>
          <a:prstGeom prst="roundRect">
            <a:avLst>
              <a:gd name="adj" fmla="val 6"/>
            </a:avLst>
          </a:prstGeom>
          <a:solidFill>
            <a:srgbClr val="0E5B41"/>
          </a:solidFill>
          <a:ln>
            <a:noFill/>
          </a:ln>
        </p:spPr>
        <p:txBody>
          <a:bodyPr/>
          <a:lstStyle/>
          <a:p>
            <a:endParaRPr lang="pt-BR" sz="2000"/>
          </a:p>
        </p:txBody>
      </p:sp>
      <p:sp>
        <p:nvSpPr>
          <p:cNvPr id="1008" name="UseIcon1 1008"/>
          <p:cNvSpPr/>
          <p:nvPr/>
        </p:nvSpPr>
        <p:spPr>
          <a:xfrm>
            <a:off x="6449800" y="3268500"/>
            <a:ext cx="500000" cy="500000"/>
          </a:xfrm>
          <a:prstGeom prst="ellipse">
            <a:avLst/>
          </a:prstGeom>
          <a:solidFill>
            <a:srgbClr val="C3FA75"/>
          </a:solidFill>
          <a:ln>
            <a:noFill/>
          </a:ln>
        </p:spPr>
        <p:txBody>
          <a:bodyPr/>
          <a:lstStyle/>
          <a:p>
            <a:endParaRPr lang="pt-BR" sz="2000"/>
          </a:p>
        </p:txBody>
      </p:sp>
      <p:sp>
        <p:nvSpPr>
          <p:cNvPr id="1009" name="TextBox 1009"/>
          <p:cNvSpPr txBox="1"/>
          <p:nvPr/>
        </p:nvSpPr>
        <p:spPr>
          <a:xfrm>
            <a:off x="6449800" y="3268500"/>
            <a:ext cx="500000" cy="500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pt-BR" sz="2000" b="1" dirty="0">
                <a:solidFill>
                  <a:srgbClr val="084734"/>
                </a:solidFill>
                <a:latin typeface="Open Sans"/>
                <a:cs typeface="Open Sans"/>
              </a:rPr>
              <a:t>2</a:t>
            </a:r>
          </a:p>
        </p:txBody>
      </p:sp>
      <p:sp>
        <p:nvSpPr>
          <p:cNvPr id="1010" name="TextBox 1010"/>
          <p:cNvSpPr txBox="1"/>
          <p:nvPr/>
        </p:nvSpPr>
        <p:spPr>
          <a:xfrm>
            <a:off x="7099800" y="3268500"/>
            <a:ext cx="4500000" cy="55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pt-BR" b="1" dirty="0">
                <a:solidFill>
                  <a:srgbClr val="C3FA75"/>
                </a:solidFill>
                <a:latin typeface="Open Sans"/>
                <a:cs typeface="Open Sans"/>
              </a:rPr>
              <a:t>Integração de Sistemas</a:t>
            </a:r>
          </a:p>
        </p:txBody>
      </p:sp>
      <p:sp>
        <p:nvSpPr>
          <p:cNvPr id="1011" name="TextBox 1011"/>
          <p:cNvSpPr txBox="1"/>
          <p:nvPr/>
        </p:nvSpPr>
        <p:spPr>
          <a:xfrm>
            <a:off x="6449800" y="3898500"/>
            <a:ext cx="5100000" cy="95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pt-BR" sz="1600" b="0" dirty="0">
                <a:solidFill>
                  <a:srgbClr val="FFFFFF"/>
                </a:solidFill>
                <a:latin typeface="Open Sans"/>
                <a:cs typeface="Open Sans"/>
              </a:rPr>
              <a:t>Desacopla microsserviços e sistemas legados, atuando como espinha dorsal de dados (event-driven architecture).</a:t>
            </a:r>
          </a:p>
        </p:txBody>
      </p:sp>
      <p:sp>
        <p:nvSpPr>
          <p:cNvPr id="1012" name="UseCase2 1012"/>
          <p:cNvSpPr/>
          <p:nvPr/>
        </p:nvSpPr>
        <p:spPr>
          <a:xfrm>
            <a:off x="11899800" y="3048500"/>
            <a:ext cx="5550000" cy="1900000"/>
          </a:xfrm>
          <a:prstGeom prst="roundRect">
            <a:avLst>
              <a:gd name="adj" fmla="val 6"/>
            </a:avLst>
          </a:prstGeom>
          <a:solidFill>
            <a:srgbClr val="0E5B41"/>
          </a:solidFill>
          <a:ln>
            <a:noFill/>
          </a:ln>
        </p:spPr>
        <p:txBody>
          <a:bodyPr/>
          <a:lstStyle/>
          <a:p>
            <a:endParaRPr lang="pt-BR" sz="2000"/>
          </a:p>
        </p:txBody>
      </p:sp>
      <p:sp>
        <p:nvSpPr>
          <p:cNvPr id="1013" name="UseIcon2 1013"/>
          <p:cNvSpPr/>
          <p:nvPr/>
        </p:nvSpPr>
        <p:spPr>
          <a:xfrm>
            <a:off x="12149800" y="3268500"/>
            <a:ext cx="500000" cy="500000"/>
          </a:xfrm>
          <a:prstGeom prst="ellipse">
            <a:avLst/>
          </a:prstGeom>
          <a:solidFill>
            <a:srgbClr val="C3FA75"/>
          </a:solidFill>
          <a:ln>
            <a:noFill/>
          </a:ln>
        </p:spPr>
        <p:txBody>
          <a:bodyPr/>
          <a:lstStyle/>
          <a:p>
            <a:endParaRPr lang="pt-BR" sz="2000"/>
          </a:p>
        </p:txBody>
      </p:sp>
      <p:sp>
        <p:nvSpPr>
          <p:cNvPr id="1014" name="TextBox 1014"/>
          <p:cNvSpPr txBox="1"/>
          <p:nvPr/>
        </p:nvSpPr>
        <p:spPr>
          <a:xfrm>
            <a:off x="12149800" y="3268500"/>
            <a:ext cx="500000" cy="500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pt-BR" sz="2000" b="1" dirty="0">
                <a:solidFill>
                  <a:srgbClr val="084734"/>
                </a:solidFill>
                <a:latin typeface="Open Sans"/>
                <a:cs typeface="Open Sans"/>
              </a:rPr>
              <a:t>3</a:t>
            </a:r>
          </a:p>
        </p:txBody>
      </p:sp>
      <p:sp>
        <p:nvSpPr>
          <p:cNvPr id="1015" name="TextBox 1015"/>
          <p:cNvSpPr txBox="1"/>
          <p:nvPr/>
        </p:nvSpPr>
        <p:spPr>
          <a:xfrm>
            <a:off x="12799800" y="3268500"/>
            <a:ext cx="4500000" cy="55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pt-BR" b="1" dirty="0">
                <a:solidFill>
                  <a:srgbClr val="C3FA75"/>
                </a:solidFill>
                <a:latin typeface="Open Sans"/>
                <a:cs typeface="Open Sans"/>
              </a:rPr>
              <a:t>Agregação de Logs</a:t>
            </a:r>
          </a:p>
        </p:txBody>
      </p:sp>
      <p:sp>
        <p:nvSpPr>
          <p:cNvPr id="1016" name="TextBox 1016"/>
          <p:cNvSpPr txBox="1"/>
          <p:nvPr/>
        </p:nvSpPr>
        <p:spPr>
          <a:xfrm>
            <a:off x="12149800" y="3898500"/>
            <a:ext cx="5100000" cy="95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pt-BR" sz="1600" b="0" dirty="0">
                <a:solidFill>
                  <a:srgbClr val="FFFFFF"/>
                </a:solidFill>
                <a:latin typeface="Open Sans"/>
                <a:cs typeface="Open Sans"/>
              </a:rPr>
              <a:t>Centraliza logs de múltiplas aplicações e servidores para monitoramento e observabilidade.</a:t>
            </a:r>
          </a:p>
        </p:txBody>
      </p:sp>
      <p:sp>
        <p:nvSpPr>
          <p:cNvPr id="1017" name="UseCase3 1017"/>
          <p:cNvSpPr/>
          <p:nvPr/>
        </p:nvSpPr>
        <p:spPr>
          <a:xfrm>
            <a:off x="499800" y="5148500"/>
            <a:ext cx="5550000" cy="1900000"/>
          </a:xfrm>
          <a:prstGeom prst="roundRect">
            <a:avLst>
              <a:gd name="adj" fmla="val 6"/>
            </a:avLst>
          </a:prstGeom>
          <a:solidFill>
            <a:srgbClr val="0E5B41"/>
          </a:solidFill>
          <a:ln>
            <a:noFill/>
          </a:ln>
        </p:spPr>
        <p:txBody>
          <a:bodyPr/>
          <a:lstStyle/>
          <a:p>
            <a:endParaRPr lang="pt-BR" sz="2000"/>
          </a:p>
        </p:txBody>
      </p:sp>
      <p:sp>
        <p:nvSpPr>
          <p:cNvPr id="1018" name="UseIcon3 1018"/>
          <p:cNvSpPr/>
          <p:nvPr/>
        </p:nvSpPr>
        <p:spPr>
          <a:xfrm>
            <a:off x="749800" y="5368500"/>
            <a:ext cx="500000" cy="500000"/>
          </a:xfrm>
          <a:prstGeom prst="ellipse">
            <a:avLst/>
          </a:prstGeom>
          <a:solidFill>
            <a:srgbClr val="C3FA75"/>
          </a:solidFill>
          <a:ln>
            <a:noFill/>
          </a:ln>
        </p:spPr>
        <p:txBody>
          <a:bodyPr/>
          <a:lstStyle/>
          <a:p>
            <a:endParaRPr lang="pt-BR" sz="2000"/>
          </a:p>
        </p:txBody>
      </p:sp>
      <p:sp>
        <p:nvSpPr>
          <p:cNvPr id="1019" name="TextBox 1019"/>
          <p:cNvSpPr txBox="1"/>
          <p:nvPr/>
        </p:nvSpPr>
        <p:spPr>
          <a:xfrm>
            <a:off x="749800" y="5368500"/>
            <a:ext cx="500000" cy="500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pt-BR" sz="2000" b="1" dirty="0">
                <a:solidFill>
                  <a:srgbClr val="084734"/>
                </a:solidFill>
                <a:latin typeface="Open Sans"/>
                <a:cs typeface="Open Sans"/>
              </a:rPr>
              <a:t>4</a:t>
            </a:r>
          </a:p>
        </p:txBody>
      </p:sp>
      <p:sp>
        <p:nvSpPr>
          <p:cNvPr id="1020" name="TextBox 1020"/>
          <p:cNvSpPr txBox="1"/>
          <p:nvPr/>
        </p:nvSpPr>
        <p:spPr>
          <a:xfrm>
            <a:off x="1399800" y="5368500"/>
            <a:ext cx="4500000" cy="55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pt-BR" b="1" dirty="0">
                <a:solidFill>
                  <a:srgbClr val="C3FA75"/>
                </a:solidFill>
                <a:latin typeface="Open Sans"/>
                <a:cs typeface="Open Sans"/>
              </a:rPr>
              <a:t>Event Sourcing</a:t>
            </a:r>
          </a:p>
        </p:txBody>
      </p:sp>
      <p:sp>
        <p:nvSpPr>
          <p:cNvPr id="1021" name="TextBox 1021"/>
          <p:cNvSpPr txBox="1"/>
          <p:nvPr/>
        </p:nvSpPr>
        <p:spPr>
          <a:xfrm>
            <a:off x="749800" y="5998500"/>
            <a:ext cx="5100000" cy="95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pt-BR" sz="1600" b="0" dirty="0">
                <a:solidFill>
                  <a:srgbClr val="FFFFFF"/>
                </a:solidFill>
                <a:latin typeface="Open Sans"/>
                <a:cs typeface="Open Sans"/>
              </a:rPr>
              <a:t>Armazena o histórico completo de eventos de um sistema como fonte da verdade, permitindo reconstrução de estado.</a:t>
            </a:r>
          </a:p>
        </p:txBody>
      </p:sp>
      <p:sp>
        <p:nvSpPr>
          <p:cNvPr id="1022" name="UseCase4 1022"/>
          <p:cNvSpPr/>
          <p:nvPr/>
        </p:nvSpPr>
        <p:spPr>
          <a:xfrm>
            <a:off x="6199800" y="5148500"/>
            <a:ext cx="5550000" cy="1900000"/>
          </a:xfrm>
          <a:prstGeom prst="roundRect">
            <a:avLst>
              <a:gd name="adj" fmla="val 6"/>
            </a:avLst>
          </a:prstGeom>
          <a:solidFill>
            <a:srgbClr val="0E5B41"/>
          </a:solidFill>
          <a:ln>
            <a:noFill/>
          </a:ln>
        </p:spPr>
        <p:txBody>
          <a:bodyPr/>
          <a:lstStyle/>
          <a:p>
            <a:endParaRPr lang="pt-BR" sz="2000"/>
          </a:p>
        </p:txBody>
      </p:sp>
      <p:sp>
        <p:nvSpPr>
          <p:cNvPr id="1023" name="UseIcon4 1023"/>
          <p:cNvSpPr/>
          <p:nvPr/>
        </p:nvSpPr>
        <p:spPr>
          <a:xfrm>
            <a:off x="6449800" y="5368500"/>
            <a:ext cx="500000" cy="500000"/>
          </a:xfrm>
          <a:prstGeom prst="ellipse">
            <a:avLst/>
          </a:prstGeom>
          <a:solidFill>
            <a:srgbClr val="C3FA75"/>
          </a:solidFill>
          <a:ln>
            <a:noFill/>
          </a:ln>
        </p:spPr>
        <p:txBody>
          <a:bodyPr/>
          <a:lstStyle/>
          <a:p>
            <a:endParaRPr lang="pt-BR" sz="2000"/>
          </a:p>
        </p:txBody>
      </p:sp>
      <p:sp>
        <p:nvSpPr>
          <p:cNvPr id="1024" name="TextBox 1024"/>
          <p:cNvSpPr txBox="1"/>
          <p:nvPr/>
        </p:nvSpPr>
        <p:spPr>
          <a:xfrm>
            <a:off x="6449800" y="5368500"/>
            <a:ext cx="500000" cy="500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pt-BR" sz="2000" b="1" dirty="0">
                <a:solidFill>
                  <a:srgbClr val="084734"/>
                </a:solidFill>
                <a:latin typeface="Open Sans"/>
                <a:cs typeface="Open Sans"/>
              </a:rPr>
              <a:t>5</a:t>
            </a:r>
          </a:p>
        </p:txBody>
      </p:sp>
      <p:sp>
        <p:nvSpPr>
          <p:cNvPr id="1025" name="TextBox 1025"/>
          <p:cNvSpPr txBox="1"/>
          <p:nvPr/>
        </p:nvSpPr>
        <p:spPr>
          <a:xfrm>
            <a:off x="7099800" y="5368500"/>
            <a:ext cx="4500000" cy="55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pt-BR" b="1" dirty="0">
                <a:solidFill>
                  <a:srgbClr val="C3FA75"/>
                </a:solidFill>
                <a:latin typeface="Open Sans"/>
                <a:cs typeface="Open Sans"/>
              </a:rPr>
              <a:t>Pipelines de Dados (ETL)</a:t>
            </a:r>
          </a:p>
        </p:txBody>
      </p:sp>
      <p:sp>
        <p:nvSpPr>
          <p:cNvPr id="1026" name="TextBox 1026"/>
          <p:cNvSpPr txBox="1"/>
          <p:nvPr/>
        </p:nvSpPr>
        <p:spPr>
          <a:xfrm>
            <a:off x="6449800" y="5998500"/>
            <a:ext cx="5100000" cy="95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pt-BR" sz="1600" b="0" dirty="0">
                <a:solidFill>
                  <a:srgbClr val="FFFFFF"/>
                </a:solidFill>
                <a:latin typeface="Open Sans"/>
                <a:cs typeface="Open Sans"/>
              </a:rPr>
              <a:t>Alimenta data lakes e data warehouses continuamente, substituindo cargas em lote (batch) por streaming.</a:t>
            </a:r>
          </a:p>
        </p:txBody>
      </p:sp>
      <p:sp>
        <p:nvSpPr>
          <p:cNvPr id="1027" name="UseCase5 1027"/>
          <p:cNvSpPr/>
          <p:nvPr/>
        </p:nvSpPr>
        <p:spPr>
          <a:xfrm>
            <a:off x="11899800" y="5148500"/>
            <a:ext cx="5550000" cy="1900000"/>
          </a:xfrm>
          <a:prstGeom prst="roundRect">
            <a:avLst>
              <a:gd name="adj" fmla="val 6"/>
            </a:avLst>
          </a:prstGeom>
          <a:solidFill>
            <a:srgbClr val="0E5B41"/>
          </a:solidFill>
          <a:ln>
            <a:noFill/>
          </a:ln>
        </p:spPr>
        <p:txBody>
          <a:bodyPr/>
          <a:lstStyle/>
          <a:p>
            <a:endParaRPr lang="pt-BR" sz="2000"/>
          </a:p>
        </p:txBody>
      </p:sp>
      <p:sp>
        <p:nvSpPr>
          <p:cNvPr id="1028" name="UseIcon5 1028"/>
          <p:cNvSpPr/>
          <p:nvPr/>
        </p:nvSpPr>
        <p:spPr>
          <a:xfrm>
            <a:off x="12149800" y="5368500"/>
            <a:ext cx="500000" cy="500000"/>
          </a:xfrm>
          <a:prstGeom prst="ellipse">
            <a:avLst/>
          </a:prstGeom>
          <a:solidFill>
            <a:srgbClr val="C3FA75"/>
          </a:solidFill>
          <a:ln>
            <a:noFill/>
          </a:ln>
        </p:spPr>
        <p:txBody>
          <a:bodyPr/>
          <a:lstStyle/>
          <a:p>
            <a:endParaRPr lang="pt-BR" sz="2000"/>
          </a:p>
        </p:txBody>
      </p:sp>
      <p:sp>
        <p:nvSpPr>
          <p:cNvPr id="1029" name="TextBox 1029"/>
          <p:cNvSpPr txBox="1"/>
          <p:nvPr/>
        </p:nvSpPr>
        <p:spPr>
          <a:xfrm>
            <a:off x="12149800" y="5368500"/>
            <a:ext cx="500000" cy="500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pt-BR" sz="2000" b="1" dirty="0">
                <a:solidFill>
                  <a:srgbClr val="084734"/>
                </a:solidFill>
                <a:latin typeface="Open Sans"/>
                <a:cs typeface="Open Sans"/>
              </a:rPr>
              <a:t>6</a:t>
            </a:r>
          </a:p>
        </p:txBody>
      </p:sp>
      <p:sp>
        <p:nvSpPr>
          <p:cNvPr id="1030" name="TextBox 1030"/>
          <p:cNvSpPr txBox="1"/>
          <p:nvPr/>
        </p:nvSpPr>
        <p:spPr>
          <a:xfrm>
            <a:off x="12799800" y="5368500"/>
            <a:ext cx="4500000" cy="55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pt-BR" b="1" dirty="0">
                <a:solidFill>
                  <a:srgbClr val="C3FA75"/>
                </a:solidFill>
                <a:latin typeface="Open Sans"/>
                <a:cs typeface="Open Sans"/>
              </a:rPr>
              <a:t>Métricas de IoT</a:t>
            </a:r>
          </a:p>
        </p:txBody>
      </p:sp>
      <p:sp>
        <p:nvSpPr>
          <p:cNvPr id="1031" name="TextBox 1031"/>
          <p:cNvSpPr txBox="1"/>
          <p:nvPr/>
        </p:nvSpPr>
        <p:spPr>
          <a:xfrm>
            <a:off x="12149800" y="5998500"/>
            <a:ext cx="5100000" cy="95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pt-BR" sz="1600" b="0" dirty="0">
                <a:solidFill>
                  <a:srgbClr val="FFFFFF"/>
                </a:solidFill>
                <a:latin typeface="Open Sans"/>
                <a:cs typeface="Open Sans"/>
              </a:rPr>
              <a:t>Recebe milhões de eventos de sensores e dispositivos conectados com baixa latência.</a:t>
            </a:r>
          </a:p>
        </p:txBody>
      </p:sp>
    </p:spTree>
    <p:extLst>
      <p:ext uri="{BB962C8B-B14F-4D97-AF65-F5344CB8AC3E}">
        <p14:creationId xmlns:p14="http://schemas.microsoft.com/office/powerpoint/2010/main" val="38119452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4A2AB8-BB72-5F97-C1E2-B18C45389B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317780D4-23B1-592E-53E3-552AD17538C9}"/>
              </a:ext>
            </a:extLst>
          </p:cNvPr>
          <p:cNvGrpSpPr/>
          <p:nvPr/>
        </p:nvGrpSpPr>
        <p:grpSpPr>
          <a:xfrm>
            <a:off x="7801966" y="0"/>
            <a:ext cx="10616660" cy="10287000"/>
            <a:chOff x="0" y="0"/>
            <a:chExt cx="14155547" cy="137160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D9ED63B4-359C-3EAE-2A20-8AAE10064CC2}"/>
                </a:ext>
              </a:extLst>
            </p:cNvPr>
            <p:cNvSpPr/>
            <p:nvPr/>
          </p:nvSpPr>
          <p:spPr>
            <a:xfrm>
              <a:off x="0" y="0"/>
              <a:ext cx="14155547" cy="13716000"/>
            </a:xfrm>
            <a:custGeom>
              <a:avLst/>
              <a:gdLst/>
              <a:ahLst/>
              <a:cxnLst/>
              <a:rect l="l" t="t" r="r" b="b"/>
              <a:pathLst>
                <a:path w="14155547" h="13716000">
                  <a:moveTo>
                    <a:pt x="0" y="0"/>
                  </a:moveTo>
                  <a:lnTo>
                    <a:pt x="14155547" y="0"/>
                  </a:lnTo>
                  <a:lnTo>
                    <a:pt x="14155547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C4735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2296E6D1-C172-F908-968E-4DC18C2C954A}"/>
              </a:ext>
            </a:extLst>
          </p:cNvPr>
          <p:cNvGrpSpPr/>
          <p:nvPr/>
        </p:nvGrpSpPr>
        <p:grpSpPr>
          <a:xfrm>
            <a:off x="0" y="0"/>
            <a:ext cx="7801966" cy="10287000"/>
            <a:chOff x="0" y="0"/>
            <a:chExt cx="10402621" cy="13716000"/>
          </a:xfrm>
        </p:grpSpPr>
        <p:sp>
          <p:nvSpPr>
            <p:cNvPr id="5" name="Freeform 5" descr="Gráfico, Histograma  O conteúdo gerado por IA pode estar incorreto.">
              <a:extLst>
                <a:ext uri="{FF2B5EF4-FFF2-40B4-BE49-F238E27FC236}">
                  <a16:creationId xmlns:a16="http://schemas.microsoft.com/office/drawing/2014/main" id="{0657F1C9-8B09-DC1D-3C2F-4C32A4EC663C}"/>
                </a:ext>
              </a:extLst>
            </p:cNvPr>
            <p:cNvSpPr/>
            <p:nvPr/>
          </p:nvSpPr>
          <p:spPr>
            <a:xfrm>
              <a:off x="0" y="0"/>
              <a:ext cx="10402570" cy="13716000"/>
            </a:xfrm>
            <a:custGeom>
              <a:avLst/>
              <a:gdLst/>
              <a:ahLst/>
              <a:cxnLst/>
              <a:rect l="l" t="t" r="r" b="b"/>
              <a:pathLst>
                <a:path w="10402570" h="13716000">
                  <a:moveTo>
                    <a:pt x="0" y="0"/>
                  </a:moveTo>
                  <a:lnTo>
                    <a:pt x="10402570" y="0"/>
                  </a:lnTo>
                  <a:lnTo>
                    <a:pt x="1040257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6" name="TextBox 6">
            <a:extLst>
              <a:ext uri="{FF2B5EF4-FFF2-40B4-BE49-F238E27FC236}">
                <a16:creationId xmlns:a16="http://schemas.microsoft.com/office/drawing/2014/main" id="{765A2FC8-8153-672C-4218-6184B406576D}"/>
              </a:ext>
            </a:extLst>
          </p:cNvPr>
          <p:cNvSpPr txBox="1"/>
          <p:nvPr/>
        </p:nvSpPr>
        <p:spPr>
          <a:xfrm>
            <a:off x="17840470" y="9781271"/>
            <a:ext cx="201979" cy="428194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 dirty="0">
                <a:solidFill>
                  <a:srgbClr val="C3FA75"/>
                </a:solidFill>
                <a:latin typeface="DM Sans 1"/>
                <a:ea typeface="DM Sans 1"/>
                <a:cs typeface="DM Sans 1"/>
                <a:sym typeface="DM Sans 1"/>
              </a:rPr>
              <a:t>9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3A1CE4F3-6274-5FB1-DD6F-BF1B0C97EFFF}"/>
              </a:ext>
            </a:extLst>
          </p:cNvPr>
          <p:cNvSpPr txBox="1"/>
          <p:nvPr/>
        </p:nvSpPr>
        <p:spPr>
          <a:xfrm>
            <a:off x="8369903" y="3320634"/>
            <a:ext cx="7424690" cy="11989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799"/>
              </a:lnSpc>
              <a:spcBef>
                <a:spcPct val="0"/>
              </a:spcBef>
            </a:pPr>
            <a:r>
              <a:rPr lang="en-US" sz="6999" dirty="0" err="1">
                <a:solidFill>
                  <a:srgbClr val="C3FA75"/>
                </a:solidFill>
                <a:latin typeface="DM Sans 1 Light"/>
                <a:ea typeface="DM Sans 1 Light"/>
                <a:cs typeface="DM Sans 1 Light"/>
                <a:sym typeface="DM Sans 1 Light"/>
              </a:rPr>
              <a:t>Arquitetura</a:t>
            </a:r>
            <a:r>
              <a:rPr lang="en-US" sz="6999" dirty="0">
                <a:solidFill>
                  <a:srgbClr val="C3FA75"/>
                </a:solidFill>
                <a:latin typeface="DM Sans 1 Light"/>
                <a:ea typeface="DM Sans 1 Light"/>
                <a:cs typeface="DM Sans 1 Light"/>
                <a:sym typeface="DM Sans 1 Light"/>
              </a:rPr>
              <a:t> Kafka</a:t>
            </a:r>
          </a:p>
        </p:txBody>
      </p:sp>
    </p:spTree>
    <p:extLst>
      <p:ext uri="{BB962C8B-B14F-4D97-AF65-F5344CB8AC3E}">
        <p14:creationId xmlns:p14="http://schemas.microsoft.com/office/powerpoint/2010/main" val="6958535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9BC9B4-CD2E-7315-E6EC-AEE2964348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8">
            <a:extLst>
              <a:ext uri="{FF2B5EF4-FFF2-40B4-BE49-F238E27FC236}">
                <a16:creationId xmlns:a16="http://schemas.microsoft.com/office/drawing/2014/main" id="{436209BC-E2A5-880C-EFC0-5BD814B04AB0}"/>
              </a:ext>
            </a:extLst>
          </p:cNvPr>
          <p:cNvSpPr txBox="1"/>
          <p:nvPr/>
        </p:nvSpPr>
        <p:spPr>
          <a:xfrm>
            <a:off x="17810363" y="9762665"/>
            <a:ext cx="318998" cy="428194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 dirty="0">
                <a:solidFill>
                  <a:srgbClr val="C3FA75"/>
                </a:solidFill>
                <a:latin typeface="DM Sans 1"/>
                <a:ea typeface="DM Sans 1"/>
                <a:cs typeface="DM Sans 1"/>
                <a:sym typeface="DM Sans 1"/>
              </a:rPr>
              <a:t>10</a:t>
            </a:r>
          </a:p>
        </p:txBody>
      </p:sp>
      <p:sp>
        <p:nvSpPr>
          <p:cNvPr id="10" name="Espaço Reservado para Rodapé 9">
            <a:extLst>
              <a:ext uri="{FF2B5EF4-FFF2-40B4-BE49-F238E27FC236}">
                <a16:creationId xmlns:a16="http://schemas.microsoft.com/office/drawing/2014/main" id="{551AF76A-5214-D5C9-0E08-F5202080ED4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FIA LABDATA . Copyright all rights reserved.</a:t>
            </a:r>
            <a:endParaRPr lang="pt-BR" dirty="0"/>
          </a:p>
        </p:txBody>
      </p:sp>
      <p:sp>
        <p:nvSpPr>
          <p:cNvPr id="1001" name="TextBox 1001"/>
          <p:cNvSpPr txBox="1"/>
          <p:nvPr/>
        </p:nvSpPr>
        <p:spPr>
          <a:xfrm>
            <a:off x="468506" y="1050000"/>
            <a:ext cx="16800000" cy="5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pt-BR" sz="1500" b="0" dirty="0">
                <a:solidFill>
                  <a:srgbClr val="FFFFFF"/>
                </a:solidFill>
                <a:latin typeface="Open Sans"/>
                <a:cs typeface="Open Sans"/>
              </a:rPr>
              <a:t>Produtores publicam mensagens em tópicos; consumidores leem dessas partições</a:t>
            </a:r>
          </a:p>
        </p:txBody>
      </p:sp>
      <p:sp>
        <p:nvSpPr>
          <p:cNvPr id="1002" name="Producer1 1002"/>
          <p:cNvSpPr/>
          <p:nvPr/>
        </p:nvSpPr>
        <p:spPr>
          <a:xfrm>
            <a:off x="838200" y="2725700"/>
            <a:ext cx="2696000" cy="1748000"/>
          </a:xfrm>
          <a:prstGeom prst="roundRect">
            <a:avLst>
              <a:gd name="adj" fmla="val 8"/>
            </a:avLst>
          </a:prstGeom>
          <a:solidFill>
            <a:srgbClr val="0E5B41"/>
          </a:solidFill>
          <a:ln w="19050">
            <a:solidFill>
              <a:srgbClr val="9AA79C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1003" name="TextBox 1003"/>
          <p:cNvSpPr txBox="1"/>
          <p:nvPr/>
        </p:nvSpPr>
        <p:spPr>
          <a:xfrm>
            <a:off x="838200" y="2725700"/>
            <a:ext cx="2696000" cy="1748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pt-BR" sz="1300" b="1" dirty="0">
                <a:solidFill>
                  <a:srgbClr val="FFFFFF"/>
                </a:solidFill>
                <a:latin typeface="Open Sans"/>
                <a:cs typeface="Open Sans"/>
              </a:rPr>
              <a:t>Producer</a:t>
            </a:r>
          </a:p>
        </p:txBody>
      </p:sp>
      <p:sp>
        <p:nvSpPr>
          <p:cNvPr id="1004" name="Producer2 1004"/>
          <p:cNvSpPr/>
          <p:nvPr/>
        </p:nvSpPr>
        <p:spPr>
          <a:xfrm>
            <a:off x="838200" y="4673700"/>
            <a:ext cx="2696000" cy="1748000"/>
          </a:xfrm>
          <a:prstGeom prst="roundRect">
            <a:avLst>
              <a:gd name="adj" fmla="val 8"/>
            </a:avLst>
          </a:prstGeom>
          <a:solidFill>
            <a:srgbClr val="0E5B41"/>
          </a:solidFill>
          <a:ln w="19050">
            <a:solidFill>
              <a:srgbClr val="9AA79C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1005" name="TextBox 1005"/>
          <p:cNvSpPr txBox="1"/>
          <p:nvPr/>
        </p:nvSpPr>
        <p:spPr>
          <a:xfrm>
            <a:off x="838200" y="4673700"/>
            <a:ext cx="2696000" cy="1748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pt-BR" sz="1300" b="1" dirty="0">
                <a:solidFill>
                  <a:srgbClr val="FFFFFF"/>
                </a:solidFill>
                <a:latin typeface="Open Sans"/>
                <a:cs typeface="Open Sans"/>
              </a:rPr>
              <a:t>Producer</a:t>
            </a:r>
          </a:p>
        </p:txBody>
      </p:sp>
      <p:sp>
        <p:nvSpPr>
          <p:cNvPr id="1006" name="Arrow 1006"/>
          <p:cNvSpPr/>
          <p:nvPr/>
        </p:nvSpPr>
        <p:spPr>
          <a:xfrm>
            <a:off x="3702700" y="4075700"/>
            <a:ext cx="1011000" cy="736000"/>
          </a:xfrm>
          <a:prstGeom prst="rightArrow">
            <a:avLst/>
          </a:prstGeom>
          <a:solidFill>
            <a:srgbClr val="C3FA75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007" name="TopicBox 1007"/>
          <p:cNvSpPr/>
          <p:nvPr/>
        </p:nvSpPr>
        <p:spPr>
          <a:xfrm>
            <a:off x="4882200" y="2143700"/>
            <a:ext cx="6740000" cy="4600000"/>
          </a:xfrm>
          <a:prstGeom prst="roundRect">
            <a:avLst>
              <a:gd name="adj" fmla="val 6"/>
            </a:avLst>
          </a:prstGeom>
          <a:solidFill>
            <a:srgbClr val="0A3D2C"/>
          </a:solidFill>
          <a:ln w="19050">
            <a:solidFill>
              <a:srgbClr val="9AA79C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1008" name="TextBox 1008"/>
          <p:cNvSpPr txBox="1"/>
          <p:nvPr/>
        </p:nvSpPr>
        <p:spPr>
          <a:xfrm>
            <a:off x="7138596" y="1658511"/>
            <a:ext cx="1899600" cy="530383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pt-BR" sz="2000" b="1" dirty="0">
                <a:solidFill>
                  <a:srgbClr val="C3FA75"/>
                </a:solidFill>
                <a:latin typeface="Open Sans"/>
                <a:cs typeface="Open Sans"/>
              </a:rPr>
              <a:t>BROKER</a:t>
            </a:r>
          </a:p>
        </p:txBody>
      </p:sp>
      <p:sp>
        <p:nvSpPr>
          <p:cNvPr id="1009" name="Partition0 1009"/>
          <p:cNvSpPr/>
          <p:nvPr/>
        </p:nvSpPr>
        <p:spPr>
          <a:xfrm>
            <a:off x="5526400" y="2957693"/>
            <a:ext cx="1217406" cy="736000"/>
          </a:xfrm>
          <a:prstGeom prst="roundRect">
            <a:avLst>
              <a:gd name="adj" fmla="val 25"/>
            </a:avLst>
          </a:prstGeom>
          <a:solidFill>
            <a:srgbClr val="155A41"/>
          </a:solidFill>
          <a:ln w="6350">
            <a:solidFill>
              <a:srgbClr val="C3FA75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1010" name="TextBox 1010"/>
          <p:cNvSpPr txBox="1"/>
          <p:nvPr/>
        </p:nvSpPr>
        <p:spPr>
          <a:xfrm>
            <a:off x="5626400" y="2957693"/>
            <a:ext cx="1175400" cy="736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pt-BR" sz="1600" b="0" dirty="0">
                <a:solidFill>
                  <a:srgbClr val="FFFFFF"/>
                </a:solidFill>
                <a:latin typeface="Open Sans"/>
                <a:cs typeface="Open Sans"/>
              </a:rPr>
              <a:t>Partição 0</a:t>
            </a:r>
          </a:p>
        </p:txBody>
      </p:sp>
      <p:sp>
        <p:nvSpPr>
          <p:cNvPr id="1011" name="Partition1 1011"/>
          <p:cNvSpPr/>
          <p:nvPr/>
        </p:nvSpPr>
        <p:spPr>
          <a:xfrm>
            <a:off x="5526400" y="3831693"/>
            <a:ext cx="1217406" cy="736000"/>
          </a:xfrm>
          <a:prstGeom prst="roundRect">
            <a:avLst>
              <a:gd name="adj" fmla="val 25"/>
            </a:avLst>
          </a:prstGeom>
          <a:solidFill>
            <a:srgbClr val="155A41"/>
          </a:solidFill>
          <a:ln w="6350">
            <a:solidFill>
              <a:srgbClr val="C3FA75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1012" name="TextBox 1012"/>
          <p:cNvSpPr txBox="1"/>
          <p:nvPr/>
        </p:nvSpPr>
        <p:spPr>
          <a:xfrm>
            <a:off x="5626400" y="3831693"/>
            <a:ext cx="1175400" cy="736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pt-BR" sz="1600" b="0" dirty="0">
                <a:solidFill>
                  <a:srgbClr val="FFFFFF"/>
                </a:solidFill>
                <a:latin typeface="Open Sans"/>
                <a:cs typeface="Open Sans"/>
              </a:rPr>
              <a:t>Partição 1</a:t>
            </a:r>
          </a:p>
        </p:txBody>
      </p:sp>
      <p:sp>
        <p:nvSpPr>
          <p:cNvPr id="1013" name="Partition2 1013"/>
          <p:cNvSpPr/>
          <p:nvPr/>
        </p:nvSpPr>
        <p:spPr>
          <a:xfrm>
            <a:off x="5526400" y="4705693"/>
            <a:ext cx="1217406" cy="736000"/>
          </a:xfrm>
          <a:prstGeom prst="roundRect">
            <a:avLst>
              <a:gd name="adj" fmla="val 25"/>
            </a:avLst>
          </a:prstGeom>
          <a:solidFill>
            <a:srgbClr val="155A41"/>
          </a:solidFill>
          <a:ln w="6350">
            <a:solidFill>
              <a:srgbClr val="C3FA75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1014" name="TextBox 1014"/>
          <p:cNvSpPr txBox="1"/>
          <p:nvPr/>
        </p:nvSpPr>
        <p:spPr>
          <a:xfrm>
            <a:off x="5626400" y="4705693"/>
            <a:ext cx="1175400" cy="736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pt-BR" sz="1600" b="0" dirty="0">
                <a:solidFill>
                  <a:srgbClr val="FFFFFF"/>
                </a:solidFill>
                <a:latin typeface="Open Sans"/>
                <a:cs typeface="Open Sans"/>
              </a:rPr>
              <a:t>Partição 2</a:t>
            </a:r>
          </a:p>
        </p:txBody>
      </p:sp>
      <p:sp>
        <p:nvSpPr>
          <p:cNvPr id="1015" name="Partition3 1015"/>
          <p:cNvSpPr/>
          <p:nvPr/>
        </p:nvSpPr>
        <p:spPr>
          <a:xfrm>
            <a:off x="5526400" y="5579693"/>
            <a:ext cx="1217406" cy="736000"/>
          </a:xfrm>
          <a:prstGeom prst="roundRect">
            <a:avLst>
              <a:gd name="adj" fmla="val 25"/>
            </a:avLst>
          </a:prstGeom>
          <a:solidFill>
            <a:srgbClr val="155A41"/>
          </a:solidFill>
          <a:ln w="6350">
            <a:solidFill>
              <a:srgbClr val="C3FA75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1016" name="TextBox 1016"/>
          <p:cNvSpPr txBox="1"/>
          <p:nvPr/>
        </p:nvSpPr>
        <p:spPr>
          <a:xfrm>
            <a:off x="5626400" y="5579693"/>
            <a:ext cx="1175400" cy="736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pt-BR" sz="1600" b="0" dirty="0">
                <a:solidFill>
                  <a:srgbClr val="FFFFFF"/>
                </a:solidFill>
                <a:latin typeface="Open Sans"/>
                <a:cs typeface="Open Sans"/>
              </a:rPr>
              <a:t>Partição 3</a:t>
            </a:r>
          </a:p>
        </p:txBody>
      </p:sp>
      <p:sp>
        <p:nvSpPr>
          <p:cNvPr id="1017" name="Arrow 1017"/>
          <p:cNvSpPr/>
          <p:nvPr/>
        </p:nvSpPr>
        <p:spPr>
          <a:xfrm>
            <a:off x="11790700" y="4075700"/>
            <a:ext cx="1011000" cy="736000"/>
          </a:xfrm>
          <a:prstGeom prst="rightArrow">
            <a:avLst/>
          </a:prstGeom>
          <a:solidFill>
            <a:srgbClr val="C3FA75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018" name="Consumer1 1018"/>
          <p:cNvSpPr/>
          <p:nvPr/>
        </p:nvSpPr>
        <p:spPr>
          <a:xfrm>
            <a:off x="12920200" y="2785477"/>
            <a:ext cx="4234933" cy="1748000"/>
          </a:xfrm>
          <a:prstGeom prst="roundRect">
            <a:avLst>
              <a:gd name="adj" fmla="val 8"/>
            </a:avLst>
          </a:prstGeom>
          <a:solidFill>
            <a:srgbClr val="0E5B41"/>
          </a:solidFill>
          <a:ln w="19050">
            <a:solidFill>
              <a:srgbClr val="9AA79C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1019" name="TextBox 1019"/>
          <p:cNvSpPr txBox="1"/>
          <p:nvPr/>
        </p:nvSpPr>
        <p:spPr>
          <a:xfrm>
            <a:off x="12920200" y="2785477"/>
            <a:ext cx="4234933" cy="1748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pt-BR" sz="1300" b="1" dirty="0">
                <a:solidFill>
                  <a:srgbClr val="FFFFFF"/>
                </a:solidFill>
                <a:latin typeface="Open Sans"/>
                <a:cs typeface="Open Sans"/>
              </a:rPr>
              <a:t>Consumer</a:t>
            </a:r>
          </a:p>
        </p:txBody>
      </p:sp>
      <p:sp>
        <p:nvSpPr>
          <p:cNvPr id="1020" name="Consumer2 1020"/>
          <p:cNvSpPr/>
          <p:nvPr/>
        </p:nvSpPr>
        <p:spPr>
          <a:xfrm>
            <a:off x="12920200" y="4876045"/>
            <a:ext cx="4234933" cy="1748000"/>
          </a:xfrm>
          <a:prstGeom prst="roundRect">
            <a:avLst>
              <a:gd name="adj" fmla="val 8"/>
            </a:avLst>
          </a:prstGeom>
          <a:solidFill>
            <a:srgbClr val="0E5B41"/>
          </a:solidFill>
          <a:ln w="19050">
            <a:solidFill>
              <a:srgbClr val="9AA79C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1021" name="TextBox 1021"/>
          <p:cNvSpPr txBox="1"/>
          <p:nvPr/>
        </p:nvSpPr>
        <p:spPr>
          <a:xfrm>
            <a:off x="12920200" y="4876045"/>
            <a:ext cx="4234933" cy="1748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pt-BR" sz="1300" b="1" dirty="0">
                <a:solidFill>
                  <a:srgbClr val="FFFFFF"/>
                </a:solidFill>
                <a:latin typeface="Open Sans"/>
                <a:cs typeface="Open Sans"/>
              </a:rPr>
              <a:t>Consumer</a:t>
            </a:r>
          </a:p>
        </p:txBody>
      </p:sp>
      <p:sp>
        <p:nvSpPr>
          <p:cNvPr id="1022" name="TextBox 1022"/>
          <p:cNvSpPr txBox="1"/>
          <p:nvPr/>
        </p:nvSpPr>
        <p:spPr>
          <a:xfrm>
            <a:off x="468506" y="6950000"/>
            <a:ext cx="16850000" cy="35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lang="pt-BR" sz="1200" b="0" i="1" dirty="0">
                <a:solidFill>
                  <a:srgbClr val="9AA79C"/>
                </a:solidFill>
                <a:latin typeface="Open Sans"/>
                <a:cs typeface="Open Sans"/>
              </a:rPr>
              <a:t>Cluster Kafka</a:t>
            </a:r>
          </a:p>
        </p:txBody>
      </p:sp>
      <p:sp>
        <p:nvSpPr>
          <p:cNvPr id="1023" name="ArchNote 1023"/>
          <p:cNvSpPr/>
          <p:nvPr/>
        </p:nvSpPr>
        <p:spPr>
          <a:xfrm>
            <a:off x="468506" y="7500000"/>
            <a:ext cx="16850000" cy="1500000"/>
          </a:xfrm>
          <a:prstGeom prst="roundRect">
            <a:avLst>
              <a:gd name="adj" fmla="val 6"/>
            </a:avLst>
          </a:prstGeom>
          <a:solidFill>
            <a:srgbClr val="142D59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024" name="BulletList 1024"/>
          <p:cNvSpPr txBox="1"/>
          <p:nvPr/>
        </p:nvSpPr>
        <p:spPr>
          <a:xfrm>
            <a:off x="750000" y="7700000"/>
            <a:ext cx="16300000" cy="12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342900" indent="-342900">
              <a:lnSpc>
                <a:spcPts val="2000"/>
              </a:lnSpc>
              <a:spcBef>
                <a:spcPts val="0"/>
              </a:spcBef>
              <a:spcAft>
                <a:spcPts val="800"/>
              </a:spcAft>
              <a:buClr>
                <a:srgbClr val="C3FA75"/>
              </a:buClr>
              <a:buFont typeface="Arial"/>
              <a:buChar char="•"/>
            </a:pPr>
            <a:r>
              <a:rPr lang="pt-BR" sz="1600" dirty="0">
                <a:solidFill>
                  <a:srgbClr val="FFFFFF"/>
                </a:solidFill>
                <a:latin typeface="Open Sans"/>
                <a:cs typeface="Open Sans"/>
              </a:rPr>
              <a:t>Producers enviam mensagens; Consumers leem — nunca se comunicam diretamente entre si.</a:t>
            </a:r>
          </a:p>
          <a:p>
            <a:pPr marL="342900" indent="-342900">
              <a:lnSpc>
                <a:spcPts val="2000"/>
              </a:lnSpc>
              <a:spcBef>
                <a:spcPts val="0"/>
              </a:spcBef>
              <a:spcAft>
                <a:spcPts val="800"/>
              </a:spcAft>
              <a:buClr>
                <a:srgbClr val="C3FA75"/>
              </a:buClr>
              <a:buFont typeface="Arial"/>
              <a:buChar char="•"/>
            </a:pPr>
            <a:r>
              <a:rPr lang="pt-BR" sz="1600" dirty="0">
                <a:solidFill>
                  <a:srgbClr val="FFFFFF"/>
                </a:solidFill>
                <a:latin typeface="Open Sans"/>
                <a:cs typeface="Open Sans"/>
              </a:rPr>
              <a:t>O Broker (servidor Kafka) armazena as partições do tópico e serve as leituras/gravações.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757E257-C9BB-446C-5FAE-AECACF5C84DD}"/>
              </a:ext>
            </a:extLst>
          </p:cNvPr>
          <p:cNvSpPr txBox="1"/>
          <p:nvPr/>
        </p:nvSpPr>
        <p:spPr>
          <a:xfrm>
            <a:off x="468506" y="495300"/>
            <a:ext cx="17350987" cy="307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pt-BR" sz="2000" b="1" dirty="0">
                <a:solidFill>
                  <a:srgbClr val="084734"/>
                </a:solidFill>
                <a:latin typeface="DM Sans"/>
              </a:rPr>
              <a:t>KAFKA | 3.  ARQUITETURA PADRÃO</a:t>
            </a:r>
          </a:p>
        </p:txBody>
      </p:sp>
      <p:sp>
        <p:nvSpPr>
          <p:cNvPr id="2" name="Partition0 1009">
            <a:extLst>
              <a:ext uri="{FF2B5EF4-FFF2-40B4-BE49-F238E27FC236}">
                <a16:creationId xmlns:a16="http://schemas.microsoft.com/office/drawing/2014/main" id="{7B272BF4-1960-8EB4-1435-351821D856DC}"/>
              </a:ext>
            </a:extLst>
          </p:cNvPr>
          <p:cNvSpPr/>
          <p:nvPr/>
        </p:nvSpPr>
        <p:spPr>
          <a:xfrm>
            <a:off x="5334000" y="2785476"/>
            <a:ext cx="1600200" cy="3636223"/>
          </a:xfrm>
          <a:prstGeom prst="roundRect">
            <a:avLst>
              <a:gd name="adj" fmla="val 25"/>
            </a:avLst>
          </a:prstGeom>
          <a:noFill/>
          <a:ln w="6350">
            <a:solidFill>
              <a:srgbClr val="C3FA75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3" name="TextBox 1010">
            <a:extLst>
              <a:ext uri="{FF2B5EF4-FFF2-40B4-BE49-F238E27FC236}">
                <a16:creationId xmlns:a16="http://schemas.microsoft.com/office/drawing/2014/main" id="{311D9D8D-EB21-D196-638B-72086727F4A7}"/>
              </a:ext>
            </a:extLst>
          </p:cNvPr>
          <p:cNvSpPr txBox="1"/>
          <p:nvPr/>
        </p:nvSpPr>
        <p:spPr>
          <a:xfrm>
            <a:off x="5546400" y="2337955"/>
            <a:ext cx="1175400" cy="42777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pt-BR" sz="1600" b="1" dirty="0">
                <a:solidFill>
                  <a:srgbClr val="FFFFFF"/>
                </a:solidFill>
                <a:latin typeface="Open Sans"/>
                <a:cs typeface="Open Sans"/>
              </a:rPr>
              <a:t>TÓPICO 1</a:t>
            </a:r>
          </a:p>
        </p:txBody>
      </p:sp>
      <p:sp>
        <p:nvSpPr>
          <p:cNvPr id="4" name="Partition0 1009">
            <a:extLst>
              <a:ext uri="{FF2B5EF4-FFF2-40B4-BE49-F238E27FC236}">
                <a16:creationId xmlns:a16="http://schemas.microsoft.com/office/drawing/2014/main" id="{77669F92-1F55-5F8F-BC30-1A6FB613F69E}"/>
              </a:ext>
            </a:extLst>
          </p:cNvPr>
          <p:cNvSpPr/>
          <p:nvPr/>
        </p:nvSpPr>
        <p:spPr>
          <a:xfrm>
            <a:off x="7507600" y="2957693"/>
            <a:ext cx="1217406" cy="736000"/>
          </a:xfrm>
          <a:prstGeom prst="roundRect">
            <a:avLst>
              <a:gd name="adj" fmla="val 25"/>
            </a:avLst>
          </a:prstGeom>
          <a:solidFill>
            <a:srgbClr val="155A41"/>
          </a:solidFill>
          <a:ln w="6350">
            <a:solidFill>
              <a:srgbClr val="C3FA75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5" name="TextBox 1010">
            <a:extLst>
              <a:ext uri="{FF2B5EF4-FFF2-40B4-BE49-F238E27FC236}">
                <a16:creationId xmlns:a16="http://schemas.microsoft.com/office/drawing/2014/main" id="{F24D4997-9AE1-94AF-8720-3E7CCA3638C8}"/>
              </a:ext>
            </a:extLst>
          </p:cNvPr>
          <p:cNvSpPr txBox="1"/>
          <p:nvPr/>
        </p:nvSpPr>
        <p:spPr>
          <a:xfrm>
            <a:off x="7607600" y="2957693"/>
            <a:ext cx="1175400" cy="736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pt-BR" sz="1600" b="0" dirty="0">
                <a:solidFill>
                  <a:srgbClr val="FFFFFF"/>
                </a:solidFill>
                <a:latin typeface="Open Sans"/>
                <a:cs typeface="Open Sans"/>
              </a:rPr>
              <a:t>Partição 0</a:t>
            </a:r>
          </a:p>
        </p:txBody>
      </p:sp>
      <p:sp>
        <p:nvSpPr>
          <p:cNvPr id="7" name="Partition1 1011">
            <a:extLst>
              <a:ext uri="{FF2B5EF4-FFF2-40B4-BE49-F238E27FC236}">
                <a16:creationId xmlns:a16="http://schemas.microsoft.com/office/drawing/2014/main" id="{6503ED44-8191-5C94-8F6D-BF9870329E4F}"/>
              </a:ext>
            </a:extLst>
          </p:cNvPr>
          <p:cNvSpPr/>
          <p:nvPr/>
        </p:nvSpPr>
        <p:spPr>
          <a:xfrm>
            <a:off x="7507600" y="3831693"/>
            <a:ext cx="1217406" cy="736000"/>
          </a:xfrm>
          <a:prstGeom prst="roundRect">
            <a:avLst>
              <a:gd name="adj" fmla="val 25"/>
            </a:avLst>
          </a:prstGeom>
          <a:solidFill>
            <a:srgbClr val="155A41"/>
          </a:solidFill>
          <a:ln w="6350">
            <a:solidFill>
              <a:srgbClr val="C3FA75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9" name="TextBox 1012">
            <a:extLst>
              <a:ext uri="{FF2B5EF4-FFF2-40B4-BE49-F238E27FC236}">
                <a16:creationId xmlns:a16="http://schemas.microsoft.com/office/drawing/2014/main" id="{804C30E2-3537-57BC-DC4E-64C6094B79C3}"/>
              </a:ext>
            </a:extLst>
          </p:cNvPr>
          <p:cNvSpPr txBox="1"/>
          <p:nvPr/>
        </p:nvSpPr>
        <p:spPr>
          <a:xfrm>
            <a:off x="7607600" y="3831693"/>
            <a:ext cx="1175400" cy="736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pt-BR" sz="1600" b="0" dirty="0">
                <a:solidFill>
                  <a:srgbClr val="FFFFFF"/>
                </a:solidFill>
                <a:latin typeface="Open Sans"/>
                <a:cs typeface="Open Sans"/>
              </a:rPr>
              <a:t>Partição 1</a:t>
            </a:r>
          </a:p>
        </p:txBody>
      </p:sp>
      <p:sp>
        <p:nvSpPr>
          <p:cNvPr id="11" name="Partition2 1013">
            <a:extLst>
              <a:ext uri="{FF2B5EF4-FFF2-40B4-BE49-F238E27FC236}">
                <a16:creationId xmlns:a16="http://schemas.microsoft.com/office/drawing/2014/main" id="{FA3B2C78-B2EB-0192-1C08-E4EFDC907D87}"/>
              </a:ext>
            </a:extLst>
          </p:cNvPr>
          <p:cNvSpPr/>
          <p:nvPr/>
        </p:nvSpPr>
        <p:spPr>
          <a:xfrm>
            <a:off x="7507600" y="4705693"/>
            <a:ext cx="1217406" cy="736000"/>
          </a:xfrm>
          <a:prstGeom prst="roundRect">
            <a:avLst>
              <a:gd name="adj" fmla="val 25"/>
            </a:avLst>
          </a:prstGeom>
          <a:solidFill>
            <a:srgbClr val="155A41"/>
          </a:solidFill>
          <a:ln w="6350">
            <a:solidFill>
              <a:srgbClr val="C3FA75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Box 1014">
            <a:extLst>
              <a:ext uri="{FF2B5EF4-FFF2-40B4-BE49-F238E27FC236}">
                <a16:creationId xmlns:a16="http://schemas.microsoft.com/office/drawing/2014/main" id="{15ADF8F3-FAF8-5D3A-19D1-443A602B9A4C}"/>
              </a:ext>
            </a:extLst>
          </p:cNvPr>
          <p:cNvSpPr txBox="1"/>
          <p:nvPr/>
        </p:nvSpPr>
        <p:spPr>
          <a:xfrm>
            <a:off x="7607600" y="4705693"/>
            <a:ext cx="1175400" cy="736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pt-BR" sz="1600" b="0" dirty="0">
                <a:solidFill>
                  <a:srgbClr val="FFFFFF"/>
                </a:solidFill>
                <a:latin typeface="Open Sans"/>
                <a:cs typeface="Open Sans"/>
              </a:rPr>
              <a:t>Partição 2</a:t>
            </a:r>
          </a:p>
        </p:txBody>
      </p:sp>
      <p:sp>
        <p:nvSpPr>
          <p:cNvPr id="13" name="Partition3 1015">
            <a:extLst>
              <a:ext uri="{FF2B5EF4-FFF2-40B4-BE49-F238E27FC236}">
                <a16:creationId xmlns:a16="http://schemas.microsoft.com/office/drawing/2014/main" id="{50A86190-7C74-1CB1-4501-E804AD532427}"/>
              </a:ext>
            </a:extLst>
          </p:cNvPr>
          <p:cNvSpPr/>
          <p:nvPr/>
        </p:nvSpPr>
        <p:spPr>
          <a:xfrm>
            <a:off x="7507600" y="5579693"/>
            <a:ext cx="1217406" cy="736000"/>
          </a:xfrm>
          <a:prstGeom prst="roundRect">
            <a:avLst>
              <a:gd name="adj" fmla="val 25"/>
            </a:avLst>
          </a:prstGeom>
          <a:solidFill>
            <a:srgbClr val="155A41"/>
          </a:solidFill>
          <a:ln w="6350">
            <a:solidFill>
              <a:srgbClr val="C3FA75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Box 1016">
            <a:extLst>
              <a:ext uri="{FF2B5EF4-FFF2-40B4-BE49-F238E27FC236}">
                <a16:creationId xmlns:a16="http://schemas.microsoft.com/office/drawing/2014/main" id="{26D3C2D1-E984-08BC-BA9B-631CBF2C9D06}"/>
              </a:ext>
            </a:extLst>
          </p:cNvPr>
          <p:cNvSpPr txBox="1"/>
          <p:nvPr/>
        </p:nvSpPr>
        <p:spPr>
          <a:xfrm>
            <a:off x="7607600" y="5579693"/>
            <a:ext cx="1175400" cy="736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pt-BR" sz="1600" b="0" dirty="0">
                <a:solidFill>
                  <a:srgbClr val="FFFFFF"/>
                </a:solidFill>
                <a:latin typeface="Open Sans"/>
                <a:cs typeface="Open Sans"/>
              </a:rPr>
              <a:t>Partição 3</a:t>
            </a:r>
          </a:p>
        </p:txBody>
      </p:sp>
      <p:sp>
        <p:nvSpPr>
          <p:cNvPr id="15" name="Partition0 1009">
            <a:extLst>
              <a:ext uri="{FF2B5EF4-FFF2-40B4-BE49-F238E27FC236}">
                <a16:creationId xmlns:a16="http://schemas.microsoft.com/office/drawing/2014/main" id="{8BE13D84-0CCD-FC87-4647-DD59BBD83D4D}"/>
              </a:ext>
            </a:extLst>
          </p:cNvPr>
          <p:cNvSpPr/>
          <p:nvPr/>
        </p:nvSpPr>
        <p:spPr>
          <a:xfrm>
            <a:off x="7315200" y="2785476"/>
            <a:ext cx="1600200" cy="3636223"/>
          </a:xfrm>
          <a:prstGeom prst="roundRect">
            <a:avLst>
              <a:gd name="adj" fmla="val 25"/>
            </a:avLst>
          </a:prstGeom>
          <a:noFill/>
          <a:ln w="6350">
            <a:solidFill>
              <a:srgbClr val="C3FA75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Box 1010">
            <a:extLst>
              <a:ext uri="{FF2B5EF4-FFF2-40B4-BE49-F238E27FC236}">
                <a16:creationId xmlns:a16="http://schemas.microsoft.com/office/drawing/2014/main" id="{7B7B1405-596D-1B91-2599-4E688945F592}"/>
              </a:ext>
            </a:extLst>
          </p:cNvPr>
          <p:cNvSpPr txBox="1"/>
          <p:nvPr/>
        </p:nvSpPr>
        <p:spPr>
          <a:xfrm>
            <a:off x="7527600" y="2337955"/>
            <a:ext cx="1175400" cy="42777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pt-BR" sz="1600" b="1" dirty="0">
                <a:solidFill>
                  <a:srgbClr val="FFFFFF"/>
                </a:solidFill>
                <a:latin typeface="Open Sans"/>
                <a:cs typeface="Open Sans"/>
              </a:rPr>
              <a:t>TÓPICO 2</a:t>
            </a:r>
          </a:p>
        </p:txBody>
      </p:sp>
      <p:sp>
        <p:nvSpPr>
          <p:cNvPr id="17" name="Partition0 1009">
            <a:extLst>
              <a:ext uri="{FF2B5EF4-FFF2-40B4-BE49-F238E27FC236}">
                <a16:creationId xmlns:a16="http://schemas.microsoft.com/office/drawing/2014/main" id="{2555E11F-E5D2-FF14-E205-422003CAD6AD}"/>
              </a:ext>
            </a:extLst>
          </p:cNvPr>
          <p:cNvSpPr/>
          <p:nvPr/>
        </p:nvSpPr>
        <p:spPr>
          <a:xfrm>
            <a:off x="9717400" y="2957693"/>
            <a:ext cx="1217406" cy="736000"/>
          </a:xfrm>
          <a:prstGeom prst="roundRect">
            <a:avLst>
              <a:gd name="adj" fmla="val 25"/>
            </a:avLst>
          </a:prstGeom>
          <a:solidFill>
            <a:srgbClr val="155A41"/>
          </a:solidFill>
          <a:ln w="6350">
            <a:solidFill>
              <a:srgbClr val="C3FA75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Box 1010">
            <a:extLst>
              <a:ext uri="{FF2B5EF4-FFF2-40B4-BE49-F238E27FC236}">
                <a16:creationId xmlns:a16="http://schemas.microsoft.com/office/drawing/2014/main" id="{F43D3194-531A-5224-C8EA-2DCA5D3CF953}"/>
              </a:ext>
            </a:extLst>
          </p:cNvPr>
          <p:cNvSpPr txBox="1"/>
          <p:nvPr/>
        </p:nvSpPr>
        <p:spPr>
          <a:xfrm>
            <a:off x="9817400" y="2957693"/>
            <a:ext cx="1175400" cy="736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pt-BR" sz="1600" b="0" dirty="0">
                <a:solidFill>
                  <a:srgbClr val="FFFFFF"/>
                </a:solidFill>
                <a:latin typeface="Open Sans"/>
                <a:cs typeface="Open Sans"/>
              </a:rPr>
              <a:t>Partição 0</a:t>
            </a:r>
          </a:p>
        </p:txBody>
      </p:sp>
      <p:sp>
        <p:nvSpPr>
          <p:cNvPr id="19" name="Partition1 1011">
            <a:extLst>
              <a:ext uri="{FF2B5EF4-FFF2-40B4-BE49-F238E27FC236}">
                <a16:creationId xmlns:a16="http://schemas.microsoft.com/office/drawing/2014/main" id="{FBC45259-83C7-1A58-2B15-D494D0743301}"/>
              </a:ext>
            </a:extLst>
          </p:cNvPr>
          <p:cNvSpPr/>
          <p:nvPr/>
        </p:nvSpPr>
        <p:spPr>
          <a:xfrm>
            <a:off x="9717400" y="3831693"/>
            <a:ext cx="1217406" cy="736000"/>
          </a:xfrm>
          <a:prstGeom prst="roundRect">
            <a:avLst>
              <a:gd name="adj" fmla="val 25"/>
            </a:avLst>
          </a:prstGeom>
          <a:solidFill>
            <a:srgbClr val="155A41"/>
          </a:solidFill>
          <a:ln w="6350">
            <a:solidFill>
              <a:srgbClr val="C3FA75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Box 1012">
            <a:extLst>
              <a:ext uri="{FF2B5EF4-FFF2-40B4-BE49-F238E27FC236}">
                <a16:creationId xmlns:a16="http://schemas.microsoft.com/office/drawing/2014/main" id="{3910CAB7-EC18-A02D-D3A5-B12419355D26}"/>
              </a:ext>
            </a:extLst>
          </p:cNvPr>
          <p:cNvSpPr txBox="1"/>
          <p:nvPr/>
        </p:nvSpPr>
        <p:spPr>
          <a:xfrm>
            <a:off x="9817400" y="3831693"/>
            <a:ext cx="1175400" cy="736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pt-BR" sz="1600" b="0" dirty="0">
                <a:solidFill>
                  <a:srgbClr val="FFFFFF"/>
                </a:solidFill>
                <a:latin typeface="Open Sans"/>
                <a:cs typeface="Open Sans"/>
              </a:rPr>
              <a:t>Partição 1</a:t>
            </a:r>
          </a:p>
        </p:txBody>
      </p:sp>
      <p:sp>
        <p:nvSpPr>
          <p:cNvPr id="21" name="Partition2 1013">
            <a:extLst>
              <a:ext uri="{FF2B5EF4-FFF2-40B4-BE49-F238E27FC236}">
                <a16:creationId xmlns:a16="http://schemas.microsoft.com/office/drawing/2014/main" id="{41384059-C478-A6D1-2275-935C6F2B29BE}"/>
              </a:ext>
            </a:extLst>
          </p:cNvPr>
          <p:cNvSpPr/>
          <p:nvPr/>
        </p:nvSpPr>
        <p:spPr>
          <a:xfrm>
            <a:off x="9717400" y="4705693"/>
            <a:ext cx="1217406" cy="736000"/>
          </a:xfrm>
          <a:prstGeom prst="roundRect">
            <a:avLst>
              <a:gd name="adj" fmla="val 25"/>
            </a:avLst>
          </a:prstGeom>
          <a:solidFill>
            <a:srgbClr val="155A41"/>
          </a:solidFill>
          <a:ln w="6350">
            <a:solidFill>
              <a:srgbClr val="C3FA75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Box 1014">
            <a:extLst>
              <a:ext uri="{FF2B5EF4-FFF2-40B4-BE49-F238E27FC236}">
                <a16:creationId xmlns:a16="http://schemas.microsoft.com/office/drawing/2014/main" id="{E444AA18-DF0A-0913-00B0-0E27E6EF6E8F}"/>
              </a:ext>
            </a:extLst>
          </p:cNvPr>
          <p:cNvSpPr txBox="1"/>
          <p:nvPr/>
        </p:nvSpPr>
        <p:spPr>
          <a:xfrm>
            <a:off x="9817400" y="4705693"/>
            <a:ext cx="1175400" cy="736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pt-BR" sz="1600" b="0" dirty="0">
                <a:solidFill>
                  <a:srgbClr val="FFFFFF"/>
                </a:solidFill>
                <a:latin typeface="Open Sans"/>
                <a:cs typeface="Open Sans"/>
              </a:rPr>
              <a:t>Partição 2</a:t>
            </a:r>
          </a:p>
        </p:txBody>
      </p:sp>
      <p:sp>
        <p:nvSpPr>
          <p:cNvPr id="23" name="Partition3 1015">
            <a:extLst>
              <a:ext uri="{FF2B5EF4-FFF2-40B4-BE49-F238E27FC236}">
                <a16:creationId xmlns:a16="http://schemas.microsoft.com/office/drawing/2014/main" id="{5B871E95-A7A9-93E2-D5C8-433D2CB7B3B3}"/>
              </a:ext>
            </a:extLst>
          </p:cNvPr>
          <p:cNvSpPr/>
          <p:nvPr/>
        </p:nvSpPr>
        <p:spPr>
          <a:xfrm>
            <a:off x="9717400" y="5579693"/>
            <a:ext cx="1217406" cy="736000"/>
          </a:xfrm>
          <a:prstGeom prst="roundRect">
            <a:avLst>
              <a:gd name="adj" fmla="val 25"/>
            </a:avLst>
          </a:prstGeom>
          <a:solidFill>
            <a:srgbClr val="155A41"/>
          </a:solidFill>
          <a:ln w="6350">
            <a:solidFill>
              <a:srgbClr val="C3FA75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24" name="TextBox 1016">
            <a:extLst>
              <a:ext uri="{FF2B5EF4-FFF2-40B4-BE49-F238E27FC236}">
                <a16:creationId xmlns:a16="http://schemas.microsoft.com/office/drawing/2014/main" id="{CB7F4711-D82F-30B3-45DD-6509F7C26D53}"/>
              </a:ext>
            </a:extLst>
          </p:cNvPr>
          <p:cNvSpPr txBox="1"/>
          <p:nvPr/>
        </p:nvSpPr>
        <p:spPr>
          <a:xfrm>
            <a:off x="9817400" y="5579693"/>
            <a:ext cx="1175400" cy="736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pt-BR" sz="1600" b="0" dirty="0">
                <a:solidFill>
                  <a:srgbClr val="FFFFFF"/>
                </a:solidFill>
                <a:latin typeface="Open Sans"/>
                <a:cs typeface="Open Sans"/>
              </a:rPr>
              <a:t>Partição 3</a:t>
            </a:r>
          </a:p>
        </p:txBody>
      </p:sp>
      <p:sp>
        <p:nvSpPr>
          <p:cNvPr id="25" name="Partition0 1009">
            <a:extLst>
              <a:ext uri="{FF2B5EF4-FFF2-40B4-BE49-F238E27FC236}">
                <a16:creationId xmlns:a16="http://schemas.microsoft.com/office/drawing/2014/main" id="{CA23B56A-AC2B-ED31-CA3F-B013F134BC72}"/>
              </a:ext>
            </a:extLst>
          </p:cNvPr>
          <p:cNvSpPr/>
          <p:nvPr/>
        </p:nvSpPr>
        <p:spPr>
          <a:xfrm>
            <a:off x="9525000" y="2785476"/>
            <a:ext cx="1600200" cy="3636223"/>
          </a:xfrm>
          <a:prstGeom prst="roundRect">
            <a:avLst>
              <a:gd name="adj" fmla="val 25"/>
            </a:avLst>
          </a:prstGeom>
          <a:noFill/>
          <a:ln w="6350">
            <a:solidFill>
              <a:srgbClr val="C3FA75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26" name="TextBox 1010">
            <a:extLst>
              <a:ext uri="{FF2B5EF4-FFF2-40B4-BE49-F238E27FC236}">
                <a16:creationId xmlns:a16="http://schemas.microsoft.com/office/drawing/2014/main" id="{77B9338A-DF07-8D70-0F7A-5D185D6A5759}"/>
              </a:ext>
            </a:extLst>
          </p:cNvPr>
          <p:cNvSpPr txBox="1"/>
          <p:nvPr/>
        </p:nvSpPr>
        <p:spPr>
          <a:xfrm>
            <a:off x="9737400" y="2337955"/>
            <a:ext cx="1175400" cy="42777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pt-BR" sz="1600" b="1" dirty="0">
                <a:solidFill>
                  <a:srgbClr val="FFFFFF"/>
                </a:solidFill>
                <a:latin typeface="Open Sans"/>
                <a:cs typeface="Open Sans"/>
              </a:rPr>
              <a:t>TÓPICO 3</a:t>
            </a:r>
          </a:p>
        </p:txBody>
      </p:sp>
    </p:spTree>
    <p:extLst>
      <p:ext uri="{BB962C8B-B14F-4D97-AF65-F5344CB8AC3E}">
        <p14:creationId xmlns:p14="http://schemas.microsoft.com/office/powerpoint/2010/main" val="14075251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9BC9B4-CD2E-7315-E6EC-AEE2964348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8">
            <a:extLst>
              <a:ext uri="{FF2B5EF4-FFF2-40B4-BE49-F238E27FC236}">
                <a16:creationId xmlns:a16="http://schemas.microsoft.com/office/drawing/2014/main" id="{436209BC-E2A5-880C-EFC0-5BD814B04AB0}"/>
              </a:ext>
            </a:extLst>
          </p:cNvPr>
          <p:cNvSpPr txBox="1"/>
          <p:nvPr/>
        </p:nvSpPr>
        <p:spPr>
          <a:xfrm>
            <a:off x="17870475" y="9762665"/>
            <a:ext cx="198773" cy="428194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 dirty="0">
                <a:solidFill>
                  <a:srgbClr val="C3FA75"/>
                </a:solidFill>
                <a:latin typeface="DM Sans 1"/>
                <a:ea typeface="DM Sans 1"/>
                <a:cs typeface="DM Sans 1"/>
                <a:sym typeface="DM Sans 1"/>
              </a:rPr>
              <a:t>11</a:t>
            </a:r>
          </a:p>
        </p:txBody>
      </p:sp>
      <p:sp>
        <p:nvSpPr>
          <p:cNvPr id="10" name="Espaço Reservado para Rodapé 9">
            <a:extLst>
              <a:ext uri="{FF2B5EF4-FFF2-40B4-BE49-F238E27FC236}">
                <a16:creationId xmlns:a16="http://schemas.microsoft.com/office/drawing/2014/main" id="{551AF76A-5214-D5C9-0E08-F5202080ED4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FIA LABDATA . Copyright all rights reserved.</a:t>
            </a:r>
            <a:endParaRPr lang="pt-BR" dirty="0"/>
          </a:p>
        </p:txBody>
      </p:sp>
      <p:sp>
        <p:nvSpPr>
          <p:cNvPr id="1021" name="TextBox 1021"/>
          <p:cNvSpPr txBox="1"/>
          <p:nvPr/>
        </p:nvSpPr>
        <p:spPr>
          <a:xfrm>
            <a:off x="652200" y="5610085"/>
            <a:ext cx="12000000" cy="45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pt-BR" sz="1600" b="1" dirty="0">
                <a:solidFill>
                  <a:srgbClr val="FFFFFF"/>
                </a:solidFill>
                <a:latin typeface="Open Sans"/>
                <a:cs typeface="Open Sans"/>
              </a:rPr>
              <a:t>Responsável por enviar as mensagens, considerando:</a:t>
            </a:r>
          </a:p>
        </p:txBody>
      </p:sp>
      <p:sp>
        <p:nvSpPr>
          <p:cNvPr id="1022" name="ProdCard0 1022"/>
          <p:cNvSpPr/>
          <p:nvPr/>
        </p:nvSpPr>
        <p:spPr>
          <a:xfrm>
            <a:off x="652200" y="6210085"/>
            <a:ext cx="5550000" cy="2574388"/>
          </a:xfrm>
          <a:prstGeom prst="roundRect">
            <a:avLst>
              <a:gd name="adj" fmla="val 6"/>
            </a:avLst>
          </a:prstGeom>
          <a:solidFill>
            <a:srgbClr val="0E5B41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023" name="TextBox 1023"/>
          <p:cNvSpPr txBox="1"/>
          <p:nvPr/>
        </p:nvSpPr>
        <p:spPr>
          <a:xfrm>
            <a:off x="952200" y="6460085"/>
            <a:ext cx="4950000" cy="5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pt-BR" b="1" dirty="0">
                <a:solidFill>
                  <a:srgbClr val="C3FA75"/>
                </a:solidFill>
                <a:latin typeface="Open Sans"/>
                <a:cs typeface="Open Sans"/>
              </a:rPr>
              <a:t>Identificação</a:t>
            </a:r>
          </a:p>
        </p:txBody>
      </p:sp>
      <p:sp>
        <p:nvSpPr>
          <p:cNvPr id="1024" name="TextBox 1024"/>
          <p:cNvSpPr txBox="1"/>
          <p:nvPr/>
        </p:nvSpPr>
        <p:spPr>
          <a:xfrm>
            <a:off x="952200" y="7060085"/>
            <a:ext cx="4950000" cy="181721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pt-BR" b="0" dirty="0">
                <a:solidFill>
                  <a:srgbClr val="FFFFFF"/>
                </a:solidFill>
                <a:latin typeface="Open Sans"/>
                <a:cs typeface="Open Sans"/>
              </a:rPr>
              <a:t>Cada mensagem pode carregar uma chave (key) que identifica sua origem ou entidade.</a:t>
            </a:r>
          </a:p>
        </p:txBody>
      </p:sp>
      <p:sp>
        <p:nvSpPr>
          <p:cNvPr id="1025" name="ProdCard1 1025"/>
          <p:cNvSpPr/>
          <p:nvPr/>
        </p:nvSpPr>
        <p:spPr>
          <a:xfrm>
            <a:off x="6352200" y="6210085"/>
            <a:ext cx="5550000" cy="2574388"/>
          </a:xfrm>
          <a:prstGeom prst="roundRect">
            <a:avLst>
              <a:gd name="adj" fmla="val 6"/>
            </a:avLst>
          </a:prstGeom>
          <a:solidFill>
            <a:srgbClr val="0E5B41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026" name="TextBox 1026"/>
          <p:cNvSpPr txBox="1"/>
          <p:nvPr/>
        </p:nvSpPr>
        <p:spPr>
          <a:xfrm>
            <a:off x="6652200" y="6460085"/>
            <a:ext cx="4950000" cy="5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pt-BR" b="1" dirty="0">
                <a:solidFill>
                  <a:srgbClr val="C3FA75"/>
                </a:solidFill>
                <a:latin typeface="Open Sans"/>
                <a:cs typeface="Open Sans"/>
              </a:rPr>
              <a:t>Chave (Key)</a:t>
            </a:r>
          </a:p>
        </p:txBody>
      </p:sp>
      <p:sp>
        <p:nvSpPr>
          <p:cNvPr id="1027" name="TextBox 1027"/>
          <p:cNvSpPr txBox="1"/>
          <p:nvPr/>
        </p:nvSpPr>
        <p:spPr>
          <a:xfrm>
            <a:off x="6652200" y="7060085"/>
            <a:ext cx="4950000" cy="181721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pt-BR" b="0" dirty="0">
                <a:solidFill>
                  <a:srgbClr val="FFFFFF"/>
                </a:solidFill>
                <a:latin typeface="Open Sans"/>
                <a:cs typeface="Open Sans"/>
              </a:rPr>
              <a:t>Mensagens com a mesma chave são sempre roteadas para a mesma partição, preservando a ordem.</a:t>
            </a:r>
          </a:p>
        </p:txBody>
      </p:sp>
      <p:sp>
        <p:nvSpPr>
          <p:cNvPr id="1028" name="ProdCard2 1028"/>
          <p:cNvSpPr/>
          <p:nvPr/>
        </p:nvSpPr>
        <p:spPr>
          <a:xfrm>
            <a:off x="12052200" y="6210085"/>
            <a:ext cx="5550000" cy="2574388"/>
          </a:xfrm>
          <a:prstGeom prst="roundRect">
            <a:avLst>
              <a:gd name="adj" fmla="val 6"/>
            </a:avLst>
          </a:prstGeom>
          <a:solidFill>
            <a:srgbClr val="0E5B41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029" name="TextBox 1029"/>
          <p:cNvSpPr txBox="1"/>
          <p:nvPr/>
        </p:nvSpPr>
        <p:spPr>
          <a:xfrm>
            <a:off x="12352200" y="6460085"/>
            <a:ext cx="4950000" cy="5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pt-BR" b="1" dirty="0">
                <a:solidFill>
                  <a:srgbClr val="C3FA75"/>
                </a:solidFill>
                <a:latin typeface="Open Sans"/>
                <a:cs typeface="Open Sans"/>
              </a:rPr>
              <a:t>Round Robin</a:t>
            </a:r>
          </a:p>
        </p:txBody>
      </p:sp>
      <p:sp>
        <p:nvSpPr>
          <p:cNvPr id="1030" name="TextBox 1030"/>
          <p:cNvSpPr txBox="1"/>
          <p:nvPr/>
        </p:nvSpPr>
        <p:spPr>
          <a:xfrm>
            <a:off x="12352200" y="7060085"/>
            <a:ext cx="4950000" cy="181721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pt-BR" b="0" dirty="0">
                <a:solidFill>
                  <a:srgbClr val="FFFFFF"/>
                </a:solidFill>
                <a:latin typeface="Open Sans"/>
                <a:cs typeface="Open Sans"/>
              </a:rPr>
              <a:t>Sem chave definida, o Producer distribui as mensagens entre as partições de forma balanceada.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757E257-C9BB-446C-5FAE-AECACF5C84DD}"/>
              </a:ext>
            </a:extLst>
          </p:cNvPr>
          <p:cNvSpPr txBox="1"/>
          <p:nvPr/>
        </p:nvSpPr>
        <p:spPr>
          <a:xfrm>
            <a:off x="468506" y="495300"/>
            <a:ext cx="17350987" cy="307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pt-BR" sz="2000" b="1" dirty="0">
                <a:solidFill>
                  <a:srgbClr val="084734"/>
                </a:solidFill>
                <a:latin typeface="DM Sans"/>
              </a:rPr>
              <a:t>KAFKA | 3.  ARQUITETURA | PRODUCER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5B2DB629-519E-AE68-74FE-D05814821A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4557" y="1286410"/>
            <a:ext cx="12379243" cy="3857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75251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7EE9F0-890E-8151-E721-827FB178C1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>
            <a:extLst>
              <a:ext uri="{FF2B5EF4-FFF2-40B4-BE49-F238E27FC236}">
                <a16:creationId xmlns:a16="http://schemas.microsoft.com/office/drawing/2014/main" id="{BBB1F523-3A5E-DF42-1E74-5816E9135E02}"/>
              </a:ext>
            </a:extLst>
          </p:cNvPr>
          <p:cNvSpPr txBox="1"/>
          <p:nvPr/>
        </p:nvSpPr>
        <p:spPr>
          <a:xfrm>
            <a:off x="468506" y="495300"/>
            <a:ext cx="17350987" cy="307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pt-BR" sz="2000" b="1" dirty="0">
                <a:solidFill>
                  <a:srgbClr val="084734"/>
                </a:solidFill>
                <a:latin typeface="DM Sans"/>
              </a:rPr>
              <a:t>KAFKA | 3.  ARQUITETURA | MENSAGEM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4A008E2C-5B02-9A5F-9F80-4DAE25E4B772}"/>
              </a:ext>
            </a:extLst>
          </p:cNvPr>
          <p:cNvSpPr txBox="1"/>
          <p:nvPr/>
        </p:nvSpPr>
        <p:spPr>
          <a:xfrm>
            <a:off x="17827996" y="9762665"/>
            <a:ext cx="283732" cy="428194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 dirty="0">
                <a:solidFill>
                  <a:srgbClr val="C3FA75"/>
                </a:solidFill>
                <a:latin typeface="DM Sans 1"/>
                <a:ea typeface="DM Sans 1"/>
                <a:cs typeface="DM Sans 1"/>
                <a:sym typeface="DM Sans 1"/>
              </a:rPr>
              <a:t>12</a:t>
            </a:r>
          </a:p>
        </p:txBody>
      </p:sp>
      <p:sp>
        <p:nvSpPr>
          <p:cNvPr id="10" name="Espaço Reservado para Rodapé 9">
            <a:extLst>
              <a:ext uri="{FF2B5EF4-FFF2-40B4-BE49-F238E27FC236}">
                <a16:creationId xmlns:a16="http://schemas.microsoft.com/office/drawing/2014/main" id="{7328456F-789E-2849-10A4-60CEBDF742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14600" y="9739311"/>
            <a:ext cx="15796727" cy="536025"/>
          </a:xfrm>
        </p:spPr>
        <p:txBody>
          <a:bodyPr/>
          <a:lstStyle/>
          <a:p>
            <a:r>
              <a:rPr lang="en-US" dirty="0"/>
              <a:t>FIA LABDATA . Copyright all rights reserved.</a:t>
            </a:r>
            <a:endParaRPr lang="pt-BR" dirty="0"/>
          </a:p>
        </p:txBody>
      </p:sp>
      <p:sp>
        <p:nvSpPr>
          <p:cNvPr id="1001" name="TextBox 1001"/>
          <p:cNvSpPr txBox="1"/>
          <p:nvPr/>
        </p:nvSpPr>
        <p:spPr>
          <a:xfrm>
            <a:off x="468506" y="1050000"/>
            <a:ext cx="16800000" cy="5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pt-BR" sz="1500" b="0" dirty="0">
                <a:solidFill>
                  <a:srgbClr val="FFFFFF"/>
                </a:solidFill>
                <a:latin typeface="Open Sans"/>
                <a:cs typeface="Open Sans"/>
              </a:rPr>
              <a:t>Cada mensagem (record) publicada em um tópico Kafka é composta por:</a:t>
            </a:r>
          </a:p>
        </p:txBody>
      </p:sp>
      <p:sp>
        <p:nvSpPr>
          <p:cNvPr id="1002" name="Field0 1002"/>
          <p:cNvSpPr/>
          <p:nvPr/>
        </p:nvSpPr>
        <p:spPr>
          <a:xfrm>
            <a:off x="599800" y="2929500"/>
            <a:ext cx="3274000" cy="2200000"/>
          </a:xfrm>
          <a:prstGeom prst="roundRect">
            <a:avLst>
              <a:gd name="adj" fmla="val 8"/>
            </a:avLst>
          </a:prstGeom>
          <a:solidFill>
            <a:srgbClr val="C3FA75"/>
          </a:solidFill>
          <a:ln w="9525">
            <a:solidFill>
              <a:srgbClr val="C3FA75"/>
            </a:solidFill>
          </a:ln>
        </p:spPr>
        <p:txBody>
          <a:bodyPr/>
          <a:lstStyle/>
          <a:p>
            <a:endParaRPr lang="pt-BR" sz="2800"/>
          </a:p>
        </p:txBody>
      </p:sp>
      <p:sp>
        <p:nvSpPr>
          <p:cNvPr id="1003" name="TextBox 1003"/>
          <p:cNvSpPr txBox="1"/>
          <p:nvPr/>
        </p:nvSpPr>
        <p:spPr>
          <a:xfrm>
            <a:off x="679800" y="3079500"/>
            <a:ext cx="3114000" cy="5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lang="pt-BR" b="1" dirty="0">
                <a:solidFill>
                  <a:srgbClr val="084734"/>
                </a:solidFill>
                <a:latin typeface="Open Sans"/>
                <a:cs typeface="Open Sans"/>
              </a:rPr>
              <a:t>Key</a:t>
            </a:r>
          </a:p>
        </p:txBody>
      </p:sp>
      <p:sp>
        <p:nvSpPr>
          <p:cNvPr id="1004" name="TextBox 1004"/>
          <p:cNvSpPr txBox="1"/>
          <p:nvPr/>
        </p:nvSpPr>
        <p:spPr>
          <a:xfrm>
            <a:off x="679800" y="3679500"/>
            <a:ext cx="3114000" cy="135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lang="pt-BR" b="0" dirty="0">
                <a:solidFill>
                  <a:srgbClr val="084734"/>
                </a:solidFill>
                <a:latin typeface="Open Sans"/>
                <a:cs typeface="Open Sans"/>
              </a:rPr>
              <a:t>Chave opcional usada para definir a partição de destino</a:t>
            </a:r>
          </a:p>
        </p:txBody>
      </p:sp>
      <p:sp>
        <p:nvSpPr>
          <p:cNvPr id="1005" name="Field1 1005"/>
          <p:cNvSpPr/>
          <p:nvPr/>
        </p:nvSpPr>
        <p:spPr>
          <a:xfrm>
            <a:off x="3993800" y="2929500"/>
            <a:ext cx="3274000" cy="2200000"/>
          </a:xfrm>
          <a:prstGeom prst="roundRect">
            <a:avLst>
              <a:gd name="adj" fmla="val 8"/>
            </a:avLst>
          </a:prstGeom>
          <a:solidFill>
            <a:srgbClr val="0E5B41"/>
          </a:solidFill>
          <a:ln w="9525">
            <a:solidFill>
              <a:srgbClr val="C3FA75"/>
            </a:solidFill>
          </a:ln>
        </p:spPr>
        <p:txBody>
          <a:bodyPr/>
          <a:lstStyle/>
          <a:p>
            <a:endParaRPr lang="pt-BR" sz="2800"/>
          </a:p>
        </p:txBody>
      </p:sp>
      <p:sp>
        <p:nvSpPr>
          <p:cNvPr id="1006" name="TextBox 1006"/>
          <p:cNvSpPr txBox="1"/>
          <p:nvPr/>
        </p:nvSpPr>
        <p:spPr>
          <a:xfrm>
            <a:off x="4073800" y="3079500"/>
            <a:ext cx="3114000" cy="5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lang="pt-BR" b="1" dirty="0">
                <a:solidFill>
                  <a:srgbClr val="C3FA75"/>
                </a:solidFill>
                <a:latin typeface="Open Sans"/>
                <a:cs typeface="Open Sans"/>
              </a:rPr>
              <a:t>Value</a:t>
            </a:r>
          </a:p>
        </p:txBody>
      </p:sp>
      <p:sp>
        <p:nvSpPr>
          <p:cNvPr id="1007" name="TextBox 1007"/>
          <p:cNvSpPr txBox="1"/>
          <p:nvPr/>
        </p:nvSpPr>
        <p:spPr>
          <a:xfrm>
            <a:off x="4073800" y="3679500"/>
            <a:ext cx="3114000" cy="135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lang="pt-BR" b="0" dirty="0">
                <a:solidFill>
                  <a:srgbClr val="FFFFFF"/>
                </a:solidFill>
                <a:latin typeface="Open Sans"/>
                <a:cs typeface="Open Sans"/>
              </a:rPr>
              <a:t>O conteúdo (payload) da mensagem propriamente dito</a:t>
            </a:r>
          </a:p>
        </p:txBody>
      </p:sp>
      <p:sp>
        <p:nvSpPr>
          <p:cNvPr id="1008" name="Field2 1008"/>
          <p:cNvSpPr/>
          <p:nvPr/>
        </p:nvSpPr>
        <p:spPr>
          <a:xfrm>
            <a:off x="7387800" y="2929500"/>
            <a:ext cx="3274000" cy="2200000"/>
          </a:xfrm>
          <a:prstGeom prst="roundRect">
            <a:avLst>
              <a:gd name="adj" fmla="val 8"/>
            </a:avLst>
          </a:prstGeom>
          <a:solidFill>
            <a:srgbClr val="0E5B41"/>
          </a:solidFill>
          <a:ln w="9525">
            <a:solidFill>
              <a:srgbClr val="C3FA75"/>
            </a:solidFill>
          </a:ln>
        </p:spPr>
        <p:txBody>
          <a:bodyPr/>
          <a:lstStyle/>
          <a:p>
            <a:endParaRPr lang="pt-BR" sz="2800"/>
          </a:p>
        </p:txBody>
      </p:sp>
      <p:sp>
        <p:nvSpPr>
          <p:cNvPr id="1009" name="TextBox 1009"/>
          <p:cNvSpPr txBox="1"/>
          <p:nvPr/>
        </p:nvSpPr>
        <p:spPr>
          <a:xfrm>
            <a:off x="7467800" y="3079500"/>
            <a:ext cx="3114000" cy="5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lang="pt-BR" b="1" dirty="0">
                <a:solidFill>
                  <a:srgbClr val="C3FA75"/>
                </a:solidFill>
                <a:latin typeface="Open Sans"/>
                <a:cs typeface="Open Sans"/>
              </a:rPr>
              <a:t>Headers</a:t>
            </a:r>
          </a:p>
        </p:txBody>
      </p:sp>
      <p:sp>
        <p:nvSpPr>
          <p:cNvPr id="1010" name="TextBox 1010"/>
          <p:cNvSpPr txBox="1"/>
          <p:nvPr/>
        </p:nvSpPr>
        <p:spPr>
          <a:xfrm>
            <a:off x="7467800" y="3679500"/>
            <a:ext cx="3114000" cy="135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lang="pt-BR" b="0" dirty="0">
                <a:solidFill>
                  <a:srgbClr val="FFFFFF"/>
                </a:solidFill>
                <a:latin typeface="Open Sans"/>
                <a:cs typeface="Open Sans"/>
              </a:rPr>
              <a:t>Metadados opcionais em pares chave-valor</a:t>
            </a:r>
          </a:p>
        </p:txBody>
      </p:sp>
      <p:sp>
        <p:nvSpPr>
          <p:cNvPr id="1011" name="Field3 1011"/>
          <p:cNvSpPr/>
          <p:nvPr/>
        </p:nvSpPr>
        <p:spPr>
          <a:xfrm>
            <a:off x="10781800" y="2929500"/>
            <a:ext cx="3274000" cy="2200000"/>
          </a:xfrm>
          <a:prstGeom prst="roundRect">
            <a:avLst>
              <a:gd name="adj" fmla="val 8"/>
            </a:avLst>
          </a:prstGeom>
          <a:solidFill>
            <a:srgbClr val="0E5B41"/>
          </a:solidFill>
          <a:ln w="9525">
            <a:solidFill>
              <a:srgbClr val="C3FA75"/>
            </a:solidFill>
          </a:ln>
        </p:spPr>
        <p:txBody>
          <a:bodyPr/>
          <a:lstStyle/>
          <a:p>
            <a:endParaRPr lang="pt-BR" sz="2800"/>
          </a:p>
        </p:txBody>
      </p:sp>
      <p:sp>
        <p:nvSpPr>
          <p:cNvPr id="1012" name="TextBox 1012"/>
          <p:cNvSpPr txBox="1"/>
          <p:nvPr/>
        </p:nvSpPr>
        <p:spPr>
          <a:xfrm>
            <a:off x="10861800" y="3079500"/>
            <a:ext cx="3114000" cy="5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lang="pt-BR" b="1" dirty="0">
                <a:solidFill>
                  <a:srgbClr val="C3FA75"/>
                </a:solidFill>
                <a:latin typeface="Open Sans"/>
                <a:cs typeface="Open Sans"/>
              </a:rPr>
              <a:t>Partition + Offset</a:t>
            </a:r>
          </a:p>
        </p:txBody>
      </p:sp>
      <p:sp>
        <p:nvSpPr>
          <p:cNvPr id="1013" name="TextBox 1013"/>
          <p:cNvSpPr txBox="1"/>
          <p:nvPr/>
        </p:nvSpPr>
        <p:spPr>
          <a:xfrm>
            <a:off x="10861800" y="3679500"/>
            <a:ext cx="3114000" cy="135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lang="pt-BR" b="0" dirty="0">
                <a:solidFill>
                  <a:srgbClr val="FFFFFF"/>
                </a:solidFill>
                <a:latin typeface="Open Sans"/>
                <a:cs typeface="Open Sans"/>
              </a:rPr>
              <a:t>Identificam a posição exata da mensagem no log</a:t>
            </a:r>
          </a:p>
        </p:txBody>
      </p:sp>
      <p:sp>
        <p:nvSpPr>
          <p:cNvPr id="1014" name="Field4 1014"/>
          <p:cNvSpPr/>
          <p:nvPr/>
        </p:nvSpPr>
        <p:spPr>
          <a:xfrm>
            <a:off x="14175800" y="2929500"/>
            <a:ext cx="3274000" cy="2200000"/>
          </a:xfrm>
          <a:prstGeom prst="roundRect">
            <a:avLst>
              <a:gd name="adj" fmla="val 8"/>
            </a:avLst>
          </a:prstGeom>
          <a:solidFill>
            <a:srgbClr val="0E5B41"/>
          </a:solidFill>
          <a:ln w="9525">
            <a:solidFill>
              <a:srgbClr val="C3FA75"/>
            </a:solidFill>
          </a:ln>
        </p:spPr>
        <p:txBody>
          <a:bodyPr/>
          <a:lstStyle/>
          <a:p>
            <a:endParaRPr lang="pt-BR" sz="2800"/>
          </a:p>
        </p:txBody>
      </p:sp>
      <p:sp>
        <p:nvSpPr>
          <p:cNvPr id="1015" name="TextBox 1015"/>
          <p:cNvSpPr txBox="1"/>
          <p:nvPr/>
        </p:nvSpPr>
        <p:spPr>
          <a:xfrm>
            <a:off x="14255800" y="3079500"/>
            <a:ext cx="3114000" cy="5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lang="pt-BR" b="1" dirty="0">
                <a:solidFill>
                  <a:srgbClr val="C3FA75"/>
                </a:solidFill>
                <a:latin typeface="Open Sans"/>
                <a:cs typeface="Open Sans"/>
              </a:rPr>
              <a:t>Timestamp</a:t>
            </a:r>
          </a:p>
        </p:txBody>
      </p:sp>
      <p:sp>
        <p:nvSpPr>
          <p:cNvPr id="1016" name="TextBox 1016"/>
          <p:cNvSpPr txBox="1"/>
          <p:nvPr/>
        </p:nvSpPr>
        <p:spPr>
          <a:xfrm>
            <a:off x="14255800" y="3679500"/>
            <a:ext cx="3114000" cy="135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lang="pt-BR" b="0" dirty="0">
                <a:solidFill>
                  <a:srgbClr val="FFFFFF"/>
                </a:solidFill>
                <a:latin typeface="Open Sans"/>
                <a:cs typeface="Open Sans"/>
              </a:rPr>
              <a:t>Momento em que a mensagem foi criada ou registrada</a:t>
            </a:r>
          </a:p>
        </p:txBody>
      </p:sp>
      <p:sp>
        <p:nvSpPr>
          <p:cNvPr id="1017" name="MsgNote 1017"/>
          <p:cNvSpPr/>
          <p:nvPr/>
        </p:nvSpPr>
        <p:spPr>
          <a:xfrm>
            <a:off x="599800" y="5629500"/>
            <a:ext cx="16850000" cy="1800000"/>
          </a:xfrm>
          <a:prstGeom prst="roundRect">
            <a:avLst>
              <a:gd name="adj" fmla="val 6"/>
            </a:avLst>
          </a:prstGeom>
          <a:solidFill>
            <a:srgbClr val="142D59"/>
          </a:solidFill>
          <a:ln>
            <a:noFill/>
          </a:ln>
        </p:spPr>
        <p:txBody>
          <a:bodyPr/>
          <a:lstStyle/>
          <a:p>
            <a:endParaRPr lang="pt-BR" sz="2800"/>
          </a:p>
        </p:txBody>
      </p:sp>
      <p:sp>
        <p:nvSpPr>
          <p:cNvPr id="1018" name="TextBox 1018"/>
          <p:cNvSpPr txBox="1"/>
          <p:nvPr/>
        </p:nvSpPr>
        <p:spPr>
          <a:xfrm>
            <a:off x="881294" y="5829500"/>
            <a:ext cx="16300000" cy="5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pt-BR" sz="2000" b="1" dirty="0">
                <a:solidFill>
                  <a:srgbClr val="C3FA75"/>
                </a:solidFill>
                <a:latin typeface="Open Sans"/>
                <a:cs typeface="Open Sans"/>
              </a:rPr>
              <a:t>Compressão e Serialização</a:t>
            </a:r>
          </a:p>
        </p:txBody>
      </p:sp>
      <p:sp>
        <p:nvSpPr>
          <p:cNvPr id="1019" name="BulletList 1019"/>
          <p:cNvSpPr txBox="1"/>
          <p:nvPr/>
        </p:nvSpPr>
        <p:spPr>
          <a:xfrm>
            <a:off x="881294" y="6379500"/>
            <a:ext cx="16300000" cy="95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342900" indent="-342900">
              <a:lnSpc>
                <a:spcPts val="2000"/>
              </a:lnSpc>
              <a:spcBef>
                <a:spcPts val="0"/>
              </a:spcBef>
              <a:spcAft>
                <a:spcPts val="800"/>
              </a:spcAft>
              <a:buClr>
                <a:srgbClr val="C3FA75"/>
              </a:buClr>
              <a:buFont typeface="Arial"/>
              <a:buChar char="•"/>
            </a:pPr>
            <a:r>
              <a:rPr lang="pt-BR" dirty="0">
                <a:solidFill>
                  <a:srgbClr val="FFFFFF"/>
                </a:solidFill>
                <a:latin typeface="Open Sans"/>
                <a:cs typeface="Open Sans"/>
              </a:rPr>
              <a:t>Kafka suporta compressão nativa (gzip, snappy, lz4, zstd) por batch de mensagens, reduzindo o tráfego de rede.</a:t>
            </a:r>
          </a:p>
          <a:p>
            <a:pPr marL="342900" indent="-342900">
              <a:lnSpc>
                <a:spcPts val="2000"/>
              </a:lnSpc>
              <a:spcBef>
                <a:spcPts val="0"/>
              </a:spcBef>
              <a:spcAft>
                <a:spcPts val="800"/>
              </a:spcAft>
              <a:buClr>
                <a:srgbClr val="C3FA75"/>
              </a:buClr>
              <a:buFont typeface="Arial"/>
              <a:buChar char="•"/>
            </a:pPr>
            <a:r>
              <a:rPr lang="pt-BR" dirty="0">
                <a:solidFill>
                  <a:srgbClr val="FFFFFF"/>
                </a:solidFill>
                <a:latin typeface="Open Sans"/>
                <a:cs typeface="Open Sans"/>
              </a:rPr>
              <a:t>O Schema Registry (Confluent) garante compatibilidade de formato entre Producers e Consumers (Avro, Protobuf, JSON Schema).</a:t>
            </a:r>
          </a:p>
        </p:txBody>
      </p:sp>
    </p:spTree>
    <p:extLst>
      <p:ext uri="{BB962C8B-B14F-4D97-AF65-F5344CB8AC3E}">
        <p14:creationId xmlns:p14="http://schemas.microsoft.com/office/powerpoint/2010/main" val="38119452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9BC9B4-CD2E-7315-E6EC-AEE2964348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8">
            <a:extLst>
              <a:ext uri="{FF2B5EF4-FFF2-40B4-BE49-F238E27FC236}">
                <a16:creationId xmlns:a16="http://schemas.microsoft.com/office/drawing/2014/main" id="{436209BC-E2A5-880C-EFC0-5BD814B04AB0}"/>
              </a:ext>
            </a:extLst>
          </p:cNvPr>
          <p:cNvSpPr txBox="1"/>
          <p:nvPr/>
        </p:nvSpPr>
        <p:spPr>
          <a:xfrm>
            <a:off x="17825590" y="9762665"/>
            <a:ext cx="288542" cy="428194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 dirty="0">
                <a:solidFill>
                  <a:srgbClr val="C3FA75"/>
                </a:solidFill>
                <a:latin typeface="DM Sans 1"/>
                <a:ea typeface="DM Sans 1"/>
                <a:cs typeface="DM Sans 1"/>
                <a:sym typeface="DM Sans 1"/>
              </a:rPr>
              <a:t>13</a:t>
            </a:r>
          </a:p>
        </p:txBody>
      </p:sp>
      <p:sp>
        <p:nvSpPr>
          <p:cNvPr id="10" name="Espaço Reservado para Rodapé 9">
            <a:extLst>
              <a:ext uri="{FF2B5EF4-FFF2-40B4-BE49-F238E27FC236}">
                <a16:creationId xmlns:a16="http://schemas.microsoft.com/office/drawing/2014/main" id="{551AF76A-5214-D5C9-0E08-F5202080ED4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FIA LABDATA . Copyright all rights reserved.</a:t>
            </a:r>
            <a:endParaRPr lang="pt-BR" dirty="0"/>
          </a:p>
        </p:txBody>
      </p:sp>
      <p:sp>
        <p:nvSpPr>
          <p:cNvPr id="1001" name="TextBox 1001"/>
          <p:cNvSpPr txBox="1"/>
          <p:nvPr/>
        </p:nvSpPr>
        <p:spPr>
          <a:xfrm>
            <a:off x="468506" y="1050000"/>
            <a:ext cx="16850000" cy="9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pt-BR" sz="1450" b="0" dirty="0">
                <a:solidFill>
                  <a:srgbClr val="FFFFFF"/>
                </a:solidFill>
                <a:latin typeface="Open Sans"/>
                <a:cs typeface="Open Sans"/>
              </a:rPr>
              <a:t>Onde um fluxo de mensagens de um tipo específico é armazenado. É quebrado em uma ou mais </a:t>
            </a:r>
            <a:r>
              <a:rPr lang="pt-BR" sz="1450" b="1" dirty="0">
                <a:solidFill>
                  <a:srgbClr val="C3FA75"/>
                </a:solidFill>
                <a:latin typeface="Open Sans"/>
                <a:cs typeface="Open Sans"/>
              </a:rPr>
              <a:t>partições</a:t>
            </a:r>
            <a:r>
              <a:rPr lang="pt-BR" sz="1450" b="0" dirty="0">
                <a:solidFill>
                  <a:srgbClr val="FFFFFF"/>
                </a:solidFill>
                <a:latin typeface="Open Sans"/>
                <a:cs typeface="Open Sans"/>
              </a:rPr>
              <a:t> de mensagens que são replicadas entre brokers.</a:t>
            </a:r>
          </a:p>
        </p:txBody>
      </p:sp>
      <p:sp>
        <p:nvSpPr>
          <p:cNvPr id="1022" name="TopicNote 1022"/>
          <p:cNvSpPr/>
          <p:nvPr/>
        </p:nvSpPr>
        <p:spPr>
          <a:xfrm>
            <a:off x="468506" y="6900000"/>
            <a:ext cx="16850000" cy="1579311"/>
          </a:xfrm>
          <a:prstGeom prst="roundRect">
            <a:avLst>
              <a:gd name="adj" fmla="val 6"/>
            </a:avLst>
          </a:prstGeom>
          <a:solidFill>
            <a:srgbClr val="142D59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023" name="BulletList 1023"/>
          <p:cNvSpPr txBox="1"/>
          <p:nvPr/>
        </p:nvSpPr>
        <p:spPr>
          <a:xfrm>
            <a:off x="750000" y="7100000"/>
            <a:ext cx="16300000" cy="116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342900" indent="-342900">
              <a:lnSpc>
                <a:spcPts val="2000"/>
              </a:lnSpc>
              <a:spcBef>
                <a:spcPts val="0"/>
              </a:spcBef>
              <a:spcAft>
                <a:spcPts val="800"/>
              </a:spcAft>
              <a:buClr>
                <a:srgbClr val="C3FA75"/>
              </a:buClr>
              <a:buFont typeface="Arial"/>
              <a:buChar char="•"/>
            </a:pPr>
            <a:r>
              <a:rPr lang="pt-BR" dirty="0">
                <a:solidFill>
                  <a:srgbClr val="FFFFFF"/>
                </a:solidFill>
                <a:latin typeface="Open Sans"/>
                <a:cs typeface="Open Sans"/>
              </a:rPr>
              <a:t>Cada partição é um log ordenado e imutável de mensagens, identificado por um offset sequencial.</a:t>
            </a:r>
          </a:p>
          <a:p>
            <a:pPr marL="342900" indent="-342900">
              <a:lnSpc>
                <a:spcPts val="2000"/>
              </a:lnSpc>
              <a:spcBef>
                <a:spcPts val="0"/>
              </a:spcBef>
              <a:spcAft>
                <a:spcPts val="800"/>
              </a:spcAft>
              <a:buClr>
                <a:srgbClr val="C3FA75"/>
              </a:buClr>
              <a:buFont typeface="Arial"/>
              <a:buChar char="•"/>
            </a:pPr>
            <a:r>
              <a:rPr lang="pt-BR" dirty="0">
                <a:solidFill>
                  <a:srgbClr val="FFFFFF"/>
                </a:solidFill>
                <a:latin typeface="Open Sans"/>
                <a:cs typeface="Open Sans"/>
              </a:rPr>
              <a:t>O número de partições define o paralelismo máximo do tópico (quantos consumidores podem ler em paralelo).</a:t>
            </a:r>
          </a:p>
          <a:p>
            <a:pPr marL="342900" indent="-342900">
              <a:lnSpc>
                <a:spcPts val="2000"/>
              </a:lnSpc>
              <a:spcBef>
                <a:spcPts val="0"/>
              </a:spcBef>
              <a:spcAft>
                <a:spcPts val="800"/>
              </a:spcAft>
              <a:buClr>
                <a:srgbClr val="C3FA75"/>
              </a:buClr>
              <a:buFont typeface="Arial"/>
              <a:buChar char="•"/>
            </a:pPr>
            <a:r>
              <a:rPr lang="pt-BR" dirty="0">
                <a:solidFill>
                  <a:srgbClr val="FFFFFF"/>
                </a:solidFill>
                <a:latin typeface="Open Sans"/>
                <a:cs typeface="Open Sans"/>
              </a:rPr>
              <a:t>Mensagens são retidas por um período configurável (retention), independente de terem sido lidas ou não.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757E257-C9BB-446C-5FAE-AECACF5C84DD}"/>
              </a:ext>
            </a:extLst>
          </p:cNvPr>
          <p:cNvSpPr txBox="1"/>
          <p:nvPr/>
        </p:nvSpPr>
        <p:spPr>
          <a:xfrm>
            <a:off x="468506" y="495300"/>
            <a:ext cx="17350987" cy="307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pt-BR" sz="2000" b="1" dirty="0">
                <a:solidFill>
                  <a:srgbClr val="084734"/>
                </a:solidFill>
                <a:latin typeface="DM Sans"/>
              </a:rPr>
              <a:t>KAFKA | 3.  ARQUITETURA | TÓPICO</a:t>
            </a:r>
          </a:p>
        </p:txBody>
      </p:sp>
      <p:pic>
        <p:nvPicPr>
          <p:cNvPr id="27" name="Imagem 26">
            <a:extLst>
              <a:ext uri="{FF2B5EF4-FFF2-40B4-BE49-F238E27FC236}">
                <a16:creationId xmlns:a16="http://schemas.microsoft.com/office/drawing/2014/main" id="{43C052C9-7B5D-1CBC-2518-957FD555C4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2600" y="1778056"/>
            <a:ext cx="14162460" cy="44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75251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7EE9F0-890E-8151-E721-827FB178C1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>
            <a:extLst>
              <a:ext uri="{FF2B5EF4-FFF2-40B4-BE49-F238E27FC236}">
                <a16:creationId xmlns:a16="http://schemas.microsoft.com/office/drawing/2014/main" id="{BBB1F523-3A5E-DF42-1E74-5816E9135E02}"/>
              </a:ext>
            </a:extLst>
          </p:cNvPr>
          <p:cNvSpPr txBox="1"/>
          <p:nvPr/>
        </p:nvSpPr>
        <p:spPr>
          <a:xfrm>
            <a:off x="468506" y="495300"/>
            <a:ext cx="17350987" cy="307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pt-BR" sz="2000" b="1" dirty="0">
                <a:solidFill>
                  <a:srgbClr val="084734"/>
                </a:solidFill>
                <a:latin typeface="DM Sans"/>
              </a:rPr>
              <a:t>KAFKA | 3.  ARQUITETURA | TÓPICO - SEGMENTOS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4A008E2C-5B02-9A5F-9F80-4DAE25E4B772}"/>
              </a:ext>
            </a:extLst>
          </p:cNvPr>
          <p:cNvSpPr txBox="1"/>
          <p:nvPr/>
        </p:nvSpPr>
        <p:spPr>
          <a:xfrm>
            <a:off x="17823186" y="9762665"/>
            <a:ext cx="293350" cy="428194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 dirty="0">
                <a:solidFill>
                  <a:srgbClr val="C3FA75"/>
                </a:solidFill>
                <a:latin typeface="DM Sans 1"/>
                <a:ea typeface="DM Sans 1"/>
                <a:cs typeface="DM Sans 1"/>
                <a:sym typeface="DM Sans 1"/>
              </a:rPr>
              <a:t>14</a:t>
            </a:r>
          </a:p>
        </p:txBody>
      </p:sp>
      <p:sp>
        <p:nvSpPr>
          <p:cNvPr id="10" name="Espaço Reservado para Rodapé 9">
            <a:extLst>
              <a:ext uri="{FF2B5EF4-FFF2-40B4-BE49-F238E27FC236}">
                <a16:creationId xmlns:a16="http://schemas.microsoft.com/office/drawing/2014/main" id="{7328456F-789E-2849-10A4-60CEBDF742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14600" y="9739311"/>
            <a:ext cx="15796727" cy="536025"/>
          </a:xfrm>
        </p:spPr>
        <p:txBody>
          <a:bodyPr/>
          <a:lstStyle/>
          <a:p>
            <a:r>
              <a:rPr lang="en-US" dirty="0"/>
              <a:t>FIA LABDATA . Copyright all rights reserved.</a:t>
            </a:r>
            <a:endParaRPr lang="pt-BR" dirty="0"/>
          </a:p>
        </p:txBody>
      </p:sp>
      <p:sp>
        <p:nvSpPr>
          <p:cNvPr id="1001" name="TextBox 1001"/>
          <p:cNvSpPr txBox="1"/>
          <p:nvPr/>
        </p:nvSpPr>
        <p:spPr>
          <a:xfrm>
            <a:off x="468506" y="1050000"/>
            <a:ext cx="16800000" cy="5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pt-BR" sz="1450" b="0" dirty="0">
                <a:solidFill>
                  <a:srgbClr val="FFFFFF"/>
                </a:solidFill>
                <a:latin typeface="Open Sans"/>
                <a:cs typeface="Open Sans"/>
              </a:rPr>
              <a:t>Cada partição é dividida em segmentos (arquivos) no disco para facilitar retenção e limpeza</a:t>
            </a:r>
          </a:p>
        </p:txBody>
      </p:sp>
      <p:sp>
        <p:nvSpPr>
          <p:cNvPr id="1002" name="Seg0 1002"/>
          <p:cNvSpPr/>
          <p:nvPr/>
        </p:nvSpPr>
        <p:spPr>
          <a:xfrm>
            <a:off x="468506" y="2376900"/>
            <a:ext cx="4115000" cy="1000000"/>
          </a:xfrm>
          <a:prstGeom prst="roundRect">
            <a:avLst>
              <a:gd name="adj" fmla="val 8"/>
            </a:avLst>
          </a:prstGeom>
          <a:solidFill>
            <a:srgbClr val="0E5B41"/>
          </a:solidFill>
          <a:ln w="9525">
            <a:solidFill>
              <a:srgbClr val="C3FA75"/>
            </a:solidFill>
          </a:ln>
        </p:spPr>
        <p:txBody>
          <a:bodyPr/>
          <a:lstStyle/>
          <a:p>
            <a:endParaRPr lang="pt-BR" sz="2800"/>
          </a:p>
        </p:txBody>
      </p:sp>
      <p:sp>
        <p:nvSpPr>
          <p:cNvPr id="1003" name="TextBox 1003"/>
          <p:cNvSpPr txBox="1"/>
          <p:nvPr/>
        </p:nvSpPr>
        <p:spPr>
          <a:xfrm>
            <a:off x="528506" y="2506900"/>
            <a:ext cx="3995000" cy="4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lang="pt-BR" sz="1600" b="1" dirty="0">
                <a:solidFill>
                  <a:srgbClr val="C3FA75"/>
                </a:solidFill>
                <a:latin typeface="Open Sans"/>
                <a:cs typeface="Open Sans"/>
              </a:rPr>
              <a:t>Segmento 0</a:t>
            </a:r>
          </a:p>
        </p:txBody>
      </p:sp>
      <p:sp>
        <p:nvSpPr>
          <p:cNvPr id="1004" name="TextBox 1004"/>
          <p:cNvSpPr txBox="1"/>
          <p:nvPr/>
        </p:nvSpPr>
        <p:spPr>
          <a:xfrm>
            <a:off x="528506" y="2936900"/>
            <a:ext cx="3995000" cy="35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lang="pt-BR" sz="1200" b="0" dirty="0">
                <a:solidFill>
                  <a:srgbClr val="FFFFFF"/>
                </a:solidFill>
                <a:latin typeface="Open Sans"/>
                <a:cs typeface="Open Sans"/>
              </a:rPr>
              <a:t>Offset 0-957</a:t>
            </a:r>
          </a:p>
        </p:txBody>
      </p:sp>
      <p:sp>
        <p:nvSpPr>
          <p:cNvPr id="1005" name="Seg1 1005"/>
          <p:cNvSpPr/>
          <p:nvPr/>
        </p:nvSpPr>
        <p:spPr>
          <a:xfrm>
            <a:off x="4713506" y="2376900"/>
            <a:ext cx="4115000" cy="1000000"/>
          </a:xfrm>
          <a:prstGeom prst="roundRect">
            <a:avLst>
              <a:gd name="adj" fmla="val 8"/>
            </a:avLst>
          </a:prstGeom>
          <a:solidFill>
            <a:srgbClr val="0E5B41"/>
          </a:solidFill>
          <a:ln w="9525">
            <a:solidFill>
              <a:srgbClr val="C3FA75"/>
            </a:solidFill>
          </a:ln>
        </p:spPr>
        <p:txBody>
          <a:bodyPr/>
          <a:lstStyle/>
          <a:p>
            <a:endParaRPr lang="pt-BR" sz="2800"/>
          </a:p>
        </p:txBody>
      </p:sp>
      <p:sp>
        <p:nvSpPr>
          <p:cNvPr id="1006" name="TextBox 1006"/>
          <p:cNvSpPr txBox="1"/>
          <p:nvPr/>
        </p:nvSpPr>
        <p:spPr>
          <a:xfrm>
            <a:off x="4773506" y="2506900"/>
            <a:ext cx="3995000" cy="4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lang="pt-BR" sz="1600" b="1" dirty="0">
                <a:solidFill>
                  <a:srgbClr val="C3FA75"/>
                </a:solidFill>
                <a:latin typeface="Open Sans"/>
                <a:cs typeface="Open Sans"/>
              </a:rPr>
              <a:t>Segmento 1</a:t>
            </a:r>
          </a:p>
        </p:txBody>
      </p:sp>
      <p:sp>
        <p:nvSpPr>
          <p:cNvPr id="1007" name="TextBox 1007"/>
          <p:cNvSpPr txBox="1"/>
          <p:nvPr/>
        </p:nvSpPr>
        <p:spPr>
          <a:xfrm>
            <a:off x="4773506" y="2936900"/>
            <a:ext cx="3995000" cy="35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lang="pt-BR" sz="1200" b="0" dirty="0">
                <a:solidFill>
                  <a:srgbClr val="FFFFFF"/>
                </a:solidFill>
                <a:latin typeface="Open Sans"/>
                <a:cs typeface="Open Sans"/>
              </a:rPr>
              <a:t>Offset 958-1675</a:t>
            </a:r>
          </a:p>
        </p:txBody>
      </p:sp>
      <p:sp>
        <p:nvSpPr>
          <p:cNvPr id="1008" name="Seg2 1008"/>
          <p:cNvSpPr/>
          <p:nvPr/>
        </p:nvSpPr>
        <p:spPr>
          <a:xfrm>
            <a:off x="8958506" y="2376900"/>
            <a:ext cx="4115000" cy="1000000"/>
          </a:xfrm>
          <a:prstGeom prst="roundRect">
            <a:avLst>
              <a:gd name="adj" fmla="val 8"/>
            </a:avLst>
          </a:prstGeom>
          <a:solidFill>
            <a:srgbClr val="0E5B41"/>
          </a:solidFill>
          <a:ln w="9525">
            <a:solidFill>
              <a:srgbClr val="C3FA75"/>
            </a:solidFill>
          </a:ln>
        </p:spPr>
        <p:txBody>
          <a:bodyPr/>
          <a:lstStyle/>
          <a:p>
            <a:endParaRPr lang="pt-BR" sz="2800"/>
          </a:p>
        </p:txBody>
      </p:sp>
      <p:sp>
        <p:nvSpPr>
          <p:cNvPr id="1009" name="TextBox 1009"/>
          <p:cNvSpPr txBox="1"/>
          <p:nvPr/>
        </p:nvSpPr>
        <p:spPr>
          <a:xfrm>
            <a:off x="9018506" y="2506900"/>
            <a:ext cx="3995000" cy="4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lang="pt-BR" sz="1600" b="1" dirty="0">
                <a:solidFill>
                  <a:srgbClr val="C3FA75"/>
                </a:solidFill>
                <a:latin typeface="Open Sans"/>
                <a:cs typeface="Open Sans"/>
              </a:rPr>
              <a:t>Segmento 2</a:t>
            </a:r>
          </a:p>
        </p:txBody>
      </p:sp>
      <p:sp>
        <p:nvSpPr>
          <p:cNvPr id="1010" name="TextBox 1010"/>
          <p:cNvSpPr txBox="1"/>
          <p:nvPr/>
        </p:nvSpPr>
        <p:spPr>
          <a:xfrm>
            <a:off x="9018506" y="2936900"/>
            <a:ext cx="3995000" cy="35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lang="pt-BR" sz="1200" b="0" dirty="0">
                <a:solidFill>
                  <a:srgbClr val="FFFFFF"/>
                </a:solidFill>
                <a:latin typeface="Open Sans"/>
                <a:cs typeface="Open Sans"/>
              </a:rPr>
              <a:t>Offset 1676-2453</a:t>
            </a:r>
          </a:p>
        </p:txBody>
      </p:sp>
      <p:sp>
        <p:nvSpPr>
          <p:cNvPr id="1011" name="Seg3 1011"/>
          <p:cNvSpPr/>
          <p:nvPr/>
        </p:nvSpPr>
        <p:spPr>
          <a:xfrm>
            <a:off x="13203506" y="2376900"/>
            <a:ext cx="4115000" cy="1000000"/>
          </a:xfrm>
          <a:prstGeom prst="roundRect">
            <a:avLst>
              <a:gd name="adj" fmla="val 8"/>
            </a:avLst>
          </a:prstGeom>
          <a:solidFill>
            <a:srgbClr val="C3FA75"/>
          </a:solidFill>
          <a:ln w="9525">
            <a:solidFill>
              <a:srgbClr val="C3FA75"/>
            </a:solidFill>
          </a:ln>
        </p:spPr>
        <p:txBody>
          <a:bodyPr/>
          <a:lstStyle/>
          <a:p>
            <a:endParaRPr lang="pt-BR" sz="2800"/>
          </a:p>
        </p:txBody>
      </p:sp>
      <p:sp>
        <p:nvSpPr>
          <p:cNvPr id="1012" name="TextBox 1012"/>
          <p:cNvSpPr txBox="1"/>
          <p:nvPr/>
        </p:nvSpPr>
        <p:spPr>
          <a:xfrm>
            <a:off x="13263506" y="2506900"/>
            <a:ext cx="3995000" cy="4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lang="pt-BR" sz="1600" b="1" dirty="0">
                <a:solidFill>
                  <a:srgbClr val="084734"/>
                </a:solidFill>
                <a:latin typeface="Open Sans"/>
                <a:cs typeface="Open Sans"/>
              </a:rPr>
              <a:t>Segmento 3 (ATIVO)</a:t>
            </a:r>
          </a:p>
        </p:txBody>
      </p:sp>
      <p:sp>
        <p:nvSpPr>
          <p:cNvPr id="1013" name="TextBox 1013"/>
          <p:cNvSpPr txBox="1"/>
          <p:nvPr/>
        </p:nvSpPr>
        <p:spPr>
          <a:xfrm>
            <a:off x="13263506" y="2936900"/>
            <a:ext cx="3995000" cy="35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lang="pt-BR" sz="1200" b="0" dirty="0">
                <a:solidFill>
                  <a:srgbClr val="084734"/>
                </a:solidFill>
                <a:latin typeface="Open Sans"/>
                <a:cs typeface="Open Sans"/>
              </a:rPr>
              <a:t>Offset 3454-?</a:t>
            </a:r>
          </a:p>
        </p:txBody>
      </p:sp>
      <p:sp>
        <p:nvSpPr>
          <p:cNvPr id="1014" name="TextBox 1014"/>
          <p:cNvSpPr txBox="1"/>
          <p:nvPr/>
        </p:nvSpPr>
        <p:spPr>
          <a:xfrm>
            <a:off x="468506" y="3826900"/>
            <a:ext cx="4000000" cy="4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pt-BR" sz="2000" b="1" dirty="0">
                <a:solidFill>
                  <a:srgbClr val="C3FA75"/>
                </a:solidFill>
                <a:latin typeface="Open Sans"/>
                <a:cs typeface="Open Sans"/>
              </a:rPr>
              <a:t>Index File</a:t>
            </a:r>
          </a:p>
        </p:txBody>
      </p:sp>
      <p:sp>
        <p:nvSpPr>
          <p:cNvPr id="1015" name="TextBox 1015"/>
          <p:cNvSpPr txBox="1"/>
          <p:nvPr/>
        </p:nvSpPr>
        <p:spPr>
          <a:xfrm>
            <a:off x="9000000" y="3826900"/>
            <a:ext cx="4000000" cy="4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pt-BR" sz="2000" b="1" dirty="0">
                <a:solidFill>
                  <a:srgbClr val="C3FA75"/>
                </a:solidFill>
                <a:latin typeface="Open Sans"/>
                <a:cs typeface="Open Sans"/>
              </a:rPr>
              <a:t>Log File</a:t>
            </a:r>
          </a:p>
        </p:txBody>
      </p:sp>
      <p:sp>
        <p:nvSpPr>
          <p:cNvPr id="1016" name="H0 1016"/>
          <p:cNvSpPr/>
          <p:nvPr/>
        </p:nvSpPr>
        <p:spPr>
          <a:xfrm>
            <a:off x="468506" y="4326900"/>
            <a:ext cx="1900000" cy="450000"/>
          </a:xfrm>
          <a:prstGeom prst="rect">
            <a:avLst/>
          </a:prstGeom>
          <a:solidFill>
            <a:srgbClr val="142D59"/>
          </a:solidFill>
          <a:ln w="6350">
            <a:solidFill>
              <a:srgbClr val="C3FA75"/>
            </a:solidFill>
          </a:ln>
        </p:spPr>
        <p:txBody>
          <a:bodyPr/>
          <a:lstStyle/>
          <a:p>
            <a:endParaRPr lang="pt-BR" sz="2800"/>
          </a:p>
        </p:txBody>
      </p:sp>
      <p:sp>
        <p:nvSpPr>
          <p:cNvPr id="1017" name="TextBox 1017"/>
          <p:cNvSpPr txBox="1"/>
          <p:nvPr/>
        </p:nvSpPr>
        <p:spPr>
          <a:xfrm>
            <a:off x="468506" y="4326900"/>
            <a:ext cx="1900000" cy="450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pt-BR" sz="1400" b="1" dirty="0">
                <a:solidFill>
                  <a:srgbClr val="C3FA75"/>
                </a:solidFill>
                <a:latin typeface="Open Sans"/>
                <a:cs typeface="Open Sans"/>
              </a:rPr>
              <a:t>Offset</a:t>
            </a:r>
          </a:p>
        </p:txBody>
      </p:sp>
      <p:sp>
        <p:nvSpPr>
          <p:cNvPr id="1018" name="H1 1018"/>
          <p:cNvSpPr/>
          <p:nvPr/>
        </p:nvSpPr>
        <p:spPr>
          <a:xfrm>
            <a:off x="2368506" y="4326900"/>
            <a:ext cx="1900000" cy="450000"/>
          </a:xfrm>
          <a:prstGeom prst="rect">
            <a:avLst/>
          </a:prstGeom>
          <a:solidFill>
            <a:srgbClr val="142D59"/>
          </a:solidFill>
          <a:ln w="6350">
            <a:solidFill>
              <a:srgbClr val="C3FA75"/>
            </a:solidFill>
          </a:ln>
        </p:spPr>
        <p:txBody>
          <a:bodyPr/>
          <a:lstStyle/>
          <a:p>
            <a:endParaRPr lang="pt-BR" sz="2800"/>
          </a:p>
        </p:txBody>
      </p:sp>
      <p:sp>
        <p:nvSpPr>
          <p:cNvPr id="1019" name="TextBox 1019"/>
          <p:cNvSpPr txBox="1"/>
          <p:nvPr/>
        </p:nvSpPr>
        <p:spPr>
          <a:xfrm>
            <a:off x="2368506" y="4326900"/>
            <a:ext cx="1900000" cy="450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pt-BR" sz="1400" b="1" dirty="0">
                <a:solidFill>
                  <a:srgbClr val="C3FA75"/>
                </a:solidFill>
                <a:latin typeface="Open Sans"/>
                <a:cs typeface="Open Sans"/>
              </a:rPr>
              <a:t>Position</a:t>
            </a:r>
          </a:p>
        </p:txBody>
      </p:sp>
      <p:sp>
        <p:nvSpPr>
          <p:cNvPr id="1020" name="C00 1020"/>
          <p:cNvSpPr/>
          <p:nvPr/>
        </p:nvSpPr>
        <p:spPr>
          <a:xfrm>
            <a:off x="468506" y="4776900"/>
            <a:ext cx="1900000" cy="450000"/>
          </a:xfrm>
          <a:prstGeom prst="rect">
            <a:avLst/>
          </a:prstGeom>
          <a:solidFill>
            <a:srgbClr val="11412F"/>
          </a:solidFill>
          <a:ln w="3175">
            <a:solidFill>
              <a:srgbClr val="9AA79C"/>
            </a:solidFill>
          </a:ln>
        </p:spPr>
        <p:txBody>
          <a:bodyPr/>
          <a:lstStyle/>
          <a:p>
            <a:endParaRPr lang="pt-BR" sz="2800"/>
          </a:p>
        </p:txBody>
      </p:sp>
      <p:sp>
        <p:nvSpPr>
          <p:cNvPr id="1021" name="TextBox 1021"/>
          <p:cNvSpPr txBox="1"/>
          <p:nvPr/>
        </p:nvSpPr>
        <p:spPr>
          <a:xfrm>
            <a:off x="468506" y="4776900"/>
            <a:ext cx="1900000" cy="450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pt-BR" sz="1200" b="0" dirty="0">
                <a:solidFill>
                  <a:srgbClr val="FFFFFF"/>
                </a:solidFill>
                <a:latin typeface="Open Sans"/>
                <a:cs typeface="Open Sans"/>
              </a:rPr>
              <a:t>0</a:t>
            </a:r>
          </a:p>
        </p:txBody>
      </p:sp>
      <p:sp>
        <p:nvSpPr>
          <p:cNvPr id="1022" name="C01 1022"/>
          <p:cNvSpPr/>
          <p:nvPr/>
        </p:nvSpPr>
        <p:spPr>
          <a:xfrm>
            <a:off x="2368506" y="4776900"/>
            <a:ext cx="1900000" cy="450000"/>
          </a:xfrm>
          <a:prstGeom prst="rect">
            <a:avLst/>
          </a:prstGeom>
          <a:solidFill>
            <a:srgbClr val="11412F"/>
          </a:solidFill>
          <a:ln w="3175">
            <a:solidFill>
              <a:srgbClr val="9AA79C"/>
            </a:solidFill>
          </a:ln>
        </p:spPr>
        <p:txBody>
          <a:bodyPr/>
          <a:lstStyle/>
          <a:p>
            <a:endParaRPr lang="pt-BR" sz="2800"/>
          </a:p>
        </p:txBody>
      </p:sp>
      <p:sp>
        <p:nvSpPr>
          <p:cNvPr id="1023" name="TextBox 1023"/>
          <p:cNvSpPr txBox="1"/>
          <p:nvPr/>
        </p:nvSpPr>
        <p:spPr>
          <a:xfrm>
            <a:off x="2368506" y="4776900"/>
            <a:ext cx="1900000" cy="450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pt-BR" sz="1200" b="0" dirty="0">
                <a:solidFill>
                  <a:srgbClr val="FFFFFF"/>
                </a:solidFill>
                <a:latin typeface="Open Sans"/>
                <a:cs typeface="Open Sans"/>
              </a:rPr>
              <a:t>0</a:t>
            </a:r>
          </a:p>
        </p:txBody>
      </p:sp>
      <p:sp>
        <p:nvSpPr>
          <p:cNvPr id="1024" name="C10 1024"/>
          <p:cNvSpPr/>
          <p:nvPr/>
        </p:nvSpPr>
        <p:spPr>
          <a:xfrm>
            <a:off x="468506" y="5226900"/>
            <a:ext cx="1900000" cy="450000"/>
          </a:xfrm>
          <a:prstGeom prst="rect">
            <a:avLst/>
          </a:prstGeom>
          <a:solidFill>
            <a:srgbClr val="11412F"/>
          </a:solidFill>
          <a:ln w="3175">
            <a:solidFill>
              <a:srgbClr val="9AA79C"/>
            </a:solidFill>
          </a:ln>
        </p:spPr>
        <p:txBody>
          <a:bodyPr/>
          <a:lstStyle/>
          <a:p>
            <a:endParaRPr lang="pt-BR" sz="2800"/>
          </a:p>
        </p:txBody>
      </p:sp>
      <p:sp>
        <p:nvSpPr>
          <p:cNvPr id="1025" name="TextBox 1025"/>
          <p:cNvSpPr txBox="1"/>
          <p:nvPr/>
        </p:nvSpPr>
        <p:spPr>
          <a:xfrm>
            <a:off x="468506" y="5226900"/>
            <a:ext cx="1900000" cy="450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pt-BR" sz="1200" b="0" dirty="0">
                <a:solidFill>
                  <a:srgbClr val="FFFFFF"/>
                </a:solidFill>
                <a:latin typeface="Open Sans"/>
                <a:cs typeface="Open Sans"/>
              </a:rPr>
              <a:t>1</a:t>
            </a:r>
          </a:p>
        </p:txBody>
      </p:sp>
      <p:sp>
        <p:nvSpPr>
          <p:cNvPr id="1026" name="C11 1026"/>
          <p:cNvSpPr/>
          <p:nvPr/>
        </p:nvSpPr>
        <p:spPr>
          <a:xfrm>
            <a:off x="2368506" y="5226900"/>
            <a:ext cx="1900000" cy="450000"/>
          </a:xfrm>
          <a:prstGeom prst="rect">
            <a:avLst/>
          </a:prstGeom>
          <a:solidFill>
            <a:srgbClr val="11412F"/>
          </a:solidFill>
          <a:ln w="3175">
            <a:solidFill>
              <a:srgbClr val="9AA79C"/>
            </a:solidFill>
          </a:ln>
        </p:spPr>
        <p:txBody>
          <a:bodyPr/>
          <a:lstStyle/>
          <a:p>
            <a:endParaRPr lang="pt-BR" sz="2800"/>
          </a:p>
        </p:txBody>
      </p:sp>
      <p:sp>
        <p:nvSpPr>
          <p:cNvPr id="1027" name="TextBox 1027"/>
          <p:cNvSpPr txBox="1"/>
          <p:nvPr/>
        </p:nvSpPr>
        <p:spPr>
          <a:xfrm>
            <a:off x="2368506" y="5226900"/>
            <a:ext cx="1900000" cy="450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pt-BR" sz="1200" b="0" dirty="0">
                <a:solidFill>
                  <a:srgbClr val="FFFFFF"/>
                </a:solidFill>
                <a:latin typeface="Open Sans"/>
                <a:cs typeface="Open Sans"/>
              </a:rPr>
              <a:t>79</a:t>
            </a:r>
          </a:p>
        </p:txBody>
      </p:sp>
      <p:sp>
        <p:nvSpPr>
          <p:cNvPr id="1028" name="H0 1028"/>
          <p:cNvSpPr/>
          <p:nvPr/>
        </p:nvSpPr>
        <p:spPr>
          <a:xfrm>
            <a:off x="9000000" y="4326900"/>
            <a:ext cx="2050000" cy="450000"/>
          </a:xfrm>
          <a:prstGeom prst="rect">
            <a:avLst/>
          </a:prstGeom>
          <a:solidFill>
            <a:srgbClr val="142D59"/>
          </a:solidFill>
          <a:ln w="6350">
            <a:solidFill>
              <a:srgbClr val="C3FA75"/>
            </a:solidFill>
          </a:ln>
        </p:spPr>
        <p:txBody>
          <a:bodyPr/>
          <a:lstStyle/>
          <a:p>
            <a:endParaRPr lang="pt-BR" sz="2800"/>
          </a:p>
        </p:txBody>
      </p:sp>
      <p:sp>
        <p:nvSpPr>
          <p:cNvPr id="1029" name="TextBox 1029"/>
          <p:cNvSpPr txBox="1"/>
          <p:nvPr/>
        </p:nvSpPr>
        <p:spPr>
          <a:xfrm>
            <a:off x="9000000" y="4326900"/>
            <a:ext cx="2050000" cy="450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pt-BR" sz="1400" b="1" dirty="0">
                <a:solidFill>
                  <a:srgbClr val="C3FA75"/>
                </a:solidFill>
                <a:latin typeface="Open Sans"/>
                <a:cs typeface="Open Sans"/>
              </a:rPr>
              <a:t>Offset</a:t>
            </a:r>
          </a:p>
        </p:txBody>
      </p:sp>
      <p:sp>
        <p:nvSpPr>
          <p:cNvPr id="1030" name="H1 1030"/>
          <p:cNvSpPr/>
          <p:nvPr/>
        </p:nvSpPr>
        <p:spPr>
          <a:xfrm>
            <a:off x="11050000" y="4326900"/>
            <a:ext cx="2050000" cy="450000"/>
          </a:xfrm>
          <a:prstGeom prst="rect">
            <a:avLst/>
          </a:prstGeom>
          <a:solidFill>
            <a:srgbClr val="142D59"/>
          </a:solidFill>
          <a:ln w="6350">
            <a:solidFill>
              <a:srgbClr val="C3FA75"/>
            </a:solidFill>
          </a:ln>
        </p:spPr>
        <p:txBody>
          <a:bodyPr/>
          <a:lstStyle/>
          <a:p>
            <a:endParaRPr lang="pt-BR" sz="2800"/>
          </a:p>
        </p:txBody>
      </p:sp>
      <p:sp>
        <p:nvSpPr>
          <p:cNvPr id="1031" name="TextBox 1031"/>
          <p:cNvSpPr txBox="1"/>
          <p:nvPr/>
        </p:nvSpPr>
        <p:spPr>
          <a:xfrm>
            <a:off x="11050000" y="4326900"/>
            <a:ext cx="2050000" cy="450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pt-BR" sz="1400" b="1" dirty="0">
                <a:solidFill>
                  <a:srgbClr val="C3FA75"/>
                </a:solidFill>
                <a:latin typeface="Open Sans"/>
                <a:cs typeface="Open Sans"/>
              </a:rPr>
              <a:t>Position</a:t>
            </a:r>
          </a:p>
        </p:txBody>
      </p:sp>
      <p:sp>
        <p:nvSpPr>
          <p:cNvPr id="1032" name="H2 1032"/>
          <p:cNvSpPr/>
          <p:nvPr/>
        </p:nvSpPr>
        <p:spPr>
          <a:xfrm>
            <a:off x="13100000" y="4326900"/>
            <a:ext cx="2050000" cy="450000"/>
          </a:xfrm>
          <a:prstGeom prst="rect">
            <a:avLst/>
          </a:prstGeom>
          <a:solidFill>
            <a:srgbClr val="142D59"/>
          </a:solidFill>
          <a:ln w="6350">
            <a:solidFill>
              <a:srgbClr val="C3FA75"/>
            </a:solidFill>
          </a:ln>
        </p:spPr>
        <p:txBody>
          <a:bodyPr/>
          <a:lstStyle/>
          <a:p>
            <a:endParaRPr lang="pt-BR" sz="2800"/>
          </a:p>
        </p:txBody>
      </p:sp>
      <p:sp>
        <p:nvSpPr>
          <p:cNvPr id="1033" name="TextBox 1033"/>
          <p:cNvSpPr txBox="1"/>
          <p:nvPr/>
        </p:nvSpPr>
        <p:spPr>
          <a:xfrm>
            <a:off x="13100000" y="4326900"/>
            <a:ext cx="2050000" cy="450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pt-BR" sz="1400" b="1" dirty="0">
                <a:solidFill>
                  <a:srgbClr val="C3FA75"/>
                </a:solidFill>
                <a:latin typeface="Open Sans"/>
                <a:cs typeface="Open Sans"/>
              </a:rPr>
              <a:t>Timestamp</a:t>
            </a:r>
          </a:p>
        </p:txBody>
      </p:sp>
      <p:sp>
        <p:nvSpPr>
          <p:cNvPr id="1034" name="H3 1034"/>
          <p:cNvSpPr/>
          <p:nvPr/>
        </p:nvSpPr>
        <p:spPr>
          <a:xfrm>
            <a:off x="15150000" y="4326900"/>
            <a:ext cx="2050000" cy="450000"/>
          </a:xfrm>
          <a:prstGeom prst="rect">
            <a:avLst/>
          </a:prstGeom>
          <a:solidFill>
            <a:srgbClr val="142D59"/>
          </a:solidFill>
          <a:ln w="6350">
            <a:solidFill>
              <a:srgbClr val="C3FA75"/>
            </a:solidFill>
          </a:ln>
        </p:spPr>
        <p:txBody>
          <a:bodyPr/>
          <a:lstStyle/>
          <a:p>
            <a:endParaRPr lang="pt-BR" sz="2800"/>
          </a:p>
        </p:txBody>
      </p:sp>
      <p:sp>
        <p:nvSpPr>
          <p:cNvPr id="1035" name="TextBox 1035"/>
          <p:cNvSpPr txBox="1"/>
          <p:nvPr/>
        </p:nvSpPr>
        <p:spPr>
          <a:xfrm>
            <a:off x="15150000" y="4326900"/>
            <a:ext cx="2050000" cy="450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pt-BR" sz="1400" b="1" dirty="0">
                <a:solidFill>
                  <a:srgbClr val="C3FA75"/>
                </a:solidFill>
                <a:latin typeface="Open Sans"/>
                <a:cs typeface="Open Sans"/>
              </a:rPr>
              <a:t>Message</a:t>
            </a:r>
          </a:p>
        </p:txBody>
      </p:sp>
      <p:sp>
        <p:nvSpPr>
          <p:cNvPr id="1036" name="C00 1036"/>
          <p:cNvSpPr/>
          <p:nvPr/>
        </p:nvSpPr>
        <p:spPr>
          <a:xfrm>
            <a:off x="9000000" y="4776900"/>
            <a:ext cx="2050000" cy="450000"/>
          </a:xfrm>
          <a:prstGeom prst="rect">
            <a:avLst/>
          </a:prstGeom>
          <a:solidFill>
            <a:srgbClr val="11412F"/>
          </a:solidFill>
          <a:ln w="3175">
            <a:solidFill>
              <a:srgbClr val="9AA79C"/>
            </a:solidFill>
          </a:ln>
        </p:spPr>
        <p:txBody>
          <a:bodyPr/>
          <a:lstStyle/>
          <a:p>
            <a:endParaRPr lang="pt-BR" sz="2800"/>
          </a:p>
        </p:txBody>
      </p:sp>
      <p:sp>
        <p:nvSpPr>
          <p:cNvPr id="1037" name="TextBox 1037"/>
          <p:cNvSpPr txBox="1"/>
          <p:nvPr/>
        </p:nvSpPr>
        <p:spPr>
          <a:xfrm>
            <a:off x="9000000" y="4776900"/>
            <a:ext cx="2050000" cy="450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pt-BR" sz="1200" b="0" dirty="0">
                <a:solidFill>
                  <a:srgbClr val="FFFFFF"/>
                </a:solidFill>
                <a:latin typeface="Open Sans"/>
                <a:cs typeface="Open Sans"/>
              </a:rPr>
              <a:t>0</a:t>
            </a:r>
          </a:p>
        </p:txBody>
      </p:sp>
      <p:sp>
        <p:nvSpPr>
          <p:cNvPr id="1038" name="C01 1038"/>
          <p:cNvSpPr/>
          <p:nvPr/>
        </p:nvSpPr>
        <p:spPr>
          <a:xfrm>
            <a:off x="11050000" y="4776900"/>
            <a:ext cx="2050000" cy="450000"/>
          </a:xfrm>
          <a:prstGeom prst="rect">
            <a:avLst/>
          </a:prstGeom>
          <a:solidFill>
            <a:srgbClr val="11412F"/>
          </a:solidFill>
          <a:ln w="3175">
            <a:solidFill>
              <a:srgbClr val="9AA79C"/>
            </a:solidFill>
          </a:ln>
        </p:spPr>
        <p:txBody>
          <a:bodyPr/>
          <a:lstStyle/>
          <a:p>
            <a:endParaRPr lang="pt-BR" sz="2800"/>
          </a:p>
        </p:txBody>
      </p:sp>
      <p:sp>
        <p:nvSpPr>
          <p:cNvPr id="1039" name="TextBox 1039"/>
          <p:cNvSpPr txBox="1"/>
          <p:nvPr/>
        </p:nvSpPr>
        <p:spPr>
          <a:xfrm>
            <a:off x="11050000" y="4776900"/>
            <a:ext cx="2050000" cy="450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pt-BR" sz="1200" b="0" dirty="0">
                <a:solidFill>
                  <a:srgbClr val="FFFFFF"/>
                </a:solidFill>
                <a:latin typeface="Open Sans"/>
                <a:cs typeface="Open Sans"/>
              </a:rPr>
              <a:t>0</a:t>
            </a:r>
          </a:p>
        </p:txBody>
      </p:sp>
      <p:sp>
        <p:nvSpPr>
          <p:cNvPr id="1040" name="C02 1040"/>
          <p:cNvSpPr/>
          <p:nvPr/>
        </p:nvSpPr>
        <p:spPr>
          <a:xfrm>
            <a:off x="13100000" y="4776900"/>
            <a:ext cx="2050000" cy="450000"/>
          </a:xfrm>
          <a:prstGeom prst="rect">
            <a:avLst/>
          </a:prstGeom>
          <a:solidFill>
            <a:srgbClr val="11412F"/>
          </a:solidFill>
          <a:ln w="3175">
            <a:solidFill>
              <a:srgbClr val="9AA79C"/>
            </a:solidFill>
          </a:ln>
        </p:spPr>
        <p:txBody>
          <a:bodyPr/>
          <a:lstStyle/>
          <a:p>
            <a:endParaRPr lang="pt-BR" sz="2800"/>
          </a:p>
        </p:txBody>
      </p:sp>
      <p:sp>
        <p:nvSpPr>
          <p:cNvPr id="1041" name="TextBox 1041"/>
          <p:cNvSpPr txBox="1"/>
          <p:nvPr/>
        </p:nvSpPr>
        <p:spPr>
          <a:xfrm>
            <a:off x="13100000" y="4776900"/>
            <a:ext cx="2050000" cy="450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pt-BR" sz="1200" b="0" dirty="0">
                <a:solidFill>
                  <a:srgbClr val="FFFFFF"/>
                </a:solidFill>
                <a:latin typeface="Open Sans"/>
                <a:cs typeface="Open Sans"/>
              </a:rPr>
              <a:t>1533443377944</a:t>
            </a:r>
          </a:p>
        </p:txBody>
      </p:sp>
      <p:sp>
        <p:nvSpPr>
          <p:cNvPr id="1042" name="C03 1042"/>
          <p:cNvSpPr/>
          <p:nvPr/>
        </p:nvSpPr>
        <p:spPr>
          <a:xfrm>
            <a:off x="15150000" y="4776900"/>
            <a:ext cx="2050000" cy="450000"/>
          </a:xfrm>
          <a:prstGeom prst="rect">
            <a:avLst/>
          </a:prstGeom>
          <a:solidFill>
            <a:srgbClr val="11412F"/>
          </a:solidFill>
          <a:ln w="3175">
            <a:solidFill>
              <a:srgbClr val="9AA79C"/>
            </a:solidFill>
          </a:ln>
        </p:spPr>
        <p:txBody>
          <a:bodyPr/>
          <a:lstStyle/>
          <a:p>
            <a:endParaRPr lang="pt-BR" sz="2800"/>
          </a:p>
        </p:txBody>
      </p:sp>
      <p:sp>
        <p:nvSpPr>
          <p:cNvPr id="1043" name="TextBox 1043"/>
          <p:cNvSpPr txBox="1"/>
          <p:nvPr/>
        </p:nvSpPr>
        <p:spPr>
          <a:xfrm>
            <a:off x="15150000" y="4776900"/>
            <a:ext cx="2050000" cy="450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pt-BR" sz="1200" b="0" dirty="0">
                <a:solidFill>
                  <a:srgbClr val="FFFFFF"/>
                </a:solidFill>
                <a:latin typeface="Open Sans"/>
                <a:cs typeface="Open Sans"/>
              </a:rPr>
              <a:t>Hello World</a:t>
            </a:r>
          </a:p>
        </p:txBody>
      </p:sp>
      <p:sp>
        <p:nvSpPr>
          <p:cNvPr id="1044" name="C10 1044"/>
          <p:cNvSpPr/>
          <p:nvPr/>
        </p:nvSpPr>
        <p:spPr>
          <a:xfrm>
            <a:off x="9000000" y="5226900"/>
            <a:ext cx="2050000" cy="450000"/>
          </a:xfrm>
          <a:prstGeom prst="rect">
            <a:avLst/>
          </a:prstGeom>
          <a:solidFill>
            <a:srgbClr val="11412F"/>
          </a:solidFill>
          <a:ln w="3175">
            <a:solidFill>
              <a:srgbClr val="9AA79C"/>
            </a:solidFill>
          </a:ln>
        </p:spPr>
        <p:txBody>
          <a:bodyPr/>
          <a:lstStyle/>
          <a:p>
            <a:endParaRPr lang="pt-BR" sz="2800"/>
          </a:p>
        </p:txBody>
      </p:sp>
      <p:sp>
        <p:nvSpPr>
          <p:cNvPr id="1045" name="TextBox 1045"/>
          <p:cNvSpPr txBox="1"/>
          <p:nvPr/>
        </p:nvSpPr>
        <p:spPr>
          <a:xfrm>
            <a:off x="9000000" y="5226900"/>
            <a:ext cx="2050000" cy="450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pt-BR" sz="1200" b="0" dirty="0">
                <a:solidFill>
                  <a:srgbClr val="FFFFFF"/>
                </a:solidFill>
                <a:latin typeface="Open Sans"/>
                <a:cs typeface="Open Sans"/>
              </a:rPr>
              <a:t>1</a:t>
            </a:r>
          </a:p>
        </p:txBody>
      </p:sp>
      <p:sp>
        <p:nvSpPr>
          <p:cNvPr id="1046" name="C11 1046"/>
          <p:cNvSpPr/>
          <p:nvPr/>
        </p:nvSpPr>
        <p:spPr>
          <a:xfrm>
            <a:off x="11050000" y="5226900"/>
            <a:ext cx="2050000" cy="450000"/>
          </a:xfrm>
          <a:prstGeom prst="rect">
            <a:avLst/>
          </a:prstGeom>
          <a:solidFill>
            <a:srgbClr val="11412F"/>
          </a:solidFill>
          <a:ln w="3175">
            <a:solidFill>
              <a:srgbClr val="9AA79C"/>
            </a:solidFill>
          </a:ln>
        </p:spPr>
        <p:txBody>
          <a:bodyPr/>
          <a:lstStyle/>
          <a:p>
            <a:endParaRPr lang="pt-BR" sz="2800"/>
          </a:p>
        </p:txBody>
      </p:sp>
      <p:sp>
        <p:nvSpPr>
          <p:cNvPr id="1047" name="TextBox 1047"/>
          <p:cNvSpPr txBox="1"/>
          <p:nvPr/>
        </p:nvSpPr>
        <p:spPr>
          <a:xfrm>
            <a:off x="11050000" y="5226900"/>
            <a:ext cx="2050000" cy="450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pt-BR" sz="1200" b="0" dirty="0">
                <a:solidFill>
                  <a:srgbClr val="FFFFFF"/>
                </a:solidFill>
                <a:latin typeface="Open Sans"/>
                <a:cs typeface="Open Sans"/>
              </a:rPr>
              <a:t>79</a:t>
            </a:r>
          </a:p>
        </p:txBody>
      </p:sp>
      <p:sp>
        <p:nvSpPr>
          <p:cNvPr id="1048" name="C12 1048"/>
          <p:cNvSpPr/>
          <p:nvPr/>
        </p:nvSpPr>
        <p:spPr>
          <a:xfrm>
            <a:off x="13100000" y="5226900"/>
            <a:ext cx="2050000" cy="450000"/>
          </a:xfrm>
          <a:prstGeom prst="rect">
            <a:avLst/>
          </a:prstGeom>
          <a:solidFill>
            <a:srgbClr val="11412F"/>
          </a:solidFill>
          <a:ln w="3175">
            <a:solidFill>
              <a:srgbClr val="9AA79C"/>
            </a:solidFill>
          </a:ln>
        </p:spPr>
        <p:txBody>
          <a:bodyPr/>
          <a:lstStyle/>
          <a:p>
            <a:endParaRPr lang="pt-BR" sz="2800"/>
          </a:p>
        </p:txBody>
      </p:sp>
      <p:sp>
        <p:nvSpPr>
          <p:cNvPr id="1049" name="TextBox 1049"/>
          <p:cNvSpPr txBox="1"/>
          <p:nvPr/>
        </p:nvSpPr>
        <p:spPr>
          <a:xfrm>
            <a:off x="13100000" y="5226900"/>
            <a:ext cx="2050000" cy="450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pt-BR" sz="1200" b="0" dirty="0">
                <a:solidFill>
                  <a:srgbClr val="FFFFFF"/>
                </a:solidFill>
                <a:latin typeface="Open Sans"/>
                <a:cs typeface="Open Sans"/>
              </a:rPr>
              <a:t>1533462889974</a:t>
            </a:r>
          </a:p>
        </p:txBody>
      </p:sp>
      <p:sp>
        <p:nvSpPr>
          <p:cNvPr id="1050" name="C13 1050"/>
          <p:cNvSpPr/>
          <p:nvPr/>
        </p:nvSpPr>
        <p:spPr>
          <a:xfrm>
            <a:off x="15150000" y="5226900"/>
            <a:ext cx="2050000" cy="450000"/>
          </a:xfrm>
          <a:prstGeom prst="rect">
            <a:avLst/>
          </a:prstGeom>
          <a:solidFill>
            <a:srgbClr val="11412F"/>
          </a:solidFill>
          <a:ln w="3175">
            <a:solidFill>
              <a:srgbClr val="9AA79C"/>
            </a:solidFill>
          </a:ln>
        </p:spPr>
        <p:txBody>
          <a:bodyPr/>
          <a:lstStyle/>
          <a:p>
            <a:endParaRPr lang="pt-BR" sz="2800"/>
          </a:p>
        </p:txBody>
      </p:sp>
      <p:sp>
        <p:nvSpPr>
          <p:cNvPr id="1051" name="TextBox 1051"/>
          <p:cNvSpPr txBox="1"/>
          <p:nvPr/>
        </p:nvSpPr>
        <p:spPr>
          <a:xfrm>
            <a:off x="15150000" y="5226900"/>
            <a:ext cx="2050000" cy="450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pt-BR" sz="1200" b="0" dirty="0">
                <a:solidFill>
                  <a:srgbClr val="FFFFFF"/>
                </a:solidFill>
                <a:latin typeface="Open Sans"/>
                <a:cs typeface="Open Sans"/>
              </a:rPr>
              <a:t>Amazon</a:t>
            </a:r>
          </a:p>
        </p:txBody>
      </p:sp>
      <p:sp>
        <p:nvSpPr>
          <p:cNvPr id="1052" name="SegNote 1052"/>
          <p:cNvSpPr/>
          <p:nvPr/>
        </p:nvSpPr>
        <p:spPr>
          <a:xfrm>
            <a:off x="468506" y="6100000"/>
            <a:ext cx="16850000" cy="2015300"/>
          </a:xfrm>
          <a:prstGeom prst="roundRect">
            <a:avLst>
              <a:gd name="adj" fmla="val 6"/>
            </a:avLst>
          </a:prstGeom>
          <a:solidFill>
            <a:srgbClr val="142D59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053" name="BulletList 1053"/>
          <p:cNvSpPr txBox="1"/>
          <p:nvPr/>
        </p:nvSpPr>
        <p:spPr>
          <a:xfrm>
            <a:off x="750000" y="6300000"/>
            <a:ext cx="16300000" cy="165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342900" indent="-342900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Clr>
                <a:srgbClr val="C3FA75"/>
              </a:buClr>
              <a:buFont typeface="Arial"/>
              <a:buChar char="•"/>
            </a:pPr>
            <a:r>
              <a:rPr lang="pt-BR" sz="1600" dirty="0">
                <a:solidFill>
                  <a:srgbClr val="FFFFFF"/>
                </a:solidFill>
                <a:latin typeface="Open Sans"/>
                <a:cs typeface="Open Sans"/>
              </a:rPr>
              <a:t>Apenas o segmento ativo recebe novas gravações; os demais ficam fechados (read-only) para leitura.</a:t>
            </a:r>
          </a:p>
          <a:p>
            <a:pPr marL="342900" indent="-342900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Clr>
                <a:srgbClr val="C3FA75"/>
              </a:buClr>
              <a:buFont typeface="Arial"/>
              <a:buChar char="•"/>
            </a:pPr>
            <a:r>
              <a:rPr lang="pt-BR" sz="1600" dirty="0">
                <a:solidFill>
                  <a:srgbClr val="FFFFFF"/>
                </a:solidFill>
                <a:latin typeface="Open Sans"/>
                <a:cs typeface="Open Sans"/>
              </a:rPr>
              <a:t>O Index File permite localizar rapidamente a posição física de um offset dentro do Log File, sem varrer o arquivo inteiro.</a:t>
            </a:r>
          </a:p>
          <a:p>
            <a:pPr marL="342900" indent="-342900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Clr>
                <a:srgbClr val="C3FA75"/>
              </a:buClr>
              <a:buFont typeface="Arial"/>
              <a:buChar char="•"/>
            </a:pPr>
            <a:r>
              <a:rPr lang="pt-BR" sz="1600" dirty="0">
                <a:solidFill>
                  <a:srgbClr val="FFFFFF"/>
                </a:solidFill>
                <a:latin typeface="Open Sans"/>
                <a:cs typeface="Open Sans"/>
              </a:rPr>
              <a:t>Políticas de retenção (por tempo ou tamanho) e compactação (log compaction) atuam no nível de segmento, apagando os mais antigos.</a:t>
            </a:r>
          </a:p>
        </p:txBody>
      </p:sp>
    </p:spTree>
    <p:extLst>
      <p:ext uri="{BB962C8B-B14F-4D97-AF65-F5344CB8AC3E}">
        <p14:creationId xmlns:p14="http://schemas.microsoft.com/office/powerpoint/2010/main" val="38119452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9BC9B4-CD2E-7315-E6EC-AEE2964348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8">
            <a:extLst>
              <a:ext uri="{FF2B5EF4-FFF2-40B4-BE49-F238E27FC236}">
                <a16:creationId xmlns:a16="http://schemas.microsoft.com/office/drawing/2014/main" id="{436209BC-E2A5-880C-EFC0-5BD814B04AB0}"/>
              </a:ext>
            </a:extLst>
          </p:cNvPr>
          <p:cNvSpPr txBox="1"/>
          <p:nvPr/>
        </p:nvSpPr>
        <p:spPr>
          <a:xfrm>
            <a:off x="17822384" y="9762665"/>
            <a:ext cx="294954" cy="428194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 dirty="0">
                <a:solidFill>
                  <a:srgbClr val="C3FA75"/>
                </a:solidFill>
                <a:latin typeface="DM Sans 1"/>
                <a:ea typeface="DM Sans 1"/>
                <a:cs typeface="DM Sans 1"/>
                <a:sym typeface="DM Sans 1"/>
              </a:rPr>
              <a:t>15</a:t>
            </a:r>
          </a:p>
        </p:txBody>
      </p:sp>
      <p:sp>
        <p:nvSpPr>
          <p:cNvPr id="10" name="Espaço Reservado para Rodapé 9">
            <a:extLst>
              <a:ext uri="{FF2B5EF4-FFF2-40B4-BE49-F238E27FC236}">
                <a16:creationId xmlns:a16="http://schemas.microsoft.com/office/drawing/2014/main" id="{551AF76A-5214-D5C9-0E08-F5202080ED4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FIA LABDATA . Copyright all rights reserved.</a:t>
            </a:r>
            <a:endParaRPr lang="pt-BR" dirty="0"/>
          </a:p>
        </p:txBody>
      </p:sp>
      <p:sp>
        <p:nvSpPr>
          <p:cNvPr id="1021" name="TextBox 1021"/>
          <p:cNvSpPr txBox="1"/>
          <p:nvPr/>
        </p:nvSpPr>
        <p:spPr>
          <a:xfrm>
            <a:off x="653506" y="6002300"/>
            <a:ext cx="16850000" cy="35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lang="pt-BR" sz="1350" b="1" dirty="0">
                <a:solidFill>
                  <a:srgbClr val="C3FA75"/>
                </a:solidFill>
                <a:latin typeface="Open Sans"/>
                <a:cs typeface="Open Sans"/>
              </a:rPr>
              <a:t>Broker: entidade que armazena as mensagens publicadas e retém por um tempo determinado</a:t>
            </a:r>
          </a:p>
        </p:txBody>
      </p:sp>
      <p:sp>
        <p:nvSpPr>
          <p:cNvPr id="1022" name="BulletList 1022"/>
          <p:cNvSpPr txBox="1"/>
          <p:nvPr/>
        </p:nvSpPr>
        <p:spPr>
          <a:xfrm>
            <a:off x="694200" y="6890100"/>
            <a:ext cx="7874600" cy="24319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342900" indent="-342900">
              <a:lnSpc>
                <a:spcPts val="2000"/>
              </a:lnSpc>
              <a:spcBef>
                <a:spcPts val="0"/>
              </a:spcBef>
              <a:spcAft>
                <a:spcPts val="800"/>
              </a:spcAft>
              <a:buClr>
                <a:srgbClr val="C3FA75"/>
              </a:buClr>
              <a:buFont typeface="Arial"/>
              <a:buChar char="•"/>
            </a:pPr>
            <a:r>
              <a:rPr lang="pt-BR" sz="1600" dirty="0">
                <a:solidFill>
                  <a:srgbClr val="FFFFFF"/>
                </a:solidFill>
                <a:latin typeface="Open Sans"/>
                <a:cs typeface="Open Sans"/>
              </a:rPr>
              <a:t>Um cluster Kafka é composto por um ou mais brokers.</a:t>
            </a:r>
          </a:p>
          <a:p>
            <a:pPr marL="342900" indent="-342900">
              <a:lnSpc>
                <a:spcPts val="2000"/>
              </a:lnSpc>
              <a:spcBef>
                <a:spcPts val="0"/>
              </a:spcBef>
              <a:spcAft>
                <a:spcPts val="800"/>
              </a:spcAft>
              <a:buClr>
                <a:srgbClr val="C3FA75"/>
              </a:buClr>
              <a:buFont typeface="Arial"/>
              <a:buChar char="•"/>
            </a:pPr>
            <a:r>
              <a:rPr lang="pt-BR" sz="1600" dirty="0">
                <a:solidFill>
                  <a:srgbClr val="FFFFFF"/>
                </a:solidFill>
                <a:latin typeface="Open Sans"/>
                <a:cs typeface="Open Sans"/>
              </a:rPr>
              <a:t>Cada broker possui um identificador único (broker.id).</a:t>
            </a:r>
          </a:p>
          <a:p>
            <a:pPr marL="342900" indent="-342900">
              <a:lnSpc>
                <a:spcPts val="2000"/>
              </a:lnSpc>
              <a:spcBef>
                <a:spcPts val="0"/>
              </a:spcBef>
              <a:spcAft>
                <a:spcPts val="800"/>
              </a:spcAft>
              <a:buClr>
                <a:srgbClr val="C3FA75"/>
              </a:buClr>
              <a:buFont typeface="Arial"/>
              <a:buChar char="•"/>
            </a:pPr>
            <a:r>
              <a:rPr lang="pt-BR" sz="1600" dirty="0">
                <a:solidFill>
                  <a:srgbClr val="FFFFFF"/>
                </a:solidFill>
                <a:latin typeface="Open Sans"/>
                <a:cs typeface="Open Sans"/>
              </a:rPr>
              <a:t>Cada broker armazena um subconjunto das partições do cluster.</a:t>
            </a:r>
          </a:p>
          <a:p>
            <a:pPr marL="342900" indent="-342900">
              <a:lnSpc>
                <a:spcPts val="2000"/>
              </a:lnSpc>
              <a:spcBef>
                <a:spcPts val="0"/>
              </a:spcBef>
              <a:spcAft>
                <a:spcPts val="800"/>
              </a:spcAft>
              <a:buClr>
                <a:srgbClr val="C3FA75"/>
              </a:buClr>
              <a:buFont typeface="Arial"/>
              <a:buChar char="•"/>
            </a:pPr>
            <a:r>
              <a:rPr lang="pt-BR" sz="1600" dirty="0">
                <a:solidFill>
                  <a:srgbClr val="FFFFFF"/>
                </a:solidFill>
                <a:latin typeface="Open Sans"/>
                <a:cs typeface="Open Sans"/>
              </a:rPr>
              <a:t>A lista de conexão inicial do cluster é chamada de bootstrap servers.</a:t>
            </a:r>
          </a:p>
          <a:p>
            <a:pPr marL="342900" indent="-342900">
              <a:lnSpc>
                <a:spcPts val="2000"/>
              </a:lnSpc>
              <a:spcBef>
                <a:spcPts val="0"/>
              </a:spcBef>
              <a:spcAft>
                <a:spcPts val="800"/>
              </a:spcAft>
              <a:buClr>
                <a:srgbClr val="C3FA75"/>
              </a:buClr>
              <a:buFont typeface="Arial"/>
              <a:buChar char="•"/>
            </a:pPr>
            <a:r>
              <a:rPr lang="pt-BR" sz="1600" dirty="0">
                <a:solidFill>
                  <a:srgbClr val="FFFFFF"/>
                </a:solidFill>
                <a:latin typeface="Open Sans"/>
                <a:cs typeface="Open Sans"/>
              </a:rPr>
              <a:t>Boa prática em produção: iniciar com no mínimo 3 brokers para tolerância a falhas.</a:t>
            </a:r>
          </a:p>
        </p:txBody>
      </p:sp>
      <p:sp>
        <p:nvSpPr>
          <p:cNvPr id="1023" name="BrokerNote 1023"/>
          <p:cNvSpPr/>
          <p:nvPr/>
        </p:nvSpPr>
        <p:spPr>
          <a:xfrm>
            <a:off x="8868800" y="6743700"/>
            <a:ext cx="8200000" cy="2431900"/>
          </a:xfrm>
          <a:prstGeom prst="roundRect">
            <a:avLst>
              <a:gd name="adj" fmla="val 6"/>
            </a:avLst>
          </a:prstGeom>
          <a:solidFill>
            <a:srgbClr val="142D59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024" name="TextBox 1024"/>
          <p:cNvSpPr txBox="1"/>
          <p:nvPr/>
        </p:nvSpPr>
        <p:spPr>
          <a:xfrm>
            <a:off x="9168800" y="6993700"/>
            <a:ext cx="7600000" cy="5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pt-BR" sz="1600" b="1" dirty="0">
                <a:solidFill>
                  <a:srgbClr val="C3FA75"/>
                </a:solidFill>
                <a:latin typeface="Open Sans"/>
                <a:cs typeface="Open Sans"/>
              </a:rPr>
              <a:t>Controller</a:t>
            </a:r>
          </a:p>
        </p:txBody>
      </p:sp>
      <p:sp>
        <p:nvSpPr>
          <p:cNvPr id="1025" name="BulletList 1025"/>
          <p:cNvSpPr txBox="1"/>
          <p:nvPr/>
        </p:nvSpPr>
        <p:spPr>
          <a:xfrm>
            <a:off x="9168800" y="7595864"/>
            <a:ext cx="7600000" cy="137245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342900" indent="-342900">
              <a:lnSpc>
                <a:spcPts val="2000"/>
              </a:lnSpc>
              <a:spcBef>
                <a:spcPts val="0"/>
              </a:spcBef>
              <a:spcAft>
                <a:spcPts val="800"/>
              </a:spcAft>
              <a:buClr>
                <a:srgbClr val="C3FA75"/>
              </a:buClr>
              <a:buFont typeface="Arial"/>
              <a:buChar char="•"/>
            </a:pPr>
            <a:r>
              <a:rPr lang="pt-BR" sz="1400" dirty="0">
                <a:solidFill>
                  <a:srgbClr val="FFFFFF"/>
                </a:solidFill>
                <a:latin typeface="Open Sans"/>
                <a:cs typeface="Open Sans"/>
              </a:rPr>
              <a:t>Um dos brokers assume o papel de Controller do cluster.</a:t>
            </a:r>
          </a:p>
          <a:p>
            <a:pPr marL="342900" indent="-342900">
              <a:lnSpc>
                <a:spcPts val="2000"/>
              </a:lnSpc>
              <a:spcBef>
                <a:spcPts val="0"/>
              </a:spcBef>
              <a:spcAft>
                <a:spcPts val="800"/>
              </a:spcAft>
              <a:buClr>
                <a:srgbClr val="C3FA75"/>
              </a:buClr>
              <a:buFont typeface="Arial"/>
              <a:buChar char="•"/>
            </a:pPr>
            <a:r>
              <a:rPr lang="pt-BR" sz="1400" dirty="0">
                <a:solidFill>
                  <a:srgbClr val="FFFFFF"/>
                </a:solidFill>
                <a:latin typeface="Open Sans"/>
                <a:cs typeface="Open Sans"/>
              </a:rPr>
              <a:t>Responsável por eleger o líder de cada partição e detectar falhas de brokers.</a:t>
            </a:r>
          </a:p>
          <a:p>
            <a:pPr marL="342900" indent="-342900">
              <a:lnSpc>
                <a:spcPts val="2000"/>
              </a:lnSpc>
              <a:spcBef>
                <a:spcPts val="0"/>
              </a:spcBef>
              <a:spcAft>
                <a:spcPts val="800"/>
              </a:spcAft>
              <a:buClr>
                <a:srgbClr val="C3FA75"/>
              </a:buClr>
              <a:buFont typeface="Arial"/>
              <a:buChar char="•"/>
            </a:pPr>
            <a:r>
              <a:rPr lang="pt-BR" sz="1400" dirty="0">
                <a:solidFill>
                  <a:srgbClr val="FFFFFF"/>
                </a:solidFill>
                <a:latin typeface="Open Sans"/>
                <a:cs typeface="Open Sans"/>
              </a:rPr>
              <a:t>A partir do Kafka 2.8+ (modo KRaft), essa função é feita internamente pelo próprio Kafka, sem Zookeeper.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757E257-C9BB-446C-5FAE-AECACF5C84DD}"/>
              </a:ext>
            </a:extLst>
          </p:cNvPr>
          <p:cNvSpPr txBox="1"/>
          <p:nvPr/>
        </p:nvSpPr>
        <p:spPr>
          <a:xfrm>
            <a:off x="468506" y="495300"/>
            <a:ext cx="17350987" cy="307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pt-BR" sz="2000" b="1" dirty="0">
                <a:solidFill>
                  <a:srgbClr val="084734"/>
                </a:solidFill>
                <a:latin typeface="DM Sans"/>
              </a:rPr>
              <a:t>KAFKA | 3.  ARQUITETURA | BROKERS</a:t>
            </a:r>
          </a:p>
        </p:txBody>
      </p:sp>
      <p:pic>
        <p:nvPicPr>
          <p:cNvPr id="27" name="Imagem 26">
            <a:extLst>
              <a:ext uri="{FF2B5EF4-FFF2-40B4-BE49-F238E27FC236}">
                <a16:creationId xmlns:a16="http://schemas.microsoft.com/office/drawing/2014/main" id="{BBF0BEB8-5C31-9B09-7121-1AB11DA263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7184" y="1305977"/>
            <a:ext cx="14031616" cy="4371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75251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9BC9B4-CD2E-7315-E6EC-AEE2964348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8">
            <a:extLst>
              <a:ext uri="{FF2B5EF4-FFF2-40B4-BE49-F238E27FC236}">
                <a16:creationId xmlns:a16="http://schemas.microsoft.com/office/drawing/2014/main" id="{436209BC-E2A5-880C-EFC0-5BD814B04AB0}"/>
              </a:ext>
            </a:extLst>
          </p:cNvPr>
          <p:cNvSpPr txBox="1"/>
          <p:nvPr/>
        </p:nvSpPr>
        <p:spPr>
          <a:xfrm>
            <a:off x="17819178" y="9762665"/>
            <a:ext cx="301366" cy="428194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 dirty="0">
                <a:solidFill>
                  <a:srgbClr val="C3FA75"/>
                </a:solidFill>
                <a:latin typeface="DM Sans 1"/>
                <a:ea typeface="DM Sans 1"/>
                <a:cs typeface="DM Sans 1"/>
                <a:sym typeface="DM Sans 1"/>
              </a:rPr>
              <a:t>16</a:t>
            </a:r>
          </a:p>
        </p:txBody>
      </p:sp>
      <p:sp>
        <p:nvSpPr>
          <p:cNvPr id="10" name="Espaço Reservado para Rodapé 9">
            <a:extLst>
              <a:ext uri="{FF2B5EF4-FFF2-40B4-BE49-F238E27FC236}">
                <a16:creationId xmlns:a16="http://schemas.microsoft.com/office/drawing/2014/main" id="{551AF76A-5214-D5C9-0E08-F5202080ED4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FIA LABDATA . Copyright all rights reserved.</a:t>
            </a:r>
            <a:endParaRPr lang="pt-BR" dirty="0"/>
          </a:p>
        </p:txBody>
      </p:sp>
      <p:sp>
        <p:nvSpPr>
          <p:cNvPr id="1021" name="BulletList 1021"/>
          <p:cNvSpPr txBox="1"/>
          <p:nvPr/>
        </p:nvSpPr>
        <p:spPr>
          <a:xfrm>
            <a:off x="828400" y="5952577"/>
            <a:ext cx="16850000" cy="14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342900" indent="-342900">
              <a:lnSpc>
                <a:spcPts val="2000"/>
              </a:lnSpc>
              <a:spcBef>
                <a:spcPts val="0"/>
              </a:spcBef>
              <a:spcAft>
                <a:spcPts val="800"/>
              </a:spcAft>
              <a:buClr>
                <a:srgbClr val="C3FA75"/>
              </a:buClr>
              <a:buFont typeface="Arial"/>
              <a:buChar char="•"/>
            </a:pPr>
            <a:r>
              <a:rPr lang="pt-BR" sz="1600" dirty="0">
                <a:solidFill>
                  <a:srgbClr val="FFFFFF"/>
                </a:solidFill>
                <a:latin typeface="Open Sans"/>
                <a:cs typeface="Open Sans"/>
              </a:rPr>
              <a:t>Partições determinam o máximo de paralelismo do consumo.</a:t>
            </a:r>
          </a:p>
          <a:p>
            <a:pPr marL="342900" indent="-342900">
              <a:lnSpc>
                <a:spcPts val="2000"/>
              </a:lnSpc>
              <a:spcBef>
                <a:spcPts val="0"/>
              </a:spcBef>
              <a:spcAft>
                <a:spcPts val="800"/>
              </a:spcAft>
              <a:buClr>
                <a:srgbClr val="C3FA75"/>
              </a:buClr>
              <a:buFont typeface="Arial"/>
              <a:buChar char="•"/>
            </a:pPr>
            <a:r>
              <a:rPr lang="pt-BR" sz="1600" dirty="0">
                <a:solidFill>
                  <a:srgbClr val="FFFFFF"/>
                </a:solidFill>
                <a:latin typeface="Open Sans"/>
                <a:cs typeface="Open Sans"/>
              </a:rPr>
              <a:t>Consumidores são organizados em Consumer Groups, configurados com o mesmo group.id.</a:t>
            </a:r>
          </a:p>
          <a:p>
            <a:pPr marL="342900" indent="-342900">
              <a:lnSpc>
                <a:spcPts val="2000"/>
              </a:lnSpc>
              <a:spcBef>
                <a:spcPts val="0"/>
              </a:spcBef>
              <a:spcAft>
                <a:spcPts val="800"/>
              </a:spcAft>
              <a:buClr>
                <a:srgbClr val="C3FA75"/>
              </a:buClr>
              <a:buFont typeface="Arial"/>
              <a:buChar char="•"/>
            </a:pPr>
            <a:r>
              <a:rPr lang="pt-BR" sz="1600" dirty="0">
                <a:solidFill>
                  <a:srgbClr val="FFFFFF"/>
                </a:solidFill>
                <a:latin typeface="Open Sans"/>
                <a:cs typeface="Open Sans"/>
              </a:rPr>
              <a:t>Cada consumidor no grupo é responsável pelo consumo de uma ou mais partições do(s) tópico(s) inscrito(s).</a:t>
            </a:r>
          </a:p>
        </p:txBody>
      </p:sp>
      <p:sp>
        <p:nvSpPr>
          <p:cNvPr id="1022" name="ConsumerNote 1022"/>
          <p:cNvSpPr/>
          <p:nvPr/>
        </p:nvSpPr>
        <p:spPr>
          <a:xfrm>
            <a:off x="828400" y="7279988"/>
            <a:ext cx="16850000" cy="1922439"/>
          </a:xfrm>
          <a:prstGeom prst="roundRect">
            <a:avLst>
              <a:gd name="adj" fmla="val 6"/>
            </a:avLst>
          </a:prstGeom>
          <a:solidFill>
            <a:srgbClr val="142D59"/>
          </a:solidFill>
          <a:ln>
            <a:noFill/>
          </a:ln>
        </p:spPr>
        <p:txBody>
          <a:bodyPr/>
          <a:lstStyle/>
          <a:p>
            <a:endParaRPr lang="pt-BR" sz="1600"/>
          </a:p>
        </p:txBody>
      </p:sp>
      <p:sp>
        <p:nvSpPr>
          <p:cNvPr id="1023" name="TextBox 1023"/>
          <p:cNvSpPr txBox="1"/>
          <p:nvPr/>
        </p:nvSpPr>
        <p:spPr>
          <a:xfrm>
            <a:off x="1109894" y="7479988"/>
            <a:ext cx="16300000" cy="5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pt-BR" sz="1600" b="1" dirty="0">
                <a:solidFill>
                  <a:srgbClr val="C3FA75"/>
                </a:solidFill>
                <a:latin typeface="Open Sans"/>
                <a:cs typeface="Open Sans"/>
              </a:rPr>
              <a:t>Rebalanceamento (Rebalance)</a:t>
            </a:r>
          </a:p>
        </p:txBody>
      </p:sp>
      <p:sp>
        <p:nvSpPr>
          <p:cNvPr id="1024" name="BulletList 1024"/>
          <p:cNvSpPr txBox="1"/>
          <p:nvPr/>
        </p:nvSpPr>
        <p:spPr>
          <a:xfrm>
            <a:off x="1109894" y="8029988"/>
            <a:ext cx="16300000" cy="13045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342900" indent="-342900">
              <a:lnSpc>
                <a:spcPts val="2000"/>
              </a:lnSpc>
              <a:spcBef>
                <a:spcPts val="0"/>
              </a:spcBef>
              <a:spcAft>
                <a:spcPts val="800"/>
              </a:spcAft>
              <a:buClr>
                <a:srgbClr val="C3FA75"/>
              </a:buClr>
              <a:buFont typeface="Arial"/>
              <a:buChar char="•"/>
            </a:pPr>
            <a:r>
              <a:rPr lang="pt-BR" sz="1600" dirty="0">
                <a:solidFill>
                  <a:srgbClr val="FFFFFF"/>
                </a:solidFill>
                <a:latin typeface="Open Sans"/>
                <a:cs typeface="Open Sans"/>
              </a:rPr>
              <a:t>Se o número de consumidores do grupo for maior que o de partições, alguns consumidores ficam ociosos.</a:t>
            </a:r>
          </a:p>
          <a:p>
            <a:pPr marL="342900" indent="-342900">
              <a:lnSpc>
                <a:spcPts val="2000"/>
              </a:lnSpc>
              <a:spcBef>
                <a:spcPts val="0"/>
              </a:spcBef>
              <a:spcAft>
                <a:spcPts val="800"/>
              </a:spcAft>
              <a:buClr>
                <a:srgbClr val="C3FA75"/>
              </a:buClr>
              <a:buFont typeface="Arial"/>
              <a:buChar char="•"/>
            </a:pPr>
            <a:r>
              <a:rPr lang="pt-BR" sz="1600" dirty="0">
                <a:solidFill>
                  <a:srgbClr val="FFFFFF"/>
                </a:solidFill>
                <a:latin typeface="Open Sans"/>
                <a:cs typeface="Open Sans"/>
              </a:rPr>
              <a:t>Ao entrar ou sair um consumidor do grupo, o Kafka redistribui automaticamente as partições entre os membros ativos (rebalance).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757E257-C9BB-446C-5FAE-AECACF5C84DD}"/>
              </a:ext>
            </a:extLst>
          </p:cNvPr>
          <p:cNvSpPr txBox="1"/>
          <p:nvPr/>
        </p:nvSpPr>
        <p:spPr>
          <a:xfrm>
            <a:off x="468506" y="495300"/>
            <a:ext cx="17350987" cy="307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pt-BR" sz="2000" b="1" dirty="0">
                <a:solidFill>
                  <a:srgbClr val="084734"/>
                </a:solidFill>
                <a:latin typeface="DM Sans"/>
              </a:rPr>
              <a:t>KAFKA | 3.  ARQUITETURA | CONSUMER</a:t>
            </a:r>
          </a:p>
        </p:txBody>
      </p:sp>
      <p:pic>
        <p:nvPicPr>
          <p:cNvPr id="26" name="Imagem 25">
            <a:extLst>
              <a:ext uri="{FF2B5EF4-FFF2-40B4-BE49-F238E27FC236}">
                <a16:creationId xmlns:a16="http://schemas.microsoft.com/office/drawing/2014/main" id="{13EF0024-7654-2AA5-0BC2-7D5B1B17BA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1399210"/>
            <a:ext cx="12534900" cy="3905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75251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7EE9F0-890E-8151-E721-827FB178C1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>
            <a:extLst>
              <a:ext uri="{FF2B5EF4-FFF2-40B4-BE49-F238E27FC236}">
                <a16:creationId xmlns:a16="http://schemas.microsoft.com/office/drawing/2014/main" id="{BBB1F523-3A5E-DF42-1E74-5816E9135E02}"/>
              </a:ext>
            </a:extLst>
          </p:cNvPr>
          <p:cNvSpPr txBox="1"/>
          <p:nvPr/>
        </p:nvSpPr>
        <p:spPr>
          <a:xfrm>
            <a:off x="468506" y="495300"/>
            <a:ext cx="17350987" cy="307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pt-BR" sz="2000" b="1" dirty="0">
                <a:solidFill>
                  <a:srgbClr val="084734"/>
                </a:solidFill>
                <a:latin typeface="DM Sans"/>
              </a:rPr>
              <a:t>KAFKA | 3.  ARQUITETURA | ZOOKEEPER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4A008E2C-5B02-9A5F-9F80-4DAE25E4B772}"/>
              </a:ext>
            </a:extLst>
          </p:cNvPr>
          <p:cNvSpPr txBox="1"/>
          <p:nvPr/>
        </p:nvSpPr>
        <p:spPr>
          <a:xfrm>
            <a:off x="17834407" y="9762665"/>
            <a:ext cx="270908" cy="428194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 dirty="0">
                <a:solidFill>
                  <a:srgbClr val="C3FA75"/>
                </a:solidFill>
                <a:latin typeface="DM Sans 1"/>
                <a:ea typeface="DM Sans 1"/>
                <a:cs typeface="DM Sans 1"/>
                <a:sym typeface="DM Sans 1"/>
              </a:rPr>
              <a:t>17</a:t>
            </a:r>
          </a:p>
        </p:txBody>
      </p:sp>
      <p:sp>
        <p:nvSpPr>
          <p:cNvPr id="10" name="Espaço Reservado para Rodapé 9">
            <a:extLst>
              <a:ext uri="{FF2B5EF4-FFF2-40B4-BE49-F238E27FC236}">
                <a16:creationId xmlns:a16="http://schemas.microsoft.com/office/drawing/2014/main" id="{7328456F-789E-2849-10A4-60CEBDF742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14600" y="9739311"/>
            <a:ext cx="15796727" cy="536025"/>
          </a:xfrm>
        </p:spPr>
        <p:txBody>
          <a:bodyPr/>
          <a:lstStyle/>
          <a:p>
            <a:r>
              <a:rPr lang="en-US" dirty="0"/>
              <a:t>FIA LABDATA . Copyright all rights reserved.</a:t>
            </a:r>
            <a:endParaRPr lang="pt-BR" dirty="0"/>
          </a:p>
        </p:txBody>
      </p:sp>
      <p:sp>
        <p:nvSpPr>
          <p:cNvPr id="1003" name="TextBox 1003"/>
          <p:cNvSpPr txBox="1"/>
          <p:nvPr/>
        </p:nvSpPr>
        <p:spPr>
          <a:xfrm>
            <a:off x="1495394" y="5455345"/>
            <a:ext cx="2600000" cy="5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lang="pt-BR" sz="1500" b="1" dirty="0">
                <a:solidFill>
                  <a:srgbClr val="C3FA75"/>
                </a:solidFill>
                <a:latin typeface="Open Sans"/>
                <a:cs typeface="Open Sans"/>
              </a:rPr>
              <a:t>ZooKeeper</a:t>
            </a:r>
          </a:p>
        </p:txBody>
      </p:sp>
      <p:sp>
        <p:nvSpPr>
          <p:cNvPr id="1004" name="TextBox 1004"/>
          <p:cNvSpPr txBox="1"/>
          <p:nvPr/>
        </p:nvSpPr>
        <p:spPr>
          <a:xfrm>
            <a:off x="5257800" y="2353077"/>
            <a:ext cx="12192000" cy="5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lang="pt-BR" b="1" dirty="0">
                <a:solidFill>
                  <a:srgbClr val="FFFFFF"/>
                </a:solidFill>
                <a:latin typeface="Open Sans"/>
                <a:cs typeface="Open Sans"/>
              </a:rPr>
              <a:t>Serviço de coordenação distribuída usado pelo Kafka (até a versão 2.8)</a:t>
            </a:r>
          </a:p>
        </p:txBody>
      </p:sp>
      <p:sp>
        <p:nvSpPr>
          <p:cNvPr id="1005" name="BulletList 1005"/>
          <p:cNvSpPr txBox="1"/>
          <p:nvPr/>
        </p:nvSpPr>
        <p:spPr>
          <a:xfrm>
            <a:off x="5257800" y="3053077"/>
            <a:ext cx="12192000" cy="225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342900" indent="-342900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Clr>
                <a:srgbClr val="C3FA75"/>
              </a:buClr>
              <a:buFont typeface="Arial"/>
              <a:buChar char="•"/>
            </a:pPr>
            <a:r>
              <a:rPr lang="pt-BR" dirty="0">
                <a:solidFill>
                  <a:srgbClr val="FFFFFF"/>
                </a:solidFill>
                <a:latin typeface="Open Sans"/>
                <a:cs typeface="Open Sans"/>
              </a:rPr>
              <a:t>Gerencia metadados e configuração do cluster.</a:t>
            </a:r>
          </a:p>
          <a:p>
            <a:pPr marL="342900" indent="-342900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Clr>
                <a:srgbClr val="C3FA75"/>
              </a:buClr>
              <a:buFont typeface="Arial"/>
              <a:buChar char="•"/>
            </a:pPr>
            <a:r>
              <a:rPr lang="pt-BR" dirty="0">
                <a:solidFill>
                  <a:srgbClr val="FFFFFF"/>
                </a:solidFill>
                <a:latin typeface="Open Sans"/>
                <a:cs typeface="Open Sans"/>
              </a:rPr>
              <a:t>Coordena a descoberta dos brokers ativos.</a:t>
            </a:r>
          </a:p>
          <a:p>
            <a:pPr marL="342900" indent="-342900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Clr>
                <a:srgbClr val="C3FA75"/>
              </a:buClr>
              <a:buFont typeface="Arial"/>
              <a:buChar char="•"/>
            </a:pPr>
            <a:r>
              <a:rPr lang="pt-BR" dirty="0">
                <a:solidFill>
                  <a:srgbClr val="FFFFFF"/>
                </a:solidFill>
                <a:latin typeface="Open Sans"/>
                <a:cs typeface="Open Sans"/>
              </a:rPr>
              <a:t>Ajuda a realizar a eleição do broker líder de cada partição.</a:t>
            </a:r>
          </a:p>
          <a:p>
            <a:pPr marL="342900" indent="-342900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Clr>
                <a:srgbClr val="C3FA75"/>
              </a:buClr>
              <a:buFont typeface="Arial"/>
              <a:buChar char="•"/>
            </a:pPr>
            <a:r>
              <a:rPr lang="pt-BR" dirty="0">
                <a:solidFill>
                  <a:srgbClr val="FFFFFF"/>
                </a:solidFill>
                <a:latin typeface="Open Sans"/>
                <a:cs typeface="Open Sans"/>
              </a:rPr>
              <a:t>Notifica mudanças no cluster: novo tópico, novo broker, broker indisponível.</a:t>
            </a:r>
          </a:p>
        </p:txBody>
      </p:sp>
      <p:sp>
        <p:nvSpPr>
          <p:cNvPr id="1006" name="ZKNote 1006"/>
          <p:cNvSpPr/>
          <p:nvPr/>
        </p:nvSpPr>
        <p:spPr>
          <a:xfrm>
            <a:off x="468506" y="6350000"/>
            <a:ext cx="16850000" cy="2250000"/>
          </a:xfrm>
          <a:prstGeom prst="roundRect">
            <a:avLst>
              <a:gd name="adj" fmla="val 6"/>
            </a:avLst>
          </a:prstGeom>
          <a:solidFill>
            <a:srgbClr val="142D59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007" name="TextBox 1007"/>
          <p:cNvSpPr txBox="1"/>
          <p:nvPr/>
        </p:nvSpPr>
        <p:spPr>
          <a:xfrm>
            <a:off x="750000" y="6550000"/>
            <a:ext cx="16300000" cy="5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lang="pt-BR" b="1" dirty="0">
                <a:solidFill>
                  <a:srgbClr val="C3FA75"/>
                </a:solidFill>
                <a:latin typeface="Open Sans"/>
                <a:cs typeface="Open Sans"/>
              </a:rPr>
              <a:t>Por que coordenação é necessária?</a:t>
            </a:r>
          </a:p>
        </p:txBody>
      </p:sp>
      <p:sp>
        <p:nvSpPr>
          <p:cNvPr id="1008" name="BulletList 1008"/>
          <p:cNvSpPr txBox="1"/>
          <p:nvPr/>
        </p:nvSpPr>
        <p:spPr>
          <a:xfrm>
            <a:off x="750000" y="7100000"/>
            <a:ext cx="16300000" cy="1156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342900" indent="-342900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Clr>
                <a:srgbClr val="C3FA75"/>
              </a:buClr>
              <a:buFont typeface="Arial"/>
              <a:buChar char="•"/>
            </a:pPr>
            <a:r>
              <a:rPr lang="pt-BR" dirty="0">
                <a:solidFill>
                  <a:srgbClr val="FFFFFF"/>
                </a:solidFill>
                <a:latin typeface="Open Sans"/>
                <a:cs typeface="Open Sans"/>
              </a:rPr>
              <a:t>Em um sistema distribuído com múltiplos brokers, é preciso um consenso sobre quem é o líder de cada partição.</a:t>
            </a:r>
          </a:p>
          <a:p>
            <a:pPr marL="342900" indent="-342900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Clr>
                <a:srgbClr val="C3FA75"/>
              </a:buClr>
              <a:buFont typeface="Arial"/>
              <a:buChar char="•"/>
            </a:pPr>
            <a:r>
              <a:rPr lang="pt-BR" dirty="0">
                <a:solidFill>
                  <a:srgbClr val="FFFFFF"/>
                </a:solidFill>
                <a:latin typeface="Open Sans"/>
                <a:cs typeface="Open Sans"/>
              </a:rPr>
              <a:t>Sem essa coordenação, poderia haver duas gravações conflitantes na mesma partição (split-brain).</a:t>
            </a:r>
          </a:p>
        </p:txBody>
      </p:sp>
      <p:pic>
        <p:nvPicPr>
          <p:cNvPr id="3" name="Imagem 2" descr="Ícone de Apache zookeeper logo">
            <a:extLst>
              <a:ext uri="{FF2B5EF4-FFF2-40B4-BE49-F238E27FC236}">
                <a16:creationId xmlns:a16="http://schemas.microsoft.com/office/drawing/2014/main" id="{97DCE9B5-BAE2-7037-BD32-AB2B08323F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300" y="1473200"/>
            <a:ext cx="3670300" cy="3670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194521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7EE9F0-890E-8151-E721-827FB178C1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>
            <a:extLst>
              <a:ext uri="{FF2B5EF4-FFF2-40B4-BE49-F238E27FC236}">
                <a16:creationId xmlns:a16="http://schemas.microsoft.com/office/drawing/2014/main" id="{BBB1F523-3A5E-DF42-1E74-5816E9135E02}"/>
              </a:ext>
            </a:extLst>
          </p:cNvPr>
          <p:cNvSpPr txBox="1"/>
          <p:nvPr/>
        </p:nvSpPr>
        <p:spPr>
          <a:xfrm>
            <a:off x="468506" y="495300"/>
            <a:ext cx="17350987" cy="307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pt-BR" sz="2000" b="1" dirty="0">
                <a:solidFill>
                  <a:srgbClr val="084734"/>
                </a:solidFill>
                <a:latin typeface="DM Sans"/>
              </a:rPr>
              <a:t>KAFKA | 3.  ARQUITETURA | ZOOKEEPER (REPLICAÇÃO)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4A008E2C-5B02-9A5F-9F80-4DAE25E4B772}"/>
              </a:ext>
            </a:extLst>
          </p:cNvPr>
          <p:cNvSpPr txBox="1"/>
          <p:nvPr/>
        </p:nvSpPr>
        <p:spPr>
          <a:xfrm>
            <a:off x="17822384" y="9762665"/>
            <a:ext cx="294954" cy="428194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 dirty="0">
                <a:solidFill>
                  <a:srgbClr val="C3FA75"/>
                </a:solidFill>
                <a:latin typeface="DM Sans 1"/>
                <a:ea typeface="DM Sans 1"/>
                <a:cs typeface="DM Sans 1"/>
                <a:sym typeface="DM Sans 1"/>
              </a:rPr>
              <a:t>18</a:t>
            </a:r>
          </a:p>
        </p:txBody>
      </p:sp>
      <p:sp>
        <p:nvSpPr>
          <p:cNvPr id="10" name="Espaço Reservado para Rodapé 9">
            <a:extLst>
              <a:ext uri="{FF2B5EF4-FFF2-40B4-BE49-F238E27FC236}">
                <a16:creationId xmlns:a16="http://schemas.microsoft.com/office/drawing/2014/main" id="{7328456F-789E-2849-10A4-60CEBDF742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14600" y="9739311"/>
            <a:ext cx="15796727" cy="536025"/>
          </a:xfrm>
        </p:spPr>
        <p:txBody>
          <a:bodyPr/>
          <a:lstStyle/>
          <a:p>
            <a:r>
              <a:rPr lang="en-US" dirty="0"/>
              <a:t>FIA LABDATA . Copyright all rights reserved.</a:t>
            </a:r>
            <a:endParaRPr lang="pt-BR" dirty="0"/>
          </a:p>
        </p:txBody>
      </p:sp>
      <p:sp>
        <p:nvSpPr>
          <p:cNvPr id="1001" name="TextBox 1001"/>
          <p:cNvSpPr txBox="1"/>
          <p:nvPr/>
        </p:nvSpPr>
        <p:spPr>
          <a:xfrm>
            <a:off x="735933" y="2696194"/>
            <a:ext cx="7700000" cy="5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lang="pt-BR" sz="2400" b="1" dirty="0">
                <a:solidFill>
                  <a:srgbClr val="FFFFFF"/>
                </a:solidFill>
                <a:latin typeface="Open Sans"/>
                <a:cs typeface="Open Sans"/>
              </a:rPr>
              <a:t>Replicação e liderança de partição</a:t>
            </a:r>
          </a:p>
        </p:txBody>
      </p:sp>
      <p:sp>
        <p:nvSpPr>
          <p:cNvPr id="1002" name="BulletList 1002"/>
          <p:cNvSpPr txBox="1"/>
          <p:nvPr/>
        </p:nvSpPr>
        <p:spPr>
          <a:xfrm>
            <a:off x="735933" y="3446194"/>
            <a:ext cx="8100000" cy="39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342900" indent="-342900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Clr>
                <a:srgbClr val="C3FA75"/>
              </a:buClr>
              <a:buFont typeface="Arial"/>
              <a:buChar char="•"/>
            </a:pPr>
            <a:r>
              <a:rPr lang="pt-BR" dirty="0">
                <a:solidFill>
                  <a:srgbClr val="FFFFFF"/>
                </a:solidFill>
                <a:latin typeface="Open Sans"/>
                <a:cs typeface="Open Sans"/>
              </a:rPr>
              <a:t>Recomenda-se fator de replicação maior que 1 (padrão de mercado: 3).</a:t>
            </a:r>
          </a:p>
          <a:p>
            <a:pPr marL="342900" indent="-342900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Clr>
                <a:srgbClr val="C3FA75"/>
              </a:buClr>
              <a:buFont typeface="Arial"/>
              <a:buChar char="•"/>
            </a:pPr>
            <a:r>
              <a:rPr lang="pt-BR" dirty="0">
                <a:solidFill>
                  <a:srgbClr val="FFFFFF"/>
                </a:solidFill>
                <a:latin typeface="Open Sans"/>
                <a:cs typeface="Open Sans"/>
              </a:rPr>
              <a:t>O ZooKeeper (ou o Controller, em modo KRaft) define o líder de cada partição.</a:t>
            </a:r>
          </a:p>
          <a:p>
            <a:pPr marL="342900" indent="-342900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Clr>
                <a:srgbClr val="C3FA75"/>
              </a:buClr>
              <a:buFont typeface="Arial"/>
              <a:buChar char="•"/>
            </a:pPr>
            <a:r>
              <a:rPr lang="pt-BR" dirty="0">
                <a:solidFill>
                  <a:srgbClr val="FFFFFF"/>
                </a:solidFill>
                <a:latin typeface="Open Sans"/>
                <a:cs typeface="Open Sans"/>
              </a:rPr>
              <a:t>Leitura e gravação ocorrem somente através da partição líder.</a:t>
            </a:r>
          </a:p>
          <a:p>
            <a:pPr marL="342900" indent="-342900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Clr>
                <a:srgbClr val="C3FA75"/>
              </a:buClr>
              <a:buFont typeface="Arial"/>
              <a:buChar char="•"/>
            </a:pPr>
            <a:r>
              <a:rPr lang="pt-BR" dirty="0">
                <a:solidFill>
                  <a:srgbClr val="FFFFFF"/>
                </a:solidFill>
                <a:latin typeface="Open Sans"/>
                <a:cs typeface="Open Sans"/>
              </a:rPr>
              <a:t>Réplicas seguidoras (followers) não aumentam o paralelismo do produtor ou consumidor — apenas garantem durabilidade.</a:t>
            </a:r>
          </a:p>
          <a:p>
            <a:pPr marL="342900" indent="-342900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Clr>
                <a:srgbClr val="C3FA75"/>
              </a:buClr>
              <a:buFont typeface="Arial"/>
              <a:buChar char="•"/>
            </a:pPr>
            <a:r>
              <a:rPr lang="pt-BR" dirty="0">
                <a:solidFill>
                  <a:srgbClr val="FFFFFF"/>
                </a:solidFill>
                <a:latin typeface="Open Sans"/>
                <a:cs typeface="Open Sans"/>
              </a:rPr>
              <a:t>A ordenação de mensagens só é garantida dentro de uma mesma partição com chave configurada.</a:t>
            </a:r>
          </a:p>
        </p:txBody>
      </p:sp>
      <p:sp>
        <p:nvSpPr>
          <p:cNvPr id="1003" name="ReplDiagBg 1003"/>
          <p:cNvSpPr/>
          <p:nvPr/>
        </p:nvSpPr>
        <p:spPr>
          <a:xfrm>
            <a:off x="9144000" y="2947732"/>
            <a:ext cx="7700000" cy="3900000"/>
          </a:xfrm>
          <a:prstGeom prst="roundRect">
            <a:avLst>
              <a:gd name="adj" fmla="val 6"/>
            </a:avLst>
          </a:prstGeom>
          <a:solidFill>
            <a:srgbClr val="142D59"/>
          </a:solidFill>
          <a:ln>
            <a:noFill/>
          </a:ln>
        </p:spPr>
        <p:txBody>
          <a:bodyPr/>
          <a:lstStyle/>
          <a:p>
            <a:endParaRPr lang="pt-BR" sz="2800"/>
          </a:p>
        </p:txBody>
      </p:sp>
      <p:sp>
        <p:nvSpPr>
          <p:cNvPr id="1004" name="TextBox 1004"/>
          <p:cNvSpPr txBox="1"/>
          <p:nvPr/>
        </p:nvSpPr>
        <p:spPr>
          <a:xfrm>
            <a:off x="9419000" y="3447732"/>
            <a:ext cx="7100000" cy="4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pt-BR" b="1" dirty="0">
                <a:solidFill>
                  <a:srgbClr val="C3FA75"/>
                </a:solidFill>
                <a:latin typeface="Open Sans"/>
                <a:cs typeface="Open Sans"/>
              </a:rPr>
              <a:t>Partição 0 — Fator de Replicação 3</a:t>
            </a:r>
          </a:p>
        </p:txBody>
      </p:sp>
      <p:sp>
        <p:nvSpPr>
          <p:cNvPr id="1005" name="Repl0 1005"/>
          <p:cNvSpPr/>
          <p:nvPr/>
        </p:nvSpPr>
        <p:spPr>
          <a:xfrm>
            <a:off x="9469000" y="4197732"/>
            <a:ext cx="2250000" cy="1600000"/>
          </a:xfrm>
          <a:prstGeom prst="roundRect">
            <a:avLst>
              <a:gd name="adj" fmla="val 10"/>
            </a:avLst>
          </a:prstGeom>
          <a:solidFill>
            <a:srgbClr val="C3FA75"/>
          </a:solidFill>
          <a:ln w="6350">
            <a:solidFill>
              <a:srgbClr val="C3FA75"/>
            </a:solidFill>
          </a:ln>
        </p:spPr>
        <p:txBody>
          <a:bodyPr/>
          <a:lstStyle/>
          <a:p>
            <a:endParaRPr lang="pt-BR" sz="2800"/>
          </a:p>
        </p:txBody>
      </p:sp>
      <p:sp>
        <p:nvSpPr>
          <p:cNvPr id="1006" name="TextBox 1006"/>
          <p:cNvSpPr txBox="1"/>
          <p:nvPr/>
        </p:nvSpPr>
        <p:spPr>
          <a:xfrm>
            <a:off x="9469000" y="4447732"/>
            <a:ext cx="2250000" cy="5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lang="pt-BR" b="1" dirty="0">
                <a:solidFill>
                  <a:srgbClr val="084734"/>
                </a:solidFill>
                <a:latin typeface="Open Sans"/>
                <a:cs typeface="Open Sans"/>
              </a:rPr>
              <a:t>Broker 1</a:t>
            </a:r>
          </a:p>
        </p:txBody>
      </p:sp>
      <p:sp>
        <p:nvSpPr>
          <p:cNvPr id="1007" name="TextBox 1007"/>
          <p:cNvSpPr txBox="1"/>
          <p:nvPr/>
        </p:nvSpPr>
        <p:spPr>
          <a:xfrm>
            <a:off x="9469000" y="5047732"/>
            <a:ext cx="2250000" cy="5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lang="pt-BR" sz="1600" b="0" dirty="0">
                <a:solidFill>
                  <a:srgbClr val="084734"/>
                </a:solidFill>
                <a:latin typeface="Open Sans"/>
                <a:cs typeface="Open Sans"/>
              </a:rPr>
              <a:t>Líder</a:t>
            </a:r>
          </a:p>
        </p:txBody>
      </p:sp>
      <p:sp>
        <p:nvSpPr>
          <p:cNvPr id="1008" name="Repl1 1008"/>
          <p:cNvSpPr/>
          <p:nvPr/>
        </p:nvSpPr>
        <p:spPr>
          <a:xfrm>
            <a:off x="11869000" y="4197732"/>
            <a:ext cx="2250000" cy="1600000"/>
          </a:xfrm>
          <a:prstGeom prst="roundRect">
            <a:avLst>
              <a:gd name="adj" fmla="val 10"/>
            </a:avLst>
          </a:prstGeom>
          <a:solidFill>
            <a:srgbClr val="11412F"/>
          </a:solidFill>
          <a:ln w="6350">
            <a:solidFill>
              <a:srgbClr val="C3FA75"/>
            </a:solidFill>
          </a:ln>
        </p:spPr>
        <p:txBody>
          <a:bodyPr/>
          <a:lstStyle/>
          <a:p>
            <a:endParaRPr lang="pt-BR" sz="2800"/>
          </a:p>
        </p:txBody>
      </p:sp>
      <p:sp>
        <p:nvSpPr>
          <p:cNvPr id="1009" name="TextBox 1009"/>
          <p:cNvSpPr txBox="1"/>
          <p:nvPr/>
        </p:nvSpPr>
        <p:spPr>
          <a:xfrm>
            <a:off x="11869000" y="4447732"/>
            <a:ext cx="2250000" cy="5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lang="pt-BR" b="1" dirty="0">
                <a:solidFill>
                  <a:srgbClr val="FFFFFF"/>
                </a:solidFill>
                <a:latin typeface="Open Sans"/>
                <a:cs typeface="Open Sans"/>
              </a:rPr>
              <a:t>Broker 2</a:t>
            </a:r>
          </a:p>
        </p:txBody>
      </p:sp>
      <p:sp>
        <p:nvSpPr>
          <p:cNvPr id="1010" name="TextBox 1010"/>
          <p:cNvSpPr txBox="1"/>
          <p:nvPr/>
        </p:nvSpPr>
        <p:spPr>
          <a:xfrm>
            <a:off x="11869000" y="5047732"/>
            <a:ext cx="2250000" cy="5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lang="pt-BR" sz="1600" b="0" dirty="0">
                <a:solidFill>
                  <a:srgbClr val="FFFFFF"/>
                </a:solidFill>
                <a:latin typeface="Open Sans"/>
                <a:cs typeface="Open Sans"/>
              </a:rPr>
              <a:t>Follower</a:t>
            </a:r>
          </a:p>
        </p:txBody>
      </p:sp>
      <p:sp>
        <p:nvSpPr>
          <p:cNvPr id="1011" name="Repl2 1011"/>
          <p:cNvSpPr/>
          <p:nvPr/>
        </p:nvSpPr>
        <p:spPr>
          <a:xfrm>
            <a:off x="14269000" y="4197732"/>
            <a:ext cx="2250000" cy="1600000"/>
          </a:xfrm>
          <a:prstGeom prst="roundRect">
            <a:avLst>
              <a:gd name="adj" fmla="val 10"/>
            </a:avLst>
          </a:prstGeom>
          <a:solidFill>
            <a:srgbClr val="11412F"/>
          </a:solidFill>
          <a:ln w="6350">
            <a:solidFill>
              <a:srgbClr val="C3FA75"/>
            </a:solidFill>
          </a:ln>
        </p:spPr>
        <p:txBody>
          <a:bodyPr/>
          <a:lstStyle/>
          <a:p>
            <a:endParaRPr lang="pt-BR" sz="2800"/>
          </a:p>
        </p:txBody>
      </p:sp>
      <p:sp>
        <p:nvSpPr>
          <p:cNvPr id="1012" name="TextBox 1012"/>
          <p:cNvSpPr txBox="1"/>
          <p:nvPr/>
        </p:nvSpPr>
        <p:spPr>
          <a:xfrm>
            <a:off x="14269000" y="4447732"/>
            <a:ext cx="2250000" cy="5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lang="pt-BR" b="1" dirty="0">
                <a:solidFill>
                  <a:srgbClr val="FFFFFF"/>
                </a:solidFill>
                <a:latin typeface="Open Sans"/>
                <a:cs typeface="Open Sans"/>
              </a:rPr>
              <a:t>Broker 3</a:t>
            </a:r>
          </a:p>
        </p:txBody>
      </p:sp>
      <p:sp>
        <p:nvSpPr>
          <p:cNvPr id="1013" name="TextBox 1013"/>
          <p:cNvSpPr txBox="1"/>
          <p:nvPr/>
        </p:nvSpPr>
        <p:spPr>
          <a:xfrm>
            <a:off x="14269000" y="5047732"/>
            <a:ext cx="2250000" cy="5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lang="pt-BR" sz="1600" b="0" dirty="0">
                <a:solidFill>
                  <a:srgbClr val="FFFFFF"/>
                </a:solidFill>
                <a:latin typeface="Open Sans"/>
                <a:cs typeface="Open Sans"/>
              </a:rPr>
              <a:t>Follower</a:t>
            </a:r>
          </a:p>
        </p:txBody>
      </p:sp>
    </p:spTree>
    <p:extLst>
      <p:ext uri="{BB962C8B-B14F-4D97-AF65-F5344CB8AC3E}">
        <p14:creationId xmlns:p14="http://schemas.microsoft.com/office/powerpoint/2010/main" val="381194521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7EE9F0-890E-8151-E721-827FB178C1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>
            <a:extLst>
              <a:ext uri="{FF2B5EF4-FFF2-40B4-BE49-F238E27FC236}">
                <a16:creationId xmlns:a16="http://schemas.microsoft.com/office/drawing/2014/main" id="{BBB1F523-3A5E-DF42-1E74-5816E9135E02}"/>
              </a:ext>
            </a:extLst>
          </p:cNvPr>
          <p:cNvSpPr txBox="1"/>
          <p:nvPr/>
        </p:nvSpPr>
        <p:spPr>
          <a:xfrm>
            <a:off x="468506" y="495300"/>
            <a:ext cx="17350987" cy="307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pt-BR" sz="2000" b="1" dirty="0">
                <a:solidFill>
                  <a:srgbClr val="084734"/>
                </a:solidFill>
                <a:latin typeface="DM Sans"/>
              </a:rPr>
              <a:t>KAFKA | 3.  ARQUITETURA | KRAFT (SEM ZOOKEEPER)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4A008E2C-5B02-9A5F-9F80-4DAE25E4B772}"/>
              </a:ext>
            </a:extLst>
          </p:cNvPr>
          <p:cNvSpPr txBox="1"/>
          <p:nvPr/>
        </p:nvSpPr>
        <p:spPr>
          <a:xfrm>
            <a:off x="17819178" y="9762665"/>
            <a:ext cx="301366" cy="428194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 dirty="0">
                <a:solidFill>
                  <a:srgbClr val="C3FA75"/>
                </a:solidFill>
                <a:latin typeface="DM Sans 1"/>
                <a:ea typeface="DM Sans 1"/>
                <a:cs typeface="DM Sans 1"/>
                <a:sym typeface="DM Sans 1"/>
              </a:rPr>
              <a:t>19</a:t>
            </a:r>
          </a:p>
        </p:txBody>
      </p:sp>
      <p:sp>
        <p:nvSpPr>
          <p:cNvPr id="10" name="Espaço Reservado para Rodapé 9">
            <a:extLst>
              <a:ext uri="{FF2B5EF4-FFF2-40B4-BE49-F238E27FC236}">
                <a16:creationId xmlns:a16="http://schemas.microsoft.com/office/drawing/2014/main" id="{7328456F-789E-2849-10A4-60CEBDF742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14600" y="9739311"/>
            <a:ext cx="15796727" cy="536025"/>
          </a:xfrm>
        </p:spPr>
        <p:txBody>
          <a:bodyPr/>
          <a:lstStyle/>
          <a:p>
            <a:r>
              <a:rPr lang="en-US" dirty="0"/>
              <a:t>FIA LABDATA . Copyright all rights reserved.</a:t>
            </a:r>
            <a:endParaRPr lang="pt-BR" dirty="0"/>
          </a:p>
        </p:txBody>
      </p:sp>
      <p:sp>
        <p:nvSpPr>
          <p:cNvPr id="1001" name="TextBox 1001"/>
          <p:cNvSpPr txBox="1"/>
          <p:nvPr/>
        </p:nvSpPr>
        <p:spPr>
          <a:xfrm>
            <a:off x="468506" y="1050000"/>
            <a:ext cx="16800000" cy="7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pt-BR" sz="1500" b="0" dirty="0">
                <a:solidFill>
                  <a:srgbClr val="FFFFFF"/>
                </a:solidFill>
                <a:latin typeface="Open Sans"/>
                <a:cs typeface="Open Sans"/>
              </a:rPr>
              <a:t>A partir do Kafka 3.3+, o modo </a:t>
            </a:r>
            <a:r>
              <a:rPr lang="pt-BR" sz="1500" b="1" dirty="0">
                <a:solidFill>
                  <a:srgbClr val="C3FA75"/>
                </a:solidFill>
                <a:latin typeface="Open Sans"/>
                <a:cs typeface="Open Sans"/>
              </a:rPr>
              <a:t>KRaft</a:t>
            </a:r>
            <a:r>
              <a:rPr lang="pt-BR" sz="1500" b="0" dirty="0">
                <a:solidFill>
                  <a:srgbClr val="FFFFFF"/>
                </a:solidFill>
                <a:latin typeface="Open Sans"/>
                <a:cs typeface="Open Sans"/>
              </a:rPr>
              <a:t> (Kafka Raft) elimina a dependência do ZooKeeper.</a:t>
            </a:r>
          </a:p>
        </p:txBody>
      </p:sp>
      <p:sp>
        <p:nvSpPr>
          <p:cNvPr id="1002" name="ZKCompareCard 1002"/>
          <p:cNvSpPr/>
          <p:nvPr/>
        </p:nvSpPr>
        <p:spPr>
          <a:xfrm>
            <a:off x="468506" y="2000000"/>
            <a:ext cx="8300000" cy="4500000"/>
          </a:xfrm>
          <a:prstGeom prst="roundRect">
            <a:avLst>
              <a:gd name="adj" fmla="val 6"/>
            </a:avLst>
          </a:prstGeom>
          <a:solidFill>
            <a:srgbClr val="11412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003" name="TextBox 1003"/>
          <p:cNvSpPr txBox="1"/>
          <p:nvPr/>
        </p:nvSpPr>
        <p:spPr>
          <a:xfrm>
            <a:off x="818506" y="2300000"/>
            <a:ext cx="7600000" cy="5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pt-BR" sz="1600" b="1" dirty="0">
                <a:solidFill>
                  <a:srgbClr val="9AA79C"/>
                </a:solidFill>
                <a:latin typeface="Open Sans"/>
                <a:cs typeface="Open Sans"/>
              </a:rPr>
              <a:t>Antes: com ZooKeeper</a:t>
            </a:r>
          </a:p>
        </p:txBody>
      </p:sp>
      <p:sp>
        <p:nvSpPr>
          <p:cNvPr id="1004" name="BulletList 1004"/>
          <p:cNvSpPr txBox="1"/>
          <p:nvPr/>
        </p:nvSpPr>
        <p:spPr>
          <a:xfrm>
            <a:off x="818506" y="3000000"/>
            <a:ext cx="7600000" cy="33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342900" indent="-342900">
              <a:lnSpc>
                <a:spcPts val="2000"/>
              </a:lnSpc>
              <a:spcBef>
                <a:spcPts val="0"/>
              </a:spcBef>
              <a:spcAft>
                <a:spcPts val="800"/>
              </a:spcAft>
              <a:buClr>
                <a:srgbClr val="9AA79C"/>
              </a:buClr>
              <a:buFont typeface="Arial"/>
              <a:buChar char="•"/>
            </a:pPr>
            <a:r>
              <a:rPr lang="pt-BR" sz="1300" dirty="0">
                <a:solidFill>
                  <a:srgbClr val="9AA79C"/>
                </a:solidFill>
                <a:latin typeface="Open Sans"/>
                <a:cs typeface="Open Sans"/>
              </a:rPr>
              <a:t>Serviço externo separado do cluster Kafka.</a:t>
            </a:r>
          </a:p>
          <a:p>
            <a:pPr marL="342900" indent="-342900">
              <a:lnSpc>
                <a:spcPts val="2000"/>
              </a:lnSpc>
              <a:spcBef>
                <a:spcPts val="0"/>
              </a:spcBef>
              <a:spcAft>
                <a:spcPts val="800"/>
              </a:spcAft>
              <a:buClr>
                <a:srgbClr val="9AA79C"/>
              </a:buClr>
              <a:buFont typeface="Arial"/>
              <a:buChar char="•"/>
            </a:pPr>
            <a:r>
              <a:rPr lang="pt-BR" sz="1300" dirty="0">
                <a:solidFill>
                  <a:srgbClr val="9AA79C"/>
                </a:solidFill>
                <a:latin typeface="Open Sans"/>
                <a:cs typeface="Open Sans"/>
              </a:rPr>
              <a:t>Mais um componente para instalar, monitorar e manter em alta disponibilidade.</a:t>
            </a:r>
          </a:p>
          <a:p>
            <a:pPr marL="342900" indent="-342900">
              <a:lnSpc>
                <a:spcPts val="2000"/>
              </a:lnSpc>
              <a:spcBef>
                <a:spcPts val="0"/>
              </a:spcBef>
              <a:spcAft>
                <a:spcPts val="800"/>
              </a:spcAft>
              <a:buClr>
                <a:srgbClr val="9AA79C"/>
              </a:buClr>
              <a:buFont typeface="Arial"/>
              <a:buChar char="•"/>
            </a:pPr>
            <a:r>
              <a:rPr lang="pt-BR" sz="1300" dirty="0">
                <a:solidFill>
                  <a:srgbClr val="9AA79C"/>
                </a:solidFill>
                <a:latin typeface="Open Sans"/>
                <a:cs typeface="Open Sans"/>
              </a:rPr>
              <a:t>Limite prático de escalabilidade em clusters com milhões de partições.</a:t>
            </a:r>
          </a:p>
        </p:txBody>
      </p:sp>
      <p:sp>
        <p:nvSpPr>
          <p:cNvPr id="1005" name="KRaftCard 1005"/>
          <p:cNvSpPr/>
          <p:nvPr/>
        </p:nvSpPr>
        <p:spPr>
          <a:xfrm>
            <a:off x="9018506" y="2000000"/>
            <a:ext cx="8300000" cy="4500000"/>
          </a:xfrm>
          <a:prstGeom prst="roundRect">
            <a:avLst>
              <a:gd name="adj" fmla="val 6"/>
            </a:avLst>
          </a:prstGeom>
          <a:solidFill>
            <a:srgbClr val="0E5B41"/>
          </a:solidFill>
          <a:ln w="19050">
            <a:solidFill>
              <a:srgbClr val="C3FA75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1006" name="TextBox 1006"/>
          <p:cNvSpPr txBox="1"/>
          <p:nvPr/>
        </p:nvSpPr>
        <p:spPr>
          <a:xfrm>
            <a:off x="9368506" y="2300000"/>
            <a:ext cx="7600000" cy="5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pt-BR" sz="1600" b="1" dirty="0">
                <a:solidFill>
                  <a:srgbClr val="C3FA75"/>
                </a:solidFill>
                <a:latin typeface="Open Sans"/>
                <a:cs typeface="Open Sans"/>
              </a:rPr>
              <a:t>Agora: com KRaft</a:t>
            </a:r>
          </a:p>
        </p:txBody>
      </p:sp>
      <p:sp>
        <p:nvSpPr>
          <p:cNvPr id="1007" name="BulletList 1007"/>
          <p:cNvSpPr txBox="1"/>
          <p:nvPr/>
        </p:nvSpPr>
        <p:spPr>
          <a:xfrm>
            <a:off x="9368506" y="3000000"/>
            <a:ext cx="7600000" cy="33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342900" indent="-342900">
              <a:lnSpc>
                <a:spcPts val="2000"/>
              </a:lnSpc>
              <a:spcBef>
                <a:spcPts val="0"/>
              </a:spcBef>
              <a:spcAft>
                <a:spcPts val="800"/>
              </a:spcAft>
              <a:buClr>
                <a:srgbClr val="C3FA75"/>
              </a:buClr>
              <a:buFont typeface="Arial"/>
              <a:buChar char="•"/>
            </a:pPr>
            <a:r>
              <a:rPr lang="pt-BR" sz="1300" dirty="0">
                <a:solidFill>
                  <a:srgbClr val="FFFFFF"/>
                </a:solidFill>
                <a:latin typeface="Open Sans"/>
                <a:cs typeface="Open Sans"/>
              </a:rPr>
              <a:t>Metadados do cluster gerenciados pelos próprios brokers, via protocolo de consenso Raft.</a:t>
            </a:r>
          </a:p>
          <a:p>
            <a:pPr marL="342900" indent="-342900">
              <a:lnSpc>
                <a:spcPts val="2000"/>
              </a:lnSpc>
              <a:spcBef>
                <a:spcPts val="0"/>
              </a:spcBef>
              <a:spcAft>
                <a:spcPts val="800"/>
              </a:spcAft>
              <a:buClr>
                <a:srgbClr val="C3FA75"/>
              </a:buClr>
              <a:buFont typeface="Arial"/>
              <a:buChar char="•"/>
            </a:pPr>
            <a:r>
              <a:rPr lang="pt-BR" sz="1300" dirty="0">
                <a:solidFill>
                  <a:srgbClr val="FFFFFF"/>
                </a:solidFill>
                <a:latin typeface="Open Sans"/>
                <a:cs typeface="Open Sans"/>
              </a:rPr>
              <a:t>Simplifica a operação: um único sistema para instalar e escalar.</a:t>
            </a:r>
          </a:p>
          <a:p>
            <a:pPr marL="342900" indent="-342900">
              <a:lnSpc>
                <a:spcPts val="2000"/>
              </a:lnSpc>
              <a:spcBef>
                <a:spcPts val="0"/>
              </a:spcBef>
              <a:spcAft>
                <a:spcPts val="800"/>
              </a:spcAft>
              <a:buClr>
                <a:srgbClr val="C3FA75"/>
              </a:buClr>
              <a:buFont typeface="Arial"/>
              <a:buChar char="•"/>
            </a:pPr>
            <a:r>
              <a:rPr lang="pt-BR" sz="1300" dirty="0">
                <a:solidFill>
                  <a:srgbClr val="FFFFFF"/>
                </a:solidFill>
                <a:latin typeface="Open Sans"/>
                <a:cs typeface="Open Sans"/>
              </a:rPr>
              <a:t>Melhora o tempo de recuperação de falhas e a escalabilidade (milhões de partições).</a:t>
            </a:r>
          </a:p>
        </p:txBody>
      </p:sp>
      <p:sp>
        <p:nvSpPr>
          <p:cNvPr id="1008" name="KRaftNote 1008"/>
          <p:cNvSpPr/>
          <p:nvPr/>
        </p:nvSpPr>
        <p:spPr>
          <a:xfrm>
            <a:off x="468506" y="6850000"/>
            <a:ext cx="16850000" cy="1150000"/>
          </a:xfrm>
          <a:prstGeom prst="roundRect">
            <a:avLst>
              <a:gd name="adj" fmla="val 6"/>
            </a:avLst>
          </a:prstGeom>
          <a:solidFill>
            <a:srgbClr val="142D59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009" name="TextBox 1009"/>
          <p:cNvSpPr txBox="1"/>
          <p:nvPr/>
        </p:nvSpPr>
        <p:spPr>
          <a:xfrm>
            <a:off x="750000" y="7030000"/>
            <a:ext cx="16300000" cy="8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pt-BR" sz="1300" b="0" dirty="0">
                <a:solidFill>
                  <a:srgbClr val="FFFFFF"/>
                </a:solidFill>
                <a:latin typeface="Open Sans"/>
                <a:cs typeface="Open Sans"/>
              </a:rPr>
              <a:t>Boa prática: novos clusters Kafka já devem ser criados em modo KRaft — o ZooKeeper foi removido a partir do Kafka 4.0.</a:t>
            </a:r>
          </a:p>
        </p:txBody>
      </p:sp>
    </p:spTree>
    <p:extLst>
      <p:ext uri="{BB962C8B-B14F-4D97-AF65-F5344CB8AC3E}">
        <p14:creationId xmlns:p14="http://schemas.microsoft.com/office/powerpoint/2010/main" val="381194521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801966" y="0"/>
            <a:ext cx="10616660" cy="10287000"/>
            <a:chOff x="0" y="0"/>
            <a:chExt cx="14155547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4155547" cy="13716000"/>
            </a:xfrm>
            <a:custGeom>
              <a:avLst/>
              <a:gdLst/>
              <a:ahLst/>
              <a:cxnLst/>
              <a:rect l="l" t="t" r="r" b="b"/>
              <a:pathLst>
                <a:path w="14155547" h="13716000">
                  <a:moveTo>
                    <a:pt x="0" y="0"/>
                  </a:moveTo>
                  <a:lnTo>
                    <a:pt x="14155547" y="0"/>
                  </a:lnTo>
                  <a:lnTo>
                    <a:pt x="14155547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C4735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7801966" cy="10287000"/>
            <a:chOff x="0" y="0"/>
            <a:chExt cx="10402621" cy="13716000"/>
          </a:xfrm>
        </p:grpSpPr>
        <p:sp>
          <p:nvSpPr>
            <p:cNvPr id="5" name="Freeform 5" descr="Gráfico, Histograma  O conteúdo gerado por IA pode estar incorreto."/>
            <p:cNvSpPr/>
            <p:nvPr/>
          </p:nvSpPr>
          <p:spPr>
            <a:xfrm>
              <a:off x="0" y="0"/>
              <a:ext cx="10402570" cy="13716000"/>
            </a:xfrm>
            <a:custGeom>
              <a:avLst/>
              <a:gdLst/>
              <a:ahLst/>
              <a:cxnLst/>
              <a:rect l="l" t="t" r="r" b="b"/>
              <a:pathLst>
                <a:path w="10402570" h="13716000">
                  <a:moveTo>
                    <a:pt x="0" y="0"/>
                  </a:moveTo>
                  <a:lnTo>
                    <a:pt x="10402570" y="0"/>
                  </a:lnTo>
                  <a:lnTo>
                    <a:pt x="1040257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7739482" y="9781271"/>
            <a:ext cx="403957" cy="428194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 dirty="0">
                <a:solidFill>
                  <a:srgbClr val="C3FA75"/>
                </a:solidFill>
                <a:latin typeface="DM Sans 1"/>
                <a:ea typeface="DM Sans 1"/>
                <a:cs typeface="DM Sans 1"/>
                <a:sym typeface="DM Sans 1"/>
              </a:rPr>
              <a:t>20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369903" y="3320634"/>
            <a:ext cx="7424690" cy="11989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9799"/>
              </a:lnSpc>
              <a:spcBef>
                <a:spcPct val="0"/>
              </a:spcBef>
            </a:pPr>
            <a:r>
              <a:rPr lang="en-US" sz="6999" dirty="0">
                <a:solidFill>
                  <a:srgbClr val="C3FA75"/>
                </a:solidFill>
                <a:latin typeface="DM Sans 1 Light"/>
                <a:sym typeface="DM Sans 1 Light"/>
              </a:rPr>
              <a:t>Hands-On</a:t>
            </a:r>
          </a:p>
        </p:txBody>
      </p:sp>
    </p:spTree>
    <p:extLst>
      <p:ext uri="{BB962C8B-B14F-4D97-AF65-F5344CB8AC3E}">
        <p14:creationId xmlns:p14="http://schemas.microsoft.com/office/powerpoint/2010/main" val="99982448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8F4AC7-7617-021B-98B7-33AE88A682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8">
            <a:extLst>
              <a:ext uri="{FF2B5EF4-FFF2-40B4-BE49-F238E27FC236}">
                <a16:creationId xmlns:a16="http://schemas.microsoft.com/office/drawing/2014/main" id="{6A29F0B8-47E4-C38A-D4DA-A6B53CD1DAFE}"/>
              </a:ext>
            </a:extLst>
          </p:cNvPr>
          <p:cNvSpPr txBox="1"/>
          <p:nvPr/>
        </p:nvSpPr>
        <p:spPr>
          <a:xfrm>
            <a:off x="17827995" y="9762665"/>
            <a:ext cx="283732" cy="428194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 dirty="0">
                <a:solidFill>
                  <a:srgbClr val="C3FA75"/>
                </a:solidFill>
                <a:latin typeface="DM Sans 1"/>
                <a:ea typeface="DM Sans 1"/>
                <a:cs typeface="DM Sans 1"/>
                <a:sym typeface="DM Sans 1"/>
              </a:rPr>
              <a:t>21</a:t>
            </a:r>
          </a:p>
        </p:txBody>
      </p:sp>
      <p:sp>
        <p:nvSpPr>
          <p:cNvPr id="10" name="Espaço Reservado para Rodapé 9">
            <a:extLst>
              <a:ext uri="{FF2B5EF4-FFF2-40B4-BE49-F238E27FC236}">
                <a16:creationId xmlns:a16="http://schemas.microsoft.com/office/drawing/2014/main" id="{4D737F42-226D-8AAE-768B-D044379EAD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FIA LABDATA . Copyright all rights reserved.</a:t>
            </a:r>
            <a:endParaRPr lang="pt-BR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EA29CB6-933D-8845-833B-8B972FCD402F}"/>
              </a:ext>
            </a:extLst>
          </p:cNvPr>
          <p:cNvSpPr txBox="1"/>
          <p:nvPr/>
        </p:nvSpPr>
        <p:spPr>
          <a:xfrm>
            <a:off x="468506" y="495300"/>
            <a:ext cx="17350987" cy="307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pt-BR" sz="2000" b="1" dirty="0">
                <a:solidFill>
                  <a:srgbClr val="084734"/>
                </a:solidFill>
                <a:latin typeface="DM Sans"/>
              </a:rPr>
              <a:t>KAFKA | 4.  HANDS-ON</a:t>
            </a:r>
          </a:p>
        </p:txBody>
      </p:sp>
      <p:sp>
        <p:nvSpPr>
          <p:cNvPr id="2" name="Google Shape;235;p9">
            <a:extLst>
              <a:ext uri="{FF2B5EF4-FFF2-40B4-BE49-F238E27FC236}">
                <a16:creationId xmlns:a16="http://schemas.microsoft.com/office/drawing/2014/main" id="{9DBDFE3D-F572-DF98-9A98-C0AF817FFFC0}"/>
              </a:ext>
            </a:extLst>
          </p:cNvPr>
          <p:cNvSpPr txBox="1"/>
          <p:nvPr/>
        </p:nvSpPr>
        <p:spPr>
          <a:xfrm>
            <a:off x="468506" y="3160843"/>
            <a:ext cx="9029990" cy="327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857250" marR="0" lvl="1" indent="-4000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Font typeface="Calibri"/>
              <a:buAutoNum type="romanLcPeriod"/>
            </a:pPr>
            <a:r>
              <a:rPr lang="pt-BR" sz="2800" dirty="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"/>
              </a:rPr>
              <a:t>Analisando o </a:t>
            </a:r>
            <a:r>
              <a:rPr lang="pt-BR" sz="2800" dirty="0" err="1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"/>
              </a:rPr>
              <a:t>docker-compose</a:t>
            </a:r>
            <a:endParaRPr lang="pt-BR" sz="2800" dirty="0">
              <a:solidFill>
                <a:srgbClr val="FFFFFF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857250" marR="0" lvl="1" indent="-4000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Font typeface="Calibri"/>
              <a:buAutoNum type="romanLcPeriod"/>
            </a:pPr>
            <a:r>
              <a:rPr lang="pt-BR" sz="2800" dirty="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"/>
              </a:rPr>
              <a:t>Explorando o ambiente</a:t>
            </a:r>
          </a:p>
          <a:p>
            <a:pPr marL="857250" marR="0" lvl="1" indent="-4000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Font typeface="Calibri"/>
              <a:buAutoNum type="romanLcPeriod"/>
            </a:pPr>
            <a:r>
              <a:rPr lang="pt-BR" sz="2800" dirty="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"/>
              </a:rPr>
              <a:t>Comandos básicos</a:t>
            </a:r>
          </a:p>
        </p:txBody>
      </p:sp>
    </p:spTree>
    <p:extLst>
      <p:ext uri="{BB962C8B-B14F-4D97-AF65-F5344CB8AC3E}">
        <p14:creationId xmlns:p14="http://schemas.microsoft.com/office/powerpoint/2010/main" val="15921058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801966" y="0"/>
            <a:ext cx="10616660" cy="10287000"/>
            <a:chOff x="0" y="0"/>
            <a:chExt cx="14155547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4155547" cy="13716000"/>
            </a:xfrm>
            <a:custGeom>
              <a:avLst/>
              <a:gdLst/>
              <a:ahLst/>
              <a:cxnLst/>
              <a:rect l="l" t="t" r="r" b="b"/>
              <a:pathLst>
                <a:path w="14155547" h="13716000">
                  <a:moveTo>
                    <a:pt x="0" y="0"/>
                  </a:moveTo>
                  <a:lnTo>
                    <a:pt x="14155547" y="0"/>
                  </a:lnTo>
                  <a:lnTo>
                    <a:pt x="14155547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C4735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7801966" cy="10287000"/>
            <a:chOff x="0" y="0"/>
            <a:chExt cx="10402621" cy="13716000"/>
          </a:xfrm>
        </p:grpSpPr>
        <p:sp>
          <p:nvSpPr>
            <p:cNvPr id="5" name="Freeform 5" descr="Gráfico, Histograma  O conteúdo gerado por IA pode estar incorreto."/>
            <p:cNvSpPr/>
            <p:nvPr/>
          </p:nvSpPr>
          <p:spPr>
            <a:xfrm>
              <a:off x="0" y="0"/>
              <a:ext cx="10402570" cy="13716000"/>
            </a:xfrm>
            <a:custGeom>
              <a:avLst/>
              <a:gdLst/>
              <a:ahLst/>
              <a:cxnLst/>
              <a:rect l="l" t="t" r="r" b="b"/>
              <a:pathLst>
                <a:path w="10402570" h="13716000">
                  <a:moveTo>
                    <a:pt x="0" y="0"/>
                  </a:moveTo>
                  <a:lnTo>
                    <a:pt x="10402570" y="0"/>
                  </a:lnTo>
                  <a:lnTo>
                    <a:pt x="1040257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7757114" y="9781271"/>
            <a:ext cx="368692" cy="428194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 dirty="0">
                <a:solidFill>
                  <a:srgbClr val="C3FA75"/>
                </a:solidFill>
                <a:latin typeface="DM Sans 1"/>
                <a:ea typeface="DM Sans 1"/>
                <a:cs typeface="DM Sans 1"/>
                <a:sym typeface="DM Sans 1"/>
              </a:rPr>
              <a:t>22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369903" y="3320634"/>
            <a:ext cx="7424690" cy="24557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799"/>
              </a:lnSpc>
              <a:spcBef>
                <a:spcPct val="0"/>
              </a:spcBef>
            </a:pPr>
            <a:r>
              <a:rPr lang="en-US" sz="6999" dirty="0" err="1">
                <a:solidFill>
                  <a:srgbClr val="C3FA75"/>
                </a:solidFill>
                <a:latin typeface="DM Sans 1 Light"/>
                <a:ea typeface="DM Sans 1 Light"/>
                <a:cs typeface="DM Sans 1 Light"/>
                <a:sym typeface="DM Sans 1 Light"/>
              </a:rPr>
              <a:t>Referências</a:t>
            </a:r>
            <a:r>
              <a:rPr lang="en-US" sz="6999" dirty="0">
                <a:solidFill>
                  <a:srgbClr val="C3FA75"/>
                </a:solidFill>
                <a:latin typeface="DM Sans 1 Light"/>
                <a:ea typeface="DM Sans 1 Light"/>
                <a:cs typeface="DM Sans 1 Light"/>
                <a:sym typeface="DM Sans 1 Light"/>
              </a:rPr>
              <a:t> </a:t>
            </a:r>
            <a:r>
              <a:rPr lang="en-US" sz="6999" dirty="0" err="1">
                <a:solidFill>
                  <a:srgbClr val="C3FA75"/>
                </a:solidFill>
                <a:latin typeface="DM Sans 1 Light"/>
                <a:ea typeface="DM Sans 1 Light"/>
                <a:cs typeface="DM Sans 1 Light"/>
                <a:sym typeface="DM Sans 1 Light"/>
              </a:rPr>
              <a:t>Bibliográficas</a:t>
            </a:r>
            <a:endParaRPr lang="en-US" sz="6999" dirty="0">
              <a:solidFill>
                <a:srgbClr val="C3FA75"/>
              </a:solidFill>
              <a:latin typeface="DM Sans 1 Light"/>
              <a:ea typeface="DM Sans 1 Light"/>
              <a:cs typeface="DM Sans 1 Light"/>
              <a:sym typeface="DM Sans 1 Light"/>
            </a:endParaRPr>
          </a:p>
        </p:txBody>
      </p:sp>
    </p:spTree>
    <p:extLst>
      <p:ext uri="{BB962C8B-B14F-4D97-AF65-F5344CB8AC3E}">
        <p14:creationId xmlns:p14="http://schemas.microsoft.com/office/powerpoint/2010/main" val="385347011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7783111" y="9762665"/>
            <a:ext cx="373500" cy="428194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 dirty="0">
                <a:solidFill>
                  <a:srgbClr val="C3FA75"/>
                </a:solidFill>
                <a:latin typeface="DM Sans 1"/>
                <a:ea typeface="DM Sans 1"/>
                <a:cs typeface="DM Sans 1"/>
                <a:sym typeface="DM Sans 1"/>
              </a:rPr>
              <a:t>23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498191" y="267376"/>
            <a:ext cx="17342898" cy="6851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599"/>
              </a:lnSpc>
            </a:pPr>
            <a:r>
              <a:rPr lang="pt-BR" sz="3999" b="1" dirty="0">
                <a:solidFill>
                  <a:srgbClr val="084734"/>
                </a:solidFill>
                <a:latin typeface="DM Sans 1 Light" panose="020B0604020202020204" charset="0"/>
                <a:sym typeface="DM Sans 1 Medium"/>
              </a:rPr>
              <a:t>Referências Bibliográficas</a:t>
            </a:r>
          </a:p>
        </p:txBody>
      </p:sp>
      <p:sp>
        <p:nvSpPr>
          <p:cNvPr id="50" name="Espaço Reservado para Rodapé 49">
            <a:extLst>
              <a:ext uri="{FF2B5EF4-FFF2-40B4-BE49-F238E27FC236}">
                <a16:creationId xmlns:a16="http://schemas.microsoft.com/office/drawing/2014/main" id="{29C0FE7A-9F9F-4294-B759-6F7EF54FA83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FIA LABDATA . Copyright all rights reserved.</a:t>
            </a:r>
            <a:endParaRPr lang="pt-BR" dirty="0"/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1733EEE8-AC0F-3F5F-006F-0C02CD1CFF8F}"/>
              </a:ext>
            </a:extLst>
          </p:cNvPr>
          <p:cNvSpPr txBox="1"/>
          <p:nvPr/>
        </p:nvSpPr>
        <p:spPr>
          <a:xfrm>
            <a:off x="990600" y="2781300"/>
            <a:ext cx="16000000" cy="326044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90"/>
              </a:spcBef>
              <a:buFont typeface="+mj-lt"/>
              <a:buAutoNum type="arabicPeriod"/>
            </a:pPr>
            <a:r>
              <a:rPr sz="280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https://www.confluent.io/hub/</a:t>
            </a:r>
            <a:endParaRPr sz="2800" dirty="0">
              <a:solidFill>
                <a:schemeClr val="bg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355600" marR="5080" indent="-342900">
              <a:lnSpc>
                <a:spcPct val="230100"/>
              </a:lnSpc>
              <a:buFont typeface="+mj-lt"/>
              <a:buAutoNum type="arabicPeriod"/>
            </a:pPr>
            <a:r>
              <a:rPr sz="280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https://www.confluent.io/cloud-kafka/</a:t>
            </a:r>
            <a:endParaRPr lang="pt-BR" sz="2800" dirty="0">
              <a:solidFill>
                <a:schemeClr val="bg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355600" marR="5080" indent="-342900">
              <a:lnSpc>
                <a:spcPct val="230100"/>
              </a:lnSpc>
              <a:buFont typeface="+mj-lt"/>
              <a:buAutoNum type="arabicPeriod"/>
            </a:pPr>
            <a:r>
              <a:rPr sz="280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https://kafka.apache.org/documentation/</a:t>
            </a:r>
            <a:endParaRPr sz="2800" dirty="0">
              <a:solidFill>
                <a:schemeClr val="bg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355600" marR="5080" indent="-342900">
              <a:lnSpc>
                <a:spcPct val="230100"/>
              </a:lnSpc>
              <a:buFont typeface="+mj-lt"/>
              <a:buAutoNum type="arabicPeriod"/>
            </a:pPr>
            <a:r>
              <a:rPr sz="280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NARKHEDE, N.; SHAPIRA, G.; PALINO, T. Kafka: The Definitive Guide. 2nd ed. O'Reilly, 2021.</a:t>
            </a:r>
          </a:p>
        </p:txBody>
      </p:sp>
    </p:spTree>
    <p:extLst>
      <p:ext uri="{BB962C8B-B14F-4D97-AF65-F5344CB8AC3E}">
        <p14:creationId xmlns:p14="http://schemas.microsoft.com/office/powerpoint/2010/main" val="36834756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202f6713-3d81-4e4a-a2de-0b253babbb85}" enabled="1" method="Standard" siteId="{eb2d5e0a-1286-4661-8705-9196dcf47486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698</TotalTime>
  <Words>2115</Words>
  <Application>Microsoft Macintosh PowerPoint</Application>
  <PresentationFormat>Personalizar</PresentationFormat>
  <Paragraphs>313</Paragraphs>
  <Slides>23</Slides>
  <Notes>14</Notes>
  <HiddenSlides>0</HiddenSlides>
  <MMClips>0</MMClips>
  <ScaleCrop>false</ScaleCrop>
  <HeadingPairs>
    <vt:vector size="6" baseType="variant">
      <vt:variant>
        <vt:lpstr>Fontes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23</vt:i4>
      </vt:variant>
    </vt:vector>
  </HeadingPairs>
  <TitlesOfParts>
    <vt:vector size="32" baseType="lpstr">
      <vt:lpstr>DM Sans 1 Light</vt:lpstr>
      <vt:lpstr>Calibri</vt:lpstr>
      <vt:lpstr>DM Sans 1 Medium</vt:lpstr>
      <vt:lpstr>Arial</vt:lpstr>
      <vt:lpstr>DM Sans</vt:lpstr>
      <vt:lpstr>DM Sans 1</vt:lpstr>
      <vt:lpstr>DM Sans 2</vt:lpstr>
      <vt:lpstr>Open Sans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Template - Material Professor - Sugestão MKT</dc:title>
  <dc:creator>Administrador</dc:creator>
  <cp:lastModifiedBy>Carolina Zambelli</cp:lastModifiedBy>
  <cp:revision>28</cp:revision>
  <dcterms:created xsi:type="dcterms:W3CDTF">2006-08-16T00:00:00Z</dcterms:created>
  <dcterms:modified xsi:type="dcterms:W3CDTF">2026-09-09T12:10:36Z</dcterms:modified>
  <dc:identifier>DAG_zUXwXKw</dc:identifier>
</cp:coreProperties>
</file>